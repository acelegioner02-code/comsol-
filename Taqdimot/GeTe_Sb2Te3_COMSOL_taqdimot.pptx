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irish" id="{3eb608a4-05f7-37a3-caa4-43a0a013475d}">
          <p14:sldIdLst>
            <p14:sldId id="256"/>
            <p14:sldId id="257"/>
          </p14:sldIdLst>
        </p14:section>
        <p14:section name="Maqola" id="{3dae929a-cf82-8e6b-8800-46e5cb8a4c8a}">
          <p14:sldIdLst>
            <p14:sldId id="258"/>
            <p14:sldId id="259"/>
            <p14:sldId id="260"/>
            <p14:sldId id="261"/>
            <p14:sldId id="262"/>
          </p14:sldIdLst>
        </p14:section>
        <p14:section name="Model" id="{f0bbb7e8-6c1d-afb7-da4d-bd7fcc59f42b}">
          <p14:sldIdLst>
            <p14:sldId id="263"/>
            <p14:sldId id="264"/>
            <p14:sldId id="265"/>
            <p14:sldId id="266"/>
            <p14:sldId id="267"/>
          </p14:sldIdLst>
        </p14:section>
        <p14:section name="Tenglamalar" id="{d967d6bb-5494-8ea8-41d0-20a5bd958436}">
          <p14:sldIdLst>
            <p14:sldId id="268"/>
            <p14:sldId id="269"/>
            <p14:sldId id="270"/>
            <p14:sldId id="271"/>
            <p14:sldId id="272"/>
            <p14:sldId id="273"/>
            <p14:sldId id="274"/>
            <p14:sldId id="275"/>
          </p14:sldIdLst>
        </p14:section>
        <p14:section name="Hisoblash" id="{127f2b1b-be1d-8d7d-c380-d449905f352b}">
          <p14:sldIdLst>
            <p14:sldId id="276"/>
            <p14:sldId id="277"/>
            <p14:sldId id="278"/>
          </p14:sldIdLst>
        </p14:section>
        <p14:section name="Natijalar" id="{9a2ce9e5-a2d9-e753-86de-32757ad6bd68}">
          <p14:sldIdLst>
            <p14:sldId id="279"/>
            <p14:sldId id="280"/>
            <p14:sldId id="281"/>
            <p14:sldId id="282"/>
            <p14:sldId id="283"/>
            <p14:sldId id="284"/>
          </p14:sldIdLst>
        </p14:section>
        <p14:section name="Xulosa" id="{dca25259-e4b4-f4a2-b25a-34161dd9eed6}">
          <p14:sldIdLst>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R_ON, xotira (β = 30)</c:v>
                </c:pt>
              </c:strCache>
            </c:strRef>
          </c:tx>
          <c:spPr>
            <a:solidFill>
              <a:srgbClr val="E8871E"/>
            </a:solidFill>
            <a:ln w="31750" cap="flat">
              <a:solidFill>
                <a:srgbClr val="E887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8871E"/>
              </a:solidFill>
              <a:ln w="9525" cap="flat">
                <a:solidFill>
                  <a:srgbClr val="E8871E"/>
                </a:solidFill>
                <a:prstDash val="solid"/>
                <a:round/>
              </a:ln>
              <a:effectLst/>
            </c:spPr>
          </c:marker>
          <c:cat>
            <c:multiLvlStrRef>
              <c:f>Sheet1!$A$2:$A$7</c:f>
              <c:multiLvlStrCache>
                <c:ptCount val="6"/>
                <c:lvl>
                  <c:pt idx="0">
                    <c:v>0</c:v>
                  </c:pt>
                  <c:pt idx="1">
                    <c:v>0.25</c:v>
                  </c:pt>
                  <c:pt idx="2">
                    <c:v>0.5</c:v>
                  </c:pt>
                  <c:pt idx="3">
                    <c:v>1.0</c:v>
                  </c:pt>
                  <c:pt idx="4">
                    <c:v>1.5</c:v>
                  </c:pt>
                  <c:pt idx="5">
                    <c:v>2.0</c:v>
                  </c:pt>
                </c:lvl>
              </c:multiLvlStrCache>
            </c:multiLvlStrRef>
          </c:cat>
          <c:val>
            <c:numRef>
              <c:f>Sheet1!$B$2:$B$7</c:f>
              <c:numCache>
                <c:formatCode>General</c:formatCode>
                <c:ptCount val="6"/>
                <c:pt idx="0">
                  <c:v>6988.8</c:v>
                </c:pt>
                <c:pt idx="1">
                  <c:v>3862.6</c:v>
                </c:pt>
                <c:pt idx="2">
                  <c:v>2105.1</c:v>
                </c:pt>
                <c:pt idx="3">
                  <c:v>614.1</c:v>
                </c:pt>
                <c:pt idx="4">
                  <c:v>178.8</c:v>
                </c:pt>
                <c:pt idx="5">
                  <c:v>53.5</c:v>
                </c:pt>
              </c:numCache>
            </c:numRef>
          </c:val>
          <c:smooth val="0"/>
        </c:ser>
        <c:ser>
          <c:idx val="1"/>
          <c:order val="1"/>
          <c:tx>
            <c:strRef>
              <c:f>Sheet1!$C$1</c:f>
              <c:strCache>
                <c:ptCount val="1"/>
                <c:pt idx="0">
                  <c:v>R_ON, volatil (β = 0)</c:v>
                </c:pt>
              </c:strCache>
            </c:strRef>
          </c:tx>
          <c:spPr>
            <a:solidFill>
              <a:srgbClr val="2F5FD0"/>
            </a:solidFill>
            <a:ln w="31750" cap="flat">
              <a:solidFill>
                <a:srgbClr val="2F5FD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F5FD0"/>
              </a:solidFill>
              <a:ln w="9525" cap="flat">
                <a:solidFill>
                  <a:srgbClr val="2F5FD0"/>
                </a:solidFill>
                <a:prstDash val="solid"/>
                <a:round/>
              </a:ln>
              <a:effectLst/>
            </c:spPr>
          </c:marker>
          <c:cat>
            <c:multiLvlStrRef>
              <c:f>Sheet1!$A$2:$A$7</c:f>
              <c:multiLvlStrCache>
                <c:ptCount val="6"/>
                <c:lvl>
                  <c:pt idx="0">
                    <c:v>0</c:v>
                  </c:pt>
                  <c:pt idx="1">
                    <c:v>0.25</c:v>
                  </c:pt>
                  <c:pt idx="2">
                    <c:v>0.5</c:v>
                  </c:pt>
                  <c:pt idx="3">
                    <c:v>1.0</c:v>
                  </c:pt>
                  <c:pt idx="4">
                    <c:v>1.5</c:v>
                  </c:pt>
                  <c:pt idx="5">
                    <c:v>2.0</c:v>
                  </c:pt>
                </c:lvl>
              </c:multiLvlStrCache>
            </c:multiLvlStrRef>
          </c:cat>
          <c:val>
            <c:numRef>
              <c:f>Sheet1!$C$2:$C$7</c:f>
              <c:numCache>
                <c:formatCode>General</c:formatCode>
                <c:ptCount val="6"/>
                <c:pt idx="0">
                  <c:v>6988.8</c:v>
                </c:pt>
                <c:pt idx="1">
                  <c:v>6988.8</c:v>
                </c:pt>
                <c:pt idx="2">
                  <c:v>6988.8</c:v>
                </c:pt>
                <c:pt idx="3">
                  <c:v>6988.8</c:v>
                </c:pt>
                <c:pt idx="4">
                  <c:v>6988.8</c:v>
                </c:pt>
                <c:pt idx="5">
                  <c:v>6988.8</c:v>
                </c:pt>
              </c:numCache>
            </c:numRef>
          </c:val>
          <c:smooth val="0"/>
        </c:ser>
        <c:ser>
          <c:idx val="2"/>
          <c:order val="2"/>
          <c:tx>
            <c:strRef>
              <c:f>Sheet1!$D$1</c:f>
              <c:strCache>
                <c:ptCount val="1"/>
                <c:pt idx="0">
                  <c:v>R_OFF</c:v>
                </c:pt>
              </c:strCache>
            </c:strRef>
          </c:tx>
          <c:spPr>
            <a:solidFill>
              <a:srgbClr val="5B6B7F"/>
            </a:solidFill>
            <a:ln w="31750" cap="flat">
              <a:solidFill>
                <a:srgbClr val="5B6B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5B6B7F"/>
              </a:solidFill>
              <a:ln w="9525" cap="flat">
                <a:solidFill>
                  <a:srgbClr val="5B6B7F"/>
                </a:solidFill>
                <a:prstDash val="solid"/>
                <a:round/>
              </a:ln>
              <a:effectLst/>
            </c:spPr>
          </c:marker>
          <c:cat>
            <c:multiLvlStrRef>
              <c:f>Sheet1!$A$2:$A$7</c:f>
              <c:multiLvlStrCache>
                <c:ptCount val="6"/>
                <c:lvl>
                  <c:pt idx="0">
                    <c:v>0</c:v>
                  </c:pt>
                  <c:pt idx="1">
                    <c:v>0.25</c:v>
                  </c:pt>
                  <c:pt idx="2">
                    <c:v>0.5</c:v>
                  </c:pt>
                  <c:pt idx="3">
                    <c:v>1.0</c:v>
                  </c:pt>
                  <c:pt idx="4">
                    <c:v>1.5</c:v>
                  </c:pt>
                  <c:pt idx="5">
                    <c:v>2.0</c:v>
                  </c:pt>
                </c:lvl>
              </c:multiLvlStrCache>
            </c:multiLvlStrRef>
          </c:cat>
          <c:val>
            <c:numRef>
              <c:f>Sheet1!$D$2:$D$7</c:f>
              <c:numCache>
                <c:formatCode>General</c:formatCode>
                <c:ptCount val="6"/>
                <c:pt idx="0">
                  <c:v>99993</c:v>
                </c:pt>
                <c:pt idx="1">
                  <c:v>99993</c:v>
                </c:pt>
                <c:pt idx="2">
                  <c:v>99993</c:v>
                </c:pt>
                <c:pt idx="3">
                  <c:v>99993</c:v>
                </c:pt>
                <c:pt idx="4">
                  <c:v>99993</c:v>
                </c:pt>
                <c:pt idx="5">
                  <c:v>99993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B7F"/>
                    </a:solidFill>
                    <a:latin typeface="Arial"/>
                  </a:defRPr>
                </a:pPr>
                <a:r>
                  <a:rPr sz="1200" b="0" i="0" u="none" strike="noStrike">
                    <a:solidFill>
                      <a:srgbClr val="5B6B7F"/>
                    </a:solidFill>
                    <a:latin typeface="Arial"/>
                  </a:rPr>
                  <a:t>Bosim, GPa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2"/>
        <c:crosses val="autoZero"/>
        <c:auto val="1"/>
        <c:lblAlgn val="ctr"/>
        <c:noMultiLvlLbl val="1"/>
      </c:catAx>
      <c:valAx>
        <c:axId val="2094734552"/>
        <c:scaling>
          <c:logBase val="10"/>
          <c:orientation val="minMax"/>
          <c:max val="1000000"/>
          <c:min val="10"/>
        </c:scaling>
        <c:delete val="0"/>
        <c:axPos val="l"/>
        <c:majorGridlines>
          <c:spPr>
            <a:ln w="9525" cap="flat">
              <a:solidFill>
                <a:srgbClr val="E3E8EE"/>
              </a:solidFill>
              <a:prstDash val="solid"/>
              <a:round/>
            </a:ln>
          </c:spPr>
        </c:majorGridlines>
        <c:title>
          <c:tx>
            <c:rich>
              <a:bodyPr/>
              <a:lstStyle/>
              <a:p>
                <a:pPr>
                  <a:defRPr sz="1200" b="0" i="0" u="none" strike="noStrike">
                    <a:solidFill>
                      <a:srgbClr val="5B6B7F"/>
                    </a:solidFill>
                    <a:latin typeface="Arial"/>
                  </a:defRPr>
                </a:pPr>
                <a:r>
                  <a:rPr sz="1200" b="0" i="0" u="none" strike="noStrike">
                    <a:solidFill>
                      <a:srgbClr val="5B6B7F"/>
                    </a:solidFill>
                    <a:latin typeface="Arial"/>
                  </a:rPr>
                  <a:t>Qarshilik, Ω (log)</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Assalomu alaykum. Bu ishda men Troyan va Doronin 2021-yildagi maqolasini o'rgandim va undagi tajriba natijalarini COMSOL Multiphysics dasturida model qurib takrorlashga harakat qildim. Taqdimot oddiydan murakkabga qarab boradi: avval maqola nima deydi, keyin model qanday qurilgan, har bir tenglama nima uchun kerak, va oxirida natijalar va cheklovlar.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jumlada: men uchta COMSOL modelini qurdim. Ikkinchi model maqoladagi 1-rasmning to'rtta panelini takrorlaydi, uchinchi model esa bosim ostida qarshilik qanday kamayishini ko'rsatadi. Muhim: bu model fenomenologik, ya'ni atomlar darajasida hisoblamaydi, faqat tajribada ko'rilgan natijani tenglamalar bilan tasvirlaydi.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Birinchi bo'limda maqolaning o'zi haqida gapiraman: element qanday tuzilgan va qanday natijalar olingan.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 sendvich ko'rinishida: pastda va yuqorida elektrodlar, o'rtada ikki yupqa qatlam, Sb2Te3 va GeTe. Maqolaga ko'ra eng muhim joy ularning chegarasi, ya'ni interfeys. Kuchlanish berilganda u yerda o'tkazuvchan ip, filament paydo bo'ladi va element ON holatga o'tadi. Filament yo'qolsa OFF holatga qaytadi. Mualliflar buni topologik fizika bilan tushuntiradi, lekin buni o'zlari hisoblamagan.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Elementda ikki xil xatti-harakat bor. Xotira effektida element ON bo'lgach, kuchlanishni olib tashlasak ham ON qoladi, xuddi fleshka kabi. Ostona kalitlashda esa element faqat kuchlanish bor paytda ON bo'ladi, kuchlanish tushsa o'zi OFF ga qaytadi. Qiziq tomoni shuki, bitta element ikkalasini ham ko'rsatadi va qaysi biri bo'lishini gate kuchlanishi hal qiladi.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Maqoladagi birinchi rasm to'rtta paneldan iborat. Gate kuchlanishini asta-sekin manfiy tomonga o'zgartirishgan: 0 voltda xotira, minus 0.9 da xotira kuchsizlanadi, minus 1.1 da faqat kalitlash qoladi, gate yana nolga qaytganda xotira qaytadi. Mening modelimning maqsadi aynan shu to'rt panelni takrorlash edi. Buning uchun rasmdan raqamlarni ko'z bilan o'qib oldim, shuning uchun taxminan 20 foiz noaniqlik bor.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COMSOL bu kontinuum dastur, ya'ni materialni yaxlit muhit deb qaraydi. U tok, issiqlik, mexanik kuchlanishni juda yaxshi hisoblaydi. Lekin elektronlarning kvant holatlari, Veyl tugunlari kabi narsalarni hisoblay olmaydi, buning uchun DFT dasturlari kerak. Shuning uchun men maqolaning qurilma darajasidagi natijalarini modellashtirdim, topologik talqinni esa tekshirmadim.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Ikkinchi bo'limda modelning umumiy tuzilishini tushuntiraman.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Fenomenologik degani: biz hodisaning ichki mexanizmini atomlardan boshlab hisoblamaymiz. Tajribada nima ko'rilganini olamiz, uni tasvirlaydigan tenglama tanlaymiz va tenglamadagi parametrlarni egri chiziq tajribaga mos kelguncha sozlaymiz. Bu ilmda keng tarqalgan usul, masalan memristor modellari shunday quriladi. Kamchiligi: parametrlar mustaqil bashorat emas, ular tajribaga moslab topilgan.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 uchta modelga bo'lingan, har biri bitta savolga javob beradi. Birinchi model: element qizib ketadimi, ya'ni issiqlik muhimmi. Ikkinchi model eng asosiysi: u maqoladagi 1-rasmni takrorlaydi. Uchinchi model: bosim qarshilikni qanday kamaytiradi. Hammasi alohida Java fayl sifatida yozilgan va COMSOL'da ishga tushirilgan.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Model2 ning geometriyasi, ya'ni COMSOL'da chizilgan kesim. Pastda Sb2Te3 kanal, uning o'rtasida 1.5 nanometrlik faol soha bor, kalitlash shu yerda bo'ladi. Chap uchi yerga ulangan, o'ng uchiga o'zgaruvchan kuchlanish berilgan. Ustida GeTe, dielektrik va gate. Bir narsani halol aytaman: gate maydoni elektrostatik hisoblanmagan, gate kuchlanishi tenglamaga oddiy parametr sifatida kiradi.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bir modul aniq bir savol uchun qo'shilgan. Electric Currents tokni hisoblaydi, bu har qanday I-V uchun kerak. Issiqlik moduli kalitlash qizish tufayli emasligini tekshirish uchun qo'shilgan; FET modelida harorat deyarli 300 K da qoldi, shuning uchun asosiy hisobda o'chirildi. Global ODE moduli elementning xotirasini, ya'ni vaqt bo'yicha o'zgaradigan holatni tasvirlaydi. Solid Mechanics faqat bosim modelida kerak.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eng muhim qism: har bir tenglamani alohida tushuntiraman.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Butun modelning asosi bitta son: x. U nol bo'lsa element OFF, bir bo'lsa ON. Faol sohaning o'tkazuvchanligi x ga qarab OFF qiymatdan ON qiymatgacha o'zgaradi. Formula darajali, chunki ON va OFF o'tkazuvchanliklar ming-million marta farq qiladi; darajali formula o'tishni silliq qiladi. Bu usul memristor modellarida keng ishlatiladi.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modelning yuragi. x vaqt bo'yicha qanday o'zgarishini ko'rsatadi. Birinchi qism: atomlar to'siqdan sakrab o'tishi, harorat oshsa tezlashadi. Ikkinchi qism, sinh: elektr maydon atomlarni bir tomonga itaradi. Maydon musbat bo'lsa x o'sadi, ya'ni ON ga o'tadi; manfiy bo'lsa kamayadi, ya'ni OFF ga qaytadi. Sinh kichik maydonda deyarli nol, katta maydonda esa juda tez o'sadi, shuning uchun kalitlash ma'lum bir ostona kuchlanishda keskin bo'ladi. Uchinchi qism x ni 0 va 1 orasida ushlab turadi. Oxirgi qism: kuchlanish bo'lmaganda filament o'z-o'zidan so'nadi.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Tajribada ON ga o'tish va OFF ga qaytish bir xil emas, shuning uchun ularga alohida parametrlar berildi. Yo'nalishni tanlash uchun tanh funksiyasi ishlatilgan: maydon musbat bo'lsa SET parametrlari, manfiy bo'lsa RESET parametrlari ishlaydi. Oddiy if shartini ishlatib bo'lmaydi, chunki COMSOL yechuvchisi keskin sakrashlarda to'xtab qoladi. z_eff RESET ni keskinroq qilish uchun qo'shilgan; bu mexanizm emas, fitting vositasi ekanini ochiq aytaman.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Ikkinchi holat o'zgaruvchisi P gate ta'sirini tasvirlaydi. f_gate gate qaysi holatni xohlashini ko'rsatadi: 0 voltda bir, minus 1.1 voltda deyarli nol. P esa elementning haqiqiy holati, u f_gate ga asta-sekin yaqinlashadi. Pasayish tez, tiklanish sekin. Bu nega kerak? Maqolaning d panelida gate nolga qaytgan, lekin natija a panel bilan bir xil emas. Demak element oldingi gate holatini eslab qoladi, P shu xotirani modellashtiradi.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tenglama elementning xotira rejimida yoki kalitlash rejimida ishlashini hal qiladi. Agar P 0.17 dan katta bo'lsa, relaksatsiya vaqti ming soniya, ya'ni filament amalda yo'qolmaydi, bu xotira. Agar P kichik bo'lsa, vaqt 0.15 millisoniya, filament darhol so'nadi, bu ostona kalitlash. Avval silliqroq formula sinalgan edi, lekin d panel noto'g'ri chiqdi, shuning uchun keskin chegara tanlandi.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ikki formula OFF va ON holatlarda faol soha qanchalik tok o'tkazishini beradi. OFF holatda ham tajribada tok kuchlanish bilan nochiziqli oshadi, buni cosh beradi. Gate manfiy bo'lsa OFF ham, ON ham kamayadi, buni P orqali ifodaladik. Jadvaldagi uchta asosiy son COMSOL'ning Stationary hisobi bilan avtomatik kalibrlangan, ya'ni maqoladagi qarshilik va tok qiymatlariga moslab topilgan.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Elementga beriladigan kuchlanish uchburchak shaklida, 100 Hz, xuddi tajribadagidek. Har bir panel uchun amplituda maqoladagi grafikdan olingan. Elektr maydon faol soha bo'ylab o'rtacha qilib olinadi va kinetik tenglamaga kiradi. Faol soha uzunligi 1.5 nanometr bo'lishi juda muhim: maydon kuchlanishni shu uzunlikka bo'lganiga teng, sinh esa eksponensial, shuning uchun uzunlik biroz katta bo'lsa kalitlash umuman bo'lmaydi.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To'rtinchi bo'limda hisob qanday ketma-ketlikda bajarilganini ko'rsataman.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Hisob besh qadamda bajarilgan. Avval statsionar hisob bilan uchta asosiy o'tkazuvchanlik maqoladagi qarshiliklarga moslab topildi. Keyin issiqlik tekshirildi: harorat 300 K da qoldi, shuning uchun issiqlik moduli o'chirildi va kompyuter xotirasi tejaldi. Keyin vaqt bo'yicha hisob to'rt marta ishga tushirildi, har bir panel uchun bir marta, va x hamda P holatlari bir paneldan keyingisiga uzatildi. Natijalar CSV faylga yozildi va rasm shu fayldan chizildi. Shu sababli COMSOL faylida faqat oxirgi panel ko'rinadi.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jadvalda asosiy parametrlar va ular qaysi tajriba natijasiga moslab tanlangani ko'rsatilgan. Masalan, aktivatsiya energiyasi SET kuchlanishi 3.5 volt bo'lishi uchun tanlangan. Moslash taxminan sakkiz iteratsiyada bajarildi: har safar grafik maqola bilan solishtirildi va parametr biroz o'zgartirildi. Shuni aytish kerakki, bu parametrlar mustaqil o'lchangan emas, ular moslab topilgan.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Beshinchi bo'limda natijalarni ko'rsataman.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yakuniy natija. Chiziq — model, kulrang nuqtalar — maqoladan olingan qiymatlar. Havo rang qism OFF, to'q sariq qism ON. A va b panellarda sirtmoq ikkala tomonda ochiq, bu xotira. C panelda ON faqat musbat tomonda va kuchlanish tushishi bilan yo'qoladi, bu ostona kalitlash. D panelda xotira qaytadi. Diqqat qiling: pastki ikki panelda shkala o'n marta kichik.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Jadvalda aniq raqamlar. Yashil belgilar yaxshi mos kelgan joylar: SET kuchlanishi, ON qarshilik, c paneldagi qaytish kuchlanishi. To'q sariq qisman mos kelgan, qizil esa mos kelmagan: a paneldagi OFF toki 2.5 marta katta chiqdi. Umuman olganda 31 ta nishondan 16-18 tasi yaxshi mos keldi.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mening COMSOL'da olgan grafigim, d panel. Uni oltita qadamda o'qiymiz. Bir: kuchlanish noldan oshadi, tok deyarli yo'q, element OFF. Ikki: taxminan 3.5-4 voltda tok keskin oshadi, bu SET. Uch: kuchlanish kamayganda tok to'g'ri chiziq bo'ylab qaytadi, ya'ni element oddiy rezistor kabi ishlaydi, qarshilik taxminan 80 kiloom. To'rt: kuchlanish manfiy bo'lsa ham element ON qoladi, bu xotira. Besh: minus 3 voltdan pastda tok kamayadi, bu RESET. Olti: element yana OFF. Nol atrofidagi kichik uzilish boshlang'ich holatdan kelib chiqqan.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Uchinchi model bosim haqida. Solid Mechanics bosimdan interfeys qanchalik siqilishini hisoblaydi: 2 gigapaskalda 1.5 nanometrdan 1.25 ga tushadi. ON o'tkazuvchanlik qalinlikka eksponensial bog'langan, xuddi tunnel effektidagidek. Natija: xotira holatida R_ON 130 marta kamayadi, bu maqoladagi 2-3 tartib degan da'voning pastki chegarasi. Volatil holatda va OFF holatda o'zgarmaydi. Muhim: maqolada bosim qiymati berilmagan, effekt esa faqat gigapaskal darajasida chiqadi. Bu maqolaga savol sifatida qo'yilishi mumkin.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Birinchi modelning qo'shimcha natijalari. Vertikal elementda harorat 460 K gacha ko'tariladi, lekin tranzistor geometriyasida qizish deyarli yo'q. Bu muhim: demak Fig.1 dagi kalitlash issiqlik bilan emas, maydon bilan bog'liq bo'lishi mumkin, bu maqola mualliflari fikriga mos keladi. Harorat oshsa SET kuchlanishi kamayadi. Sezgirlik tahlili esa qarshilik eng ko'p filament radiusiga bog'liqligini ko'rsatdi.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Oxirgi bo'lim: modelning cheklovlari va xulosa.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Cheklovlarni ochiq aytish kerak. Birinchi va eng asosiysi: model fenomenologik, topologik fizikani isbotlamaydi. Ikkinchi: parametrlar tajribaga moslab topilgan. Uchinchi: gate soddalashtirilgan. Bundan tashqari b paneldagi kichik qo'shimcha tarmoq chiqmadi va a paneldagi OFF toki 2.5 marta katta. Va nishon qiymatlar rasmdan ko'z bilan o'qilgan.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slaydni o'zim uchun tayyorladim: ustoz berishi mumkin bo'lgan savollar va qisqa javoblar. Eng muhimi birinchi savol: model topologik fazani isbotlamaydi, faqat tajriba natijasini takrorlaydi.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Xulosa qilib aytganda: COMSOL'da qurilgan fenomenologik model maqoladagi tajriba natijalarini sifat jihatidan to'g'ri takrorladi. Buning uchun ikki holat o'zgaruvchisi yetarli bo'ldi. Bosim modeli qarshilikning 130 marta kamayishini berdi. Maqoladagi topologik talqinni tekshirish uchun esa DFT hisoblari kerak, bu keyingi bosqich. E'tiboringiz uchun rahmat.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749040"/>
            <a:ext cx="10058400" cy="14630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10698480" cy="10058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1920240"/>
            <a:ext cx="10698480" cy="4206240"/>
          </a:xfrm>
          <a:prstGeom prst="rect">
            <a:avLst/>
          </a:prstGeom>
          <a:noFill/>
          <a:ln/>
        </p:spPr>
        <p:txBody>
          <a:bodyPr wrap="square" rtlCol="0"/>
          <a:lstStyle>
            <a:lvl1pPr indent="0" marL="0">
              <a:spcAft>
                <a:spcPts val="1400"/>
              </a:spcAft>
              <a:buNone/>
              <a:defRPr lang="en-US" sz="2000" dirty="0">
                <a:solidFill>
                  <a:schemeClr val="bg2"/>
                </a:solidFill>
              </a:defRPr>
            </a:lvl1pPr>
          </a:lstStyle>
          <a:p>
            <a:pPr indent="0" marL="0">
              <a:spcAft>
                <a:spcPts val="1400"/>
              </a:spcAft>
              <a:buNone/>
            </a:pPr>
            <a:endParaRPr lang="en-US" sz="20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10058400" cy="54864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3" name="Text 0"/>
          <p:cNvSpPr/>
          <p:nvPr>
            <p:ph idx="101" type="title" hasCustomPrompt="1"/>
          </p:nvPr>
        </p:nvSpPr>
        <p:spPr>
          <a:xfrm>
            <a:off x="731520" y="2651760"/>
            <a:ext cx="10698480" cy="12801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731520" y="4023360"/>
            <a:ext cx="1005840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5.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GeTe/Sb₂Te₃ xotira elementini COMSOL Multiphysics'da modellashtirish</a:t>
            </a:r>
            <a:endParaRPr lang="en-US" sz="4000" dirty="0"/>
          </a:p>
        </p:txBody>
      </p:sp>
      <p:sp>
        <p:nvSpPr>
          <p:cNvPr id="3" name="Text 0"/>
          <p:cNvSpPr/>
          <p:nvPr>
            <p:ph idx="101" type="body" hasCustomPrompt="1"/>
          </p:nvPr>
        </p:nvSpPr>
        <p:spPr>
          <a:xfrm>
            <a:off x="731520" y="3749040"/>
            <a:ext cx="10058400" cy="1463040"/>
          </a:xfrm>
          <a:prstGeom prst="rect">
            <a:avLst/>
          </a:prstGeom>
          <a:noFill/>
          <a:ln/>
        </p:spPr>
        <p:txBody>
          <a:bodyPr wrap="square" rtlCol="0" anchor="t"/>
          <a:lstStyle/>
          <a:p>
            <a:pPr indent="0" marL="0">
              <a:buNone/>
            </a:pPr>
            <a:r>
              <a:rPr lang="en-US" sz="2000" dirty="0">
                <a:solidFill>
                  <a:schemeClr val="bg2"/>
                </a:solidFill>
              </a:rPr>
              <a:t>Troyan &amp; Doronin (2021) maqolasidagi I–V egri chiziqlari va bosim effektini fenomenologik model bilan takrorlash</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Qisqacha: nima qilindi va nima chiqdi</a:t>
            </a:r>
            <a:endParaRPr lang="en-US" sz="3000" dirty="0"/>
          </a:p>
        </p:txBody>
      </p:sp>
      <p:sp>
        <p:nvSpPr>
          <p:cNvPr id="3" name="box_1"/>
          <p:cNvSpPr/>
          <p:nvPr/>
        </p:nvSpPr>
        <p:spPr>
          <a:xfrm>
            <a:off x="548640" y="1417320"/>
            <a:ext cx="3474720" cy="2834640"/>
          </a:xfrm>
          <a:prstGeom prst="roundRect">
            <a:avLst>
              <a:gd name="adj" fmla="val 2581"/>
            </a:avLst>
          </a:prstGeom>
          <a:solidFill>
            <a:schemeClr val="bg2"/>
          </a:solidFill>
          <a:ln w="9525">
            <a:solidFill>
              <a:schemeClr val="bg2"/>
            </a:solidFill>
            <a:prstDash val="solid"/>
          </a:ln>
        </p:spPr>
      </p:sp>
      <p:sp>
        <p:nvSpPr>
          <p:cNvPr id="4" name="text_2"/>
          <p:cNvSpPr txBox="1"/>
          <p:nvPr/>
        </p:nvSpPr>
        <p:spPr>
          <a:xfrm>
            <a:off x="822960" y="1600200"/>
            <a:ext cx="2926080" cy="1097280"/>
          </a:xfrm>
          <a:prstGeom prst="rect">
            <a:avLst/>
          </a:prstGeom>
          <a:noFill/>
          <a:ln/>
        </p:spPr>
        <p:txBody>
          <a:bodyPr wrap="square" lIns="635" tIns="635" rIns="635" bIns="635"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3</a:t>
            </a:r>
            <a:endParaRPr lang="en-US" sz="6000" dirty="0"/>
          </a:p>
        </p:txBody>
      </p:sp>
      <p:sp>
        <p:nvSpPr>
          <p:cNvPr id="5" name="text_3"/>
          <p:cNvSpPr txBox="1"/>
          <p:nvPr/>
        </p:nvSpPr>
        <p:spPr>
          <a:xfrm>
            <a:off x="822960" y="2697480"/>
            <a:ext cx="2926080" cy="411480"/>
          </a:xfrm>
          <a:prstGeom prst="rect">
            <a:avLst/>
          </a:prstGeom>
          <a:noFill/>
          <a:ln/>
        </p:spPr>
        <p:txBody>
          <a:bodyPr wrap="square" lIns="635" tIns="635" rIns="635" bIns="635" rtlCol="0" anchor="t"/>
          <a:lstStyle/>
          <a:p>
            <a:pPr indent="0" marL="0">
              <a:buNone/>
            </a:pPr>
            <a:r>
              <a:rPr lang="en-US" sz="1800" b="1" dirty="0">
                <a:solidFill>
                  <a:schemeClr val="tx1"/>
                </a:solidFill>
              </a:rPr>
              <a:t>ta COMSOL modeli</a:t>
            </a:r>
            <a:endParaRPr lang="en-US" sz="1800" dirty="0"/>
          </a:p>
        </p:txBody>
      </p:sp>
      <p:sp>
        <p:nvSpPr>
          <p:cNvPr id="6" name="text_4"/>
          <p:cNvSpPr txBox="1"/>
          <p:nvPr/>
        </p:nvSpPr>
        <p:spPr>
          <a:xfrm>
            <a:off x="822960" y="3154680"/>
            <a:ext cx="2926080" cy="914400"/>
          </a:xfrm>
          <a:prstGeom prst="rect">
            <a:avLst/>
          </a:prstGeom>
          <a:noFill/>
          <a:ln/>
        </p:spPr>
        <p:txBody>
          <a:bodyPr wrap="square" lIns="635" tIns="635" rIns="635" bIns="635" rtlCol="0" anchor="t"/>
          <a:lstStyle/>
          <a:p>
            <a:pPr indent="0" marL="0">
              <a:buNone/>
            </a:pPr>
            <a:r>
              <a:rPr lang="en-US" sz="1400" dirty="0">
                <a:solidFill>
                  <a:schemeClr val="accent6"/>
                </a:solidFill>
              </a:rPr>
              <a:t>Vertikal element, FET (Fig.1) va bosim modeli</a:t>
            </a:r>
            <a:endParaRPr lang="en-US" sz="1400" dirty="0"/>
          </a:p>
        </p:txBody>
      </p:sp>
      <p:sp>
        <p:nvSpPr>
          <p:cNvPr id="7" name="box_5"/>
          <p:cNvSpPr/>
          <p:nvPr/>
        </p:nvSpPr>
        <p:spPr>
          <a:xfrm>
            <a:off x="4297680" y="1417320"/>
            <a:ext cx="3474720" cy="2834640"/>
          </a:xfrm>
          <a:prstGeom prst="roundRect">
            <a:avLst>
              <a:gd name="adj" fmla="val 2581"/>
            </a:avLst>
          </a:prstGeom>
          <a:solidFill>
            <a:schemeClr val="bg2"/>
          </a:solidFill>
          <a:ln w="9525">
            <a:solidFill>
              <a:schemeClr val="bg2"/>
            </a:solidFill>
            <a:prstDash val="solid"/>
          </a:ln>
        </p:spPr>
      </p:sp>
      <p:sp>
        <p:nvSpPr>
          <p:cNvPr id="8" name="text_6"/>
          <p:cNvSpPr txBox="1"/>
          <p:nvPr/>
        </p:nvSpPr>
        <p:spPr>
          <a:xfrm>
            <a:off x="4572000" y="1600200"/>
            <a:ext cx="2926080" cy="1097280"/>
          </a:xfrm>
          <a:prstGeom prst="rect">
            <a:avLst/>
          </a:prstGeom>
          <a:noFill/>
          <a:ln/>
        </p:spPr>
        <p:txBody>
          <a:bodyPr wrap="square" lIns="635" tIns="635" rIns="635" bIns="635"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4</a:t>
            </a:r>
            <a:endParaRPr lang="en-US" sz="6000" dirty="0"/>
          </a:p>
        </p:txBody>
      </p:sp>
      <p:sp>
        <p:nvSpPr>
          <p:cNvPr id="9" name="text_7"/>
          <p:cNvSpPr txBox="1"/>
          <p:nvPr/>
        </p:nvSpPr>
        <p:spPr>
          <a:xfrm>
            <a:off x="4572000" y="2697480"/>
            <a:ext cx="2926080" cy="411480"/>
          </a:xfrm>
          <a:prstGeom prst="rect">
            <a:avLst/>
          </a:prstGeom>
          <a:noFill/>
          <a:ln/>
        </p:spPr>
        <p:txBody>
          <a:bodyPr wrap="square" lIns="635" tIns="635" rIns="635" bIns="635" rtlCol="0" anchor="t"/>
          <a:lstStyle/>
          <a:p>
            <a:pPr indent="0" marL="0">
              <a:buNone/>
            </a:pPr>
            <a:r>
              <a:rPr lang="en-US" sz="1800" b="1" dirty="0">
                <a:solidFill>
                  <a:schemeClr val="tx1"/>
                </a:solidFill>
              </a:rPr>
              <a:t>panel takrorlandi</a:t>
            </a:r>
            <a:endParaRPr lang="en-US" sz="1800" dirty="0"/>
          </a:p>
        </p:txBody>
      </p:sp>
      <p:sp>
        <p:nvSpPr>
          <p:cNvPr id="10" name="text_8"/>
          <p:cNvSpPr txBox="1"/>
          <p:nvPr/>
        </p:nvSpPr>
        <p:spPr>
          <a:xfrm>
            <a:off x="4572000" y="3154680"/>
            <a:ext cx="2926080" cy="914400"/>
          </a:xfrm>
          <a:prstGeom prst="rect">
            <a:avLst/>
          </a:prstGeom>
          <a:noFill/>
          <a:ln/>
        </p:spPr>
        <p:txBody>
          <a:bodyPr wrap="square" lIns="635" tIns="635" rIns="635" bIns="635" rtlCol="0" anchor="t"/>
          <a:lstStyle/>
          <a:p>
            <a:pPr indent="0" marL="0">
              <a:buNone/>
            </a:pPr>
            <a:r>
              <a:rPr lang="en-US" sz="1400" dirty="0">
                <a:solidFill>
                  <a:schemeClr val="accent6"/>
                </a:solidFill>
              </a:rPr>
              <a:t>Fig.1 (a)–(d): gate kuchlanishi 0, −0.9, −1.1, 0 V</a:t>
            </a:r>
            <a:endParaRPr lang="en-US" sz="1400" dirty="0"/>
          </a:p>
        </p:txBody>
      </p:sp>
      <p:sp>
        <p:nvSpPr>
          <p:cNvPr id="11" name="box_9"/>
          <p:cNvSpPr/>
          <p:nvPr/>
        </p:nvSpPr>
        <p:spPr>
          <a:xfrm>
            <a:off x="8046720" y="1417320"/>
            <a:ext cx="3474720" cy="2834640"/>
          </a:xfrm>
          <a:prstGeom prst="roundRect">
            <a:avLst>
              <a:gd name="adj" fmla="val 2581"/>
            </a:avLst>
          </a:prstGeom>
          <a:solidFill>
            <a:schemeClr val="bg2"/>
          </a:solidFill>
          <a:ln w="9525">
            <a:solidFill>
              <a:schemeClr val="bg2"/>
            </a:solidFill>
            <a:prstDash val="solid"/>
          </a:ln>
        </p:spPr>
      </p:sp>
      <p:sp>
        <p:nvSpPr>
          <p:cNvPr id="12" name="text_10"/>
          <p:cNvSpPr txBox="1"/>
          <p:nvPr/>
        </p:nvSpPr>
        <p:spPr>
          <a:xfrm>
            <a:off x="8321040" y="1600200"/>
            <a:ext cx="2926080" cy="1097280"/>
          </a:xfrm>
          <a:prstGeom prst="rect">
            <a:avLst/>
          </a:prstGeom>
          <a:noFill/>
          <a:ln/>
        </p:spPr>
        <p:txBody>
          <a:bodyPr wrap="square" lIns="635" tIns="635" rIns="635" bIns="635"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×130</a:t>
            </a:r>
            <a:endParaRPr lang="en-US" sz="6000" dirty="0"/>
          </a:p>
        </p:txBody>
      </p:sp>
      <p:sp>
        <p:nvSpPr>
          <p:cNvPr id="13" name="text_11"/>
          <p:cNvSpPr txBox="1"/>
          <p:nvPr/>
        </p:nvSpPr>
        <p:spPr>
          <a:xfrm>
            <a:off x="8321040" y="2697480"/>
            <a:ext cx="2926080" cy="411480"/>
          </a:xfrm>
          <a:prstGeom prst="rect">
            <a:avLst/>
          </a:prstGeom>
          <a:noFill/>
          <a:ln/>
        </p:spPr>
        <p:txBody>
          <a:bodyPr wrap="square" lIns="635" tIns="635" rIns="635" bIns="635" rtlCol="0" anchor="t"/>
          <a:lstStyle/>
          <a:p>
            <a:pPr indent="0" marL="0">
              <a:buNone/>
            </a:pPr>
            <a:r>
              <a:rPr lang="en-US" sz="1800" b="1" dirty="0">
                <a:solidFill>
                  <a:schemeClr val="tx1"/>
                </a:solidFill>
              </a:rPr>
              <a:t>R_ON kamaydi</a:t>
            </a:r>
            <a:endParaRPr lang="en-US" sz="1800" dirty="0"/>
          </a:p>
        </p:txBody>
      </p:sp>
      <p:sp>
        <p:nvSpPr>
          <p:cNvPr id="14" name="text_12"/>
          <p:cNvSpPr txBox="1"/>
          <p:nvPr/>
        </p:nvSpPr>
        <p:spPr>
          <a:xfrm>
            <a:off x="8321040" y="3154680"/>
            <a:ext cx="2926080" cy="914400"/>
          </a:xfrm>
          <a:prstGeom prst="rect">
            <a:avLst/>
          </a:prstGeom>
          <a:noFill/>
          <a:ln/>
        </p:spPr>
        <p:txBody>
          <a:bodyPr wrap="square" lIns="635" tIns="635" rIns="635" bIns="635" rtlCol="0" anchor="t"/>
          <a:lstStyle/>
          <a:p>
            <a:pPr indent="0" marL="0">
              <a:buNone/>
            </a:pPr>
            <a:r>
              <a:rPr lang="en-US" sz="1400" dirty="0">
                <a:solidFill>
                  <a:schemeClr val="accent6"/>
                </a:solidFill>
              </a:rPr>
              <a:t>2 GPa bosimda, xotira holatida (maqola: 2–3 tartib)</a:t>
            </a:r>
            <a:endParaRPr lang="en-US" sz="1400" dirty="0"/>
          </a:p>
        </p:txBody>
      </p:sp>
      <p:sp>
        <p:nvSpPr>
          <p:cNvPr id="15" name="box_13"/>
          <p:cNvSpPr/>
          <p:nvPr/>
        </p:nvSpPr>
        <p:spPr>
          <a:xfrm>
            <a:off x="548640" y="4572000"/>
            <a:ext cx="11064240" cy="1463040"/>
          </a:xfrm>
          <a:prstGeom prst="roundRect">
            <a:avLst>
              <a:gd name="adj" fmla="val 5000"/>
            </a:avLst>
          </a:prstGeom>
          <a:solidFill>
            <a:schemeClr val="bg1"/>
          </a:solidFill>
          <a:ln w="15875">
            <a:solidFill>
              <a:srgbClr val="0F766E"/>
            </a:solidFill>
            <a:prstDash val="solid"/>
          </a:ln>
        </p:spPr>
      </p:sp>
      <p:sp>
        <p:nvSpPr>
          <p:cNvPr id="16" name="text_14"/>
          <p:cNvSpPr txBox="1"/>
          <p:nvPr/>
        </p:nvSpPr>
        <p:spPr>
          <a:xfrm>
            <a:off x="822960" y="4709160"/>
            <a:ext cx="10515600" cy="1188720"/>
          </a:xfrm>
          <a:prstGeom prst="rect">
            <a:avLst/>
          </a:prstGeom>
          <a:noFill/>
          <a:ln/>
        </p:spPr>
        <p:txBody>
          <a:bodyPr wrap="square" lIns="635" tIns="635" rIns="635" bIns="635" rtlCol="0" anchor="ctr"/>
          <a:lstStyle/>
          <a:p>
            <a:pPr indent="0" marL="0">
              <a:buNone/>
            </a:pPr>
            <a:r>
              <a:rPr lang="en-US" sz="1700" b="1" dirty="0">
                <a:solidFill>
                  <a:schemeClr val="accent3"/>
                </a:solidFill>
              </a:rPr>
              <a:t>Asosiy xulosa: </a:t>
            </a:r>
            <a:pPr indent="0" marL="0">
              <a:buNone/>
            </a:pPr>
            <a:r>
              <a:rPr lang="en-US" sz="1700" dirty="0">
                <a:solidFill>
                  <a:schemeClr val="tx1"/>
                </a:solidFill>
              </a:rPr>
              <a:t>model maqoladagi kuzatilgan xatti-harakatni (xotira ↔ kalitlash, bosimga sezgirlik) tenglamalar orqali taqlid qiladi. U fenomenologik: Veyl/Dirak topologik fizikasini hisoblamaydi va uni isbotlamaydi.</a:t>
            </a:r>
            <a:endParaRPr lang="en-US" sz="17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10058400" cy="548640"/>
          </a:xfrm>
          <a:prstGeom prst="rect">
            <a:avLst/>
          </a:prstGeom>
          <a:noFill/>
          <a:ln/>
        </p:spPr>
        <p:txBody>
          <a:bodyPr wrap="square" rtlCol="0"/>
          <a:lstStyle/>
          <a:p>
            <a:pPr indent="0" marL="0">
              <a:buNone/>
            </a:pPr>
            <a:r>
              <a:rPr lang="en-US" sz="1800" b="1" dirty="0">
                <a:solidFill>
                  <a:schemeClr val="accent1"/>
                </a:solidFill>
              </a:rPr>
              <a:t>1-bo'lim</a:t>
            </a:r>
            <a:endParaRPr lang="en-US" sz="1800" dirty="0"/>
          </a:p>
        </p:txBody>
      </p:sp>
      <p:sp>
        <p:nvSpPr>
          <p:cNvPr id="3" name="Text 0"/>
          <p:cNvSpPr/>
          <p:nvPr>
            <p:ph idx="101" type="title" hasCustomPrompt="1"/>
          </p:nvPr>
        </p:nvSpPr>
        <p:spPr>
          <a:xfrm>
            <a:off x="731520" y="2651760"/>
            <a:ext cx="106984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Maqola nima haqida</a:t>
            </a:r>
            <a:endParaRPr lang="en-US" sz="4000" dirty="0"/>
          </a:p>
        </p:txBody>
      </p:sp>
      <p:sp>
        <p:nvSpPr>
          <p:cNvPr id="4" name="Text 0"/>
          <p:cNvSpPr/>
          <p:nvPr>
            <p:ph idx="102" type="body" hasCustomPrompt="1"/>
          </p:nvPr>
        </p:nvSpPr>
        <p:spPr>
          <a:xfrm>
            <a:off x="731520" y="4023360"/>
            <a:ext cx="10058400" cy="1097280"/>
          </a:xfrm>
          <a:prstGeom prst="rect">
            <a:avLst/>
          </a:prstGeom>
          <a:noFill/>
          <a:ln/>
        </p:spPr>
        <p:txBody>
          <a:bodyPr wrap="square" rtlCol="0" anchor="t"/>
          <a:lstStyle/>
          <a:p>
            <a:pPr indent="0" marL="0">
              <a:buNone/>
            </a:pPr>
            <a:r>
              <a:rPr lang="en-US" sz="1800" dirty="0">
                <a:solidFill>
                  <a:schemeClr val="bg2"/>
                </a:solidFill>
              </a:rPr>
              <a:t>Troyan &amp; Doronin, ICCS 2020, LNNS 186, 427–433 (2021)</a:t>
            </a:r>
            <a:endParaRPr lang="en-US" sz="18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Element qanday tuzilgan</a:t>
            </a:r>
            <a:endParaRPr lang="en-US" sz="3000" dirty="0"/>
          </a:p>
        </p:txBody>
      </p:sp>
      <p:sp>
        <p:nvSpPr>
          <p:cNvPr id="3" name="layer_15"/>
          <p:cNvSpPr/>
          <p:nvPr/>
        </p:nvSpPr>
        <p:spPr>
          <a:xfrm>
            <a:off x="731520" y="1463040"/>
            <a:ext cx="4754880" cy="502920"/>
          </a:xfrm>
          <a:prstGeom prst="rect">
            <a:avLst/>
          </a:prstGeom>
          <a:solidFill>
            <a:schemeClr val="accent6"/>
          </a:solidFill>
          <a:ln w="12700">
            <a:solidFill>
              <a:schemeClr val="bg1"/>
            </a:solidFill>
            <a:prstDash val="solid"/>
          </a:ln>
        </p:spPr>
      </p:sp>
      <p:sp>
        <p:nvSpPr>
          <p:cNvPr id="4" name="text_16"/>
          <p:cNvSpPr txBox="1"/>
          <p:nvPr/>
        </p:nvSpPr>
        <p:spPr>
          <a:xfrm>
            <a:off x="822960" y="1463040"/>
            <a:ext cx="4572000" cy="502920"/>
          </a:xfrm>
          <a:prstGeom prst="rect">
            <a:avLst/>
          </a:prstGeom>
          <a:noFill/>
          <a:ln/>
        </p:spPr>
        <p:txBody>
          <a:bodyPr wrap="square" lIns="635" tIns="635" rIns="635" bIns="635" rtlCol="0" anchor="ctr"/>
          <a:lstStyle/>
          <a:p>
            <a:pPr algn="ctr" indent="0" marL="0">
              <a:buNone/>
            </a:pPr>
            <a:r>
              <a:rPr lang="en-US" sz="1500" b="1" dirty="0">
                <a:solidFill>
                  <a:schemeClr val="bg1"/>
                </a:solidFill>
              </a:rPr>
              <a:t>Yuqori elektrod (TiN)</a:t>
            </a:r>
            <a:endParaRPr lang="en-US" sz="1500" dirty="0"/>
          </a:p>
        </p:txBody>
      </p:sp>
      <p:sp>
        <p:nvSpPr>
          <p:cNvPr id="5" name="layer_17"/>
          <p:cNvSpPr/>
          <p:nvPr/>
        </p:nvSpPr>
        <p:spPr>
          <a:xfrm>
            <a:off x="731520" y="1965960"/>
            <a:ext cx="4754880" cy="822960"/>
          </a:xfrm>
          <a:prstGeom prst="rect">
            <a:avLst/>
          </a:prstGeom>
          <a:solidFill>
            <a:schemeClr val="accent3"/>
          </a:solidFill>
          <a:ln w="12700">
            <a:solidFill>
              <a:schemeClr val="bg1"/>
            </a:solidFill>
            <a:prstDash val="solid"/>
          </a:ln>
        </p:spPr>
      </p:sp>
      <p:sp>
        <p:nvSpPr>
          <p:cNvPr id="6" name="text_18"/>
          <p:cNvSpPr txBox="1"/>
          <p:nvPr/>
        </p:nvSpPr>
        <p:spPr>
          <a:xfrm>
            <a:off x="822960" y="1965960"/>
            <a:ext cx="4572000" cy="822960"/>
          </a:xfrm>
          <a:prstGeom prst="rect">
            <a:avLst/>
          </a:prstGeom>
          <a:noFill/>
          <a:ln/>
        </p:spPr>
        <p:txBody>
          <a:bodyPr wrap="square" lIns="635" tIns="635" rIns="635" bIns="635" rtlCol="0" anchor="ctr"/>
          <a:lstStyle/>
          <a:p>
            <a:pPr algn="ctr" indent="0" marL="0">
              <a:buNone/>
            </a:pPr>
            <a:r>
              <a:rPr lang="en-US" sz="1500" b="1" dirty="0">
                <a:solidFill>
                  <a:schemeClr val="bg1"/>
                </a:solidFill>
              </a:rPr>
              <a:t>GeTe — ferroelektrik</a:t>
            </a:r>
            <a:endParaRPr lang="en-US" sz="1500" dirty="0"/>
          </a:p>
        </p:txBody>
      </p:sp>
      <p:sp>
        <p:nvSpPr>
          <p:cNvPr id="7" name="layer_19"/>
          <p:cNvSpPr/>
          <p:nvPr/>
        </p:nvSpPr>
        <p:spPr>
          <a:xfrm>
            <a:off x="731520" y="2788920"/>
            <a:ext cx="4754880" cy="502920"/>
          </a:xfrm>
          <a:prstGeom prst="rect">
            <a:avLst/>
          </a:prstGeom>
          <a:solidFill>
            <a:schemeClr val="accent1"/>
          </a:solidFill>
          <a:ln w="12700">
            <a:solidFill>
              <a:schemeClr val="bg1"/>
            </a:solidFill>
            <a:prstDash val="solid"/>
          </a:ln>
        </p:spPr>
      </p:sp>
      <p:sp>
        <p:nvSpPr>
          <p:cNvPr id="8" name="text_20"/>
          <p:cNvSpPr txBox="1"/>
          <p:nvPr/>
        </p:nvSpPr>
        <p:spPr>
          <a:xfrm>
            <a:off x="822960" y="2788920"/>
            <a:ext cx="4572000" cy="502920"/>
          </a:xfrm>
          <a:prstGeom prst="rect">
            <a:avLst/>
          </a:prstGeom>
          <a:noFill/>
          <a:ln/>
        </p:spPr>
        <p:txBody>
          <a:bodyPr wrap="square" lIns="635" tIns="635" rIns="635" bIns="635" rtlCol="0" anchor="ctr"/>
          <a:lstStyle/>
          <a:p>
            <a:pPr algn="ctr" indent="0" marL="0">
              <a:buNone/>
            </a:pPr>
            <a:r>
              <a:rPr lang="en-US" sz="1500" b="1" dirty="0">
                <a:solidFill>
                  <a:schemeClr val="bg1"/>
                </a:solidFill>
              </a:rPr>
              <a:t>Interfeys: GeSbTe₄ filamenti</a:t>
            </a:r>
            <a:endParaRPr lang="en-US" sz="1500" dirty="0"/>
          </a:p>
        </p:txBody>
      </p:sp>
      <p:sp>
        <p:nvSpPr>
          <p:cNvPr id="9" name="layer_21"/>
          <p:cNvSpPr/>
          <p:nvPr/>
        </p:nvSpPr>
        <p:spPr>
          <a:xfrm>
            <a:off x="731520" y="3291840"/>
            <a:ext cx="4754880" cy="822960"/>
          </a:xfrm>
          <a:prstGeom prst="rect">
            <a:avLst/>
          </a:prstGeom>
          <a:solidFill>
            <a:schemeClr val="accent2"/>
          </a:solidFill>
          <a:ln w="12700">
            <a:solidFill>
              <a:schemeClr val="bg1"/>
            </a:solidFill>
            <a:prstDash val="solid"/>
          </a:ln>
        </p:spPr>
      </p:sp>
      <p:sp>
        <p:nvSpPr>
          <p:cNvPr id="10" name="text_22"/>
          <p:cNvSpPr txBox="1"/>
          <p:nvPr/>
        </p:nvSpPr>
        <p:spPr>
          <a:xfrm>
            <a:off x="822960" y="3291840"/>
            <a:ext cx="4572000" cy="822960"/>
          </a:xfrm>
          <a:prstGeom prst="rect">
            <a:avLst/>
          </a:prstGeom>
          <a:noFill/>
          <a:ln/>
        </p:spPr>
        <p:txBody>
          <a:bodyPr wrap="square" lIns="635" tIns="635" rIns="635" bIns="635" rtlCol="0" anchor="ctr"/>
          <a:lstStyle/>
          <a:p>
            <a:pPr algn="ctr" indent="0" marL="0">
              <a:buNone/>
            </a:pPr>
            <a:r>
              <a:rPr lang="en-US" sz="1500" b="1" dirty="0">
                <a:solidFill>
                  <a:schemeClr val="bg1"/>
                </a:solidFill>
              </a:rPr>
              <a:t>Sb₂Te₃ — topologik izolyator</a:t>
            </a:r>
            <a:endParaRPr lang="en-US" sz="1500" dirty="0"/>
          </a:p>
        </p:txBody>
      </p:sp>
      <p:sp>
        <p:nvSpPr>
          <p:cNvPr id="11" name="layer_23"/>
          <p:cNvSpPr/>
          <p:nvPr/>
        </p:nvSpPr>
        <p:spPr>
          <a:xfrm>
            <a:off x="731520" y="4114800"/>
            <a:ext cx="4754880" cy="502920"/>
          </a:xfrm>
          <a:prstGeom prst="rect">
            <a:avLst/>
          </a:prstGeom>
          <a:solidFill>
            <a:schemeClr val="accent6"/>
          </a:solidFill>
          <a:ln w="12700">
            <a:solidFill>
              <a:schemeClr val="bg1"/>
            </a:solidFill>
            <a:prstDash val="solid"/>
          </a:ln>
        </p:spPr>
      </p:sp>
      <p:sp>
        <p:nvSpPr>
          <p:cNvPr id="12" name="text_24"/>
          <p:cNvSpPr txBox="1"/>
          <p:nvPr/>
        </p:nvSpPr>
        <p:spPr>
          <a:xfrm>
            <a:off x="822960" y="4114800"/>
            <a:ext cx="4572000" cy="502920"/>
          </a:xfrm>
          <a:prstGeom prst="rect">
            <a:avLst/>
          </a:prstGeom>
          <a:noFill/>
          <a:ln/>
        </p:spPr>
        <p:txBody>
          <a:bodyPr wrap="square" lIns="635" tIns="635" rIns="635" bIns="635" rtlCol="0" anchor="ctr"/>
          <a:lstStyle/>
          <a:p>
            <a:pPr algn="ctr" indent="0" marL="0">
              <a:buNone/>
            </a:pPr>
            <a:r>
              <a:rPr lang="en-US" sz="1500" b="1" dirty="0">
                <a:solidFill>
                  <a:schemeClr val="bg1"/>
                </a:solidFill>
              </a:rPr>
              <a:t>Pastki elektrod (TiN)</a:t>
            </a:r>
            <a:endParaRPr lang="en-US" sz="1500" dirty="0"/>
          </a:p>
        </p:txBody>
      </p:sp>
      <p:sp>
        <p:nvSpPr>
          <p:cNvPr id="13" name="text_25"/>
          <p:cNvSpPr txBox="1"/>
          <p:nvPr/>
        </p:nvSpPr>
        <p:spPr>
          <a:xfrm>
            <a:off x="731520" y="4709160"/>
            <a:ext cx="4754880" cy="320040"/>
          </a:xfrm>
          <a:prstGeom prst="rect">
            <a:avLst/>
          </a:prstGeom>
          <a:noFill/>
          <a:ln/>
        </p:spPr>
        <p:txBody>
          <a:bodyPr wrap="square" lIns="635" tIns="635" rIns="635" bIns="635" rtlCol="0" anchor="t"/>
          <a:lstStyle/>
          <a:p>
            <a:pPr algn="ctr" indent="0" marL="0">
              <a:buNone/>
            </a:pPr>
            <a:r>
              <a:rPr lang="en-US" sz="1100" i="1" dirty="0">
                <a:solidFill>
                  <a:schemeClr val="accent6"/>
                </a:solidFill>
              </a:rPr>
              <a:t>Sxema, masshtabsiz</a:t>
            </a:r>
            <a:endParaRPr lang="en-US" sz="1100" dirty="0"/>
          </a:p>
        </p:txBody>
      </p:sp>
      <p:sp>
        <p:nvSpPr>
          <p:cNvPr id="14" name="bul_26"/>
          <p:cNvSpPr txBox="1"/>
          <p:nvPr/>
        </p:nvSpPr>
        <p:spPr>
          <a:xfrm>
            <a:off x="6035040" y="1463040"/>
            <a:ext cx="5577840" cy="438912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Kalitlash interfeysda bo'ladi. </a:t>
            </a:r>
            <a:pPr indent="0" marL="0">
              <a:buNone/>
            </a:pPr>
            <a:r>
              <a:rPr lang="en-US" sz="1600" dirty="0">
                <a:solidFill>
                  <a:schemeClr val="tx1"/>
                </a:solidFill>
              </a:rPr>
              <a:t>Maqola fikriga ko'ra elektr maydon GeTe va Sb₂Te₃ orasida yupqa o'tkazuvchan “filament” (GeSbTe₄) hosil qiladi.</a:t>
            </a:r>
            <a:endParaRPr lang="en-US" sz="1600" dirty="0"/>
          </a:p>
          <a:p>
            <a:pPr marL="228600" indent="-228600">
              <a:spcAft>
                <a:spcPts val="800"/>
              </a:spcAft>
              <a:buSzPct val="100000"/>
              <a:buChar char="•"/>
            </a:pPr>
            <a:r>
              <a:rPr lang="en-US" sz="1600" b="1" dirty="0">
                <a:solidFill>
                  <a:schemeClr val="tx1"/>
                </a:solidFill>
              </a:rPr>
              <a:t>Filament bor = ON, yo'q = OFF. </a:t>
            </a:r>
            <a:pPr indent="0" marL="0">
              <a:buNone/>
            </a:pPr>
            <a:r>
              <a:rPr lang="en-US" sz="1600" dirty="0">
                <a:solidFill>
                  <a:schemeClr val="tx1"/>
                </a:solidFill>
              </a:rPr>
              <a:t>ON holatda qarshilik kichik, OFF holatda katta.</a:t>
            </a:r>
            <a:endParaRPr lang="en-US" sz="1600" dirty="0"/>
          </a:p>
          <a:p>
            <a:pPr marL="228600" indent="-228600">
              <a:spcAft>
                <a:spcPts val="800"/>
              </a:spcAft>
              <a:buSzPct val="100000"/>
              <a:buChar char="•"/>
            </a:pPr>
            <a:r>
              <a:rPr lang="en-US" sz="1600" b="1" dirty="0">
                <a:solidFill>
                  <a:schemeClr val="tx1"/>
                </a:solidFill>
              </a:rPr>
              <a:t>Qutbga bog'liq. </a:t>
            </a:r>
            <a:pPr indent="0" marL="0">
              <a:buNone/>
            </a:pPr>
            <a:r>
              <a:rPr lang="en-US" sz="1600" dirty="0">
                <a:solidFill>
                  <a:schemeClr val="tx1"/>
                </a:solidFill>
              </a:rPr>
              <a:t>ON ga faqat bitta qutbda o'tadi, OFF ga qaytish uchun qutbni almashtirish kerak.</a:t>
            </a:r>
            <a:endParaRPr lang="en-US" sz="1600" dirty="0"/>
          </a:p>
          <a:p>
            <a:pPr marL="228600" indent="-228600">
              <a:spcAft>
                <a:spcPts val="800"/>
              </a:spcAft>
              <a:buSzPct val="100000"/>
              <a:buChar char="•"/>
            </a:pPr>
            <a:r>
              <a:rPr lang="en-US" sz="1600" b="1" dirty="0">
                <a:solidFill>
                  <a:schemeClr val="tx1"/>
                </a:solidFill>
              </a:rPr>
              <a:t>Mualliflarning talqini: </a:t>
            </a:r>
            <a:pPr indent="0" marL="0">
              <a:buNone/>
            </a:pPr>
            <a:r>
              <a:rPr lang="en-US" sz="1600" dirty="0">
                <a:solidFill>
                  <a:schemeClr val="tx1"/>
                </a:solidFill>
              </a:rPr>
              <a:t>ON holat — Veyl yarimmetalli, kalitlash holati — Dirak/2D topologik faza. Bu talqin maqolada isbotlanmagan.</a:t>
            </a:r>
            <a:endParaRPr lang="en-US" sz="16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Ikki effekt: xotira va ostona kalitlash</a:t>
            </a:r>
            <a:endParaRPr lang="en-US" sz="3000" dirty="0"/>
          </a:p>
        </p:txBody>
      </p:sp>
      <p:sp>
        <p:nvSpPr>
          <p:cNvPr id="3" name="box_27"/>
          <p:cNvSpPr/>
          <p:nvPr/>
        </p:nvSpPr>
        <p:spPr>
          <a:xfrm>
            <a:off x="548640" y="1417320"/>
            <a:ext cx="5394960" cy="4480560"/>
          </a:xfrm>
          <a:prstGeom prst="roundRect">
            <a:avLst>
              <a:gd name="adj" fmla="val 1633"/>
            </a:avLst>
          </a:prstGeom>
          <a:solidFill>
            <a:schemeClr val="bg2"/>
          </a:solidFill>
          <a:ln w="9525">
            <a:solidFill>
              <a:schemeClr val="bg2"/>
            </a:solidFill>
            <a:prstDash val="solid"/>
          </a:ln>
        </p:spPr>
      </p:sp>
      <p:sp>
        <p:nvSpPr>
          <p:cNvPr id="4" name="num_28"/>
          <p:cNvSpPr/>
          <p:nvPr/>
        </p:nvSpPr>
        <p:spPr>
          <a:xfrm>
            <a:off x="822960" y="1645920"/>
            <a:ext cx="502920" cy="502920"/>
          </a:xfrm>
          <a:prstGeom prst="ellipse">
            <a:avLst/>
          </a:prstGeom>
          <a:solidFill>
            <a:schemeClr val="accent1"/>
          </a:solidFill>
          <a:ln w="12700">
            <a:solidFill>
              <a:schemeClr val="accent1"/>
            </a:solidFill>
            <a:prstDash val="solid"/>
          </a:ln>
        </p:spPr>
      </p:sp>
      <p:sp>
        <p:nvSpPr>
          <p:cNvPr id="5" name="numtxt_29"/>
          <p:cNvSpPr txBox="1"/>
          <p:nvPr/>
        </p:nvSpPr>
        <p:spPr>
          <a:xfrm>
            <a:off x="82296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_30"/>
          <p:cNvSpPr txBox="1"/>
          <p:nvPr/>
        </p:nvSpPr>
        <p:spPr>
          <a:xfrm>
            <a:off x="1508760" y="1645920"/>
            <a:ext cx="4206240" cy="502920"/>
          </a:xfrm>
          <a:prstGeom prst="rect">
            <a:avLst/>
          </a:prstGeom>
          <a:noFill/>
          <a:ln/>
        </p:spPr>
        <p:txBody>
          <a:bodyPr wrap="square" lIns="635" tIns="635" rIns="635" bIns="635" rtlCol="0" anchor="ctr"/>
          <a:lstStyle/>
          <a:p>
            <a:pPr indent="0" marL="0">
              <a:buNone/>
            </a:pPr>
            <a:r>
              <a:rPr lang="en-US" sz="2000" b="1" dirty="0">
                <a:solidFill>
                  <a:schemeClr val="tx1"/>
                </a:solidFill>
              </a:rPr>
              <a:t>Xotira (nonvolatil)</a:t>
            </a:r>
            <a:endParaRPr lang="en-US" sz="2000" dirty="0"/>
          </a:p>
        </p:txBody>
      </p:sp>
      <p:sp>
        <p:nvSpPr>
          <p:cNvPr id="7" name="bul_31"/>
          <p:cNvSpPr txBox="1"/>
          <p:nvPr/>
        </p:nvSpPr>
        <p:spPr>
          <a:xfrm>
            <a:off x="822960" y="2377440"/>
            <a:ext cx="4846320" cy="338328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ON holat kuchlanish olib tashlangandan keyin ham saqlanadi</a:t>
            </a:r>
            <a:endParaRPr lang="en-US" sz="1600" dirty="0"/>
          </a:p>
          <a:p>
            <a:pPr marL="228600" indent="-228600">
              <a:spcAft>
                <a:spcPts val="800"/>
              </a:spcAft>
              <a:buSzPct val="100000"/>
              <a:buChar char="•"/>
            </a:pPr>
            <a:r>
              <a:rPr lang="en-US" sz="1600" dirty="0">
                <a:solidFill>
                  <a:schemeClr val="tx1"/>
                </a:solidFill>
              </a:rPr>
              <a:t>OFF ga qaytish uchun teskari qutbli kuchlanish kerak (RESET)</a:t>
            </a:r>
            <a:endParaRPr lang="en-US" sz="1600" dirty="0"/>
          </a:p>
          <a:p>
            <a:pPr marL="228600" indent="-228600">
              <a:spcAft>
                <a:spcPts val="800"/>
              </a:spcAft>
              <a:buSzPct val="100000"/>
              <a:buChar char="•"/>
            </a:pPr>
            <a:r>
              <a:rPr lang="en-US" sz="1600" dirty="0">
                <a:solidFill>
                  <a:schemeClr val="tx1"/>
                </a:solidFill>
              </a:rPr>
              <a:t>Gate kuchlanishi 0 V bo'lganda kuzatiladi</a:t>
            </a:r>
            <a:endParaRPr lang="en-US" sz="1600" dirty="0"/>
          </a:p>
          <a:p>
            <a:pPr marL="228600" indent="-228600">
              <a:spcAft>
                <a:spcPts val="800"/>
              </a:spcAft>
              <a:buSzPct val="100000"/>
              <a:buChar char="•"/>
            </a:pPr>
            <a:r>
              <a:rPr lang="en-US" sz="1600" dirty="0">
                <a:solidFill>
                  <a:schemeClr val="tx1"/>
                </a:solidFill>
              </a:rPr>
              <a:t>R_ON bosimga juda sezgir</a:t>
            </a:r>
            <a:endParaRPr lang="en-US" sz="1600" dirty="0"/>
          </a:p>
        </p:txBody>
      </p:sp>
      <p:sp>
        <p:nvSpPr>
          <p:cNvPr id="8" name="box_32"/>
          <p:cNvSpPr/>
          <p:nvPr/>
        </p:nvSpPr>
        <p:spPr>
          <a:xfrm>
            <a:off x="6217920" y="1417320"/>
            <a:ext cx="5394960" cy="4480560"/>
          </a:xfrm>
          <a:prstGeom prst="roundRect">
            <a:avLst>
              <a:gd name="adj" fmla="val 1633"/>
            </a:avLst>
          </a:prstGeom>
          <a:solidFill>
            <a:schemeClr val="bg2"/>
          </a:solidFill>
          <a:ln w="9525">
            <a:solidFill>
              <a:schemeClr val="bg2"/>
            </a:solidFill>
            <a:prstDash val="solid"/>
          </a:ln>
        </p:spPr>
      </p:sp>
      <p:sp>
        <p:nvSpPr>
          <p:cNvPr id="9" name="num_33"/>
          <p:cNvSpPr/>
          <p:nvPr/>
        </p:nvSpPr>
        <p:spPr>
          <a:xfrm>
            <a:off x="6492240" y="1645920"/>
            <a:ext cx="502920" cy="502920"/>
          </a:xfrm>
          <a:prstGeom prst="ellipse">
            <a:avLst/>
          </a:prstGeom>
          <a:solidFill>
            <a:schemeClr val="accent2"/>
          </a:solidFill>
          <a:ln w="12700">
            <a:solidFill>
              <a:schemeClr val="accent2"/>
            </a:solidFill>
            <a:prstDash val="solid"/>
          </a:ln>
        </p:spPr>
      </p:sp>
      <p:sp>
        <p:nvSpPr>
          <p:cNvPr id="10" name="numtxt_34"/>
          <p:cNvSpPr txBox="1"/>
          <p:nvPr/>
        </p:nvSpPr>
        <p:spPr>
          <a:xfrm>
            <a:off x="649224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_35"/>
          <p:cNvSpPr txBox="1"/>
          <p:nvPr/>
        </p:nvSpPr>
        <p:spPr>
          <a:xfrm>
            <a:off x="7178040" y="1645920"/>
            <a:ext cx="4206240" cy="502920"/>
          </a:xfrm>
          <a:prstGeom prst="rect">
            <a:avLst/>
          </a:prstGeom>
          <a:noFill/>
          <a:ln/>
        </p:spPr>
        <p:txBody>
          <a:bodyPr wrap="square" lIns="635" tIns="635" rIns="635" bIns="635" rtlCol="0" anchor="ctr"/>
          <a:lstStyle/>
          <a:p>
            <a:pPr indent="0" marL="0">
              <a:buNone/>
            </a:pPr>
            <a:r>
              <a:rPr lang="en-US" sz="2000" b="1" dirty="0">
                <a:solidFill>
                  <a:schemeClr val="tx1"/>
                </a:solidFill>
              </a:rPr>
              <a:t>Ostona kalitlash (volatil)</a:t>
            </a:r>
            <a:endParaRPr lang="en-US" sz="2000" dirty="0"/>
          </a:p>
        </p:txBody>
      </p:sp>
      <p:sp>
        <p:nvSpPr>
          <p:cNvPr id="12" name="bul_36"/>
          <p:cNvSpPr txBox="1"/>
          <p:nvPr/>
        </p:nvSpPr>
        <p:spPr>
          <a:xfrm>
            <a:off x="6492240" y="2377440"/>
            <a:ext cx="4846320" cy="338328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ON holat faqat kuchlanish bor paytda turadi</a:t>
            </a:r>
            <a:endParaRPr lang="en-US" sz="1600" dirty="0"/>
          </a:p>
          <a:p>
            <a:pPr marL="228600" indent="-228600">
              <a:spcAft>
                <a:spcPts val="800"/>
              </a:spcAft>
              <a:buSzPct val="100000"/>
              <a:buChar char="•"/>
            </a:pPr>
            <a:r>
              <a:rPr lang="en-US" sz="1600" dirty="0">
                <a:solidFill>
                  <a:schemeClr val="tx1"/>
                </a:solidFill>
              </a:rPr>
              <a:t>Kuchlanish kamaysa, element o'zi OFF ga qaytadi</a:t>
            </a:r>
            <a:endParaRPr lang="en-US" sz="1600" dirty="0"/>
          </a:p>
          <a:p>
            <a:pPr marL="228600" indent="-228600">
              <a:spcAft>
                <a:spcPts val="800"/>
              </a:spcAft>
              <a:buSzPct val="100000"/>
              <a:buChar char="•"/>
            </a:pPr>
            <a:r>
              <a:rPr lang="en-US" sz="1600" dirty="0">
                <a:solidFill>
                  <a:schemeClr val="tx1"/>
                </a:solidFill>
              </a:rPr>
              <a:t>Gate kuchlanishi ≈ −1.1 V bo'lganda kuzatiladi</a:t>
            </a:r>
            <a:endParaRPr lang="en-US" sz="1600" dirty="0"/>
          </a:p>
          <a:p>
            <a:pPr marL="228600" indent="-228600">
              <a:spcAft>
                <a:spcPts val="800"/>
              </a:spcAft>
              <a:buSzPct val="100000"/>
              <a:buChar char="•"/>
            </a:pPr>
            <a:r>
              <a:rPr lang="en-US" sz="1600" dirty="0">
                <a:solidFill>
                  <a:schemeClr val="tx1"/>
                </a:solidFill>
              </a:rPr>
              <a:t>R_ON bosimga deyarli sezgir emas</a:t>
            </a:r>
            <a:endParaRPr lang="en-US" sz="1600" dirty="0"/>
          </a:p>
        </p:txBody>
      </p:sp>
      <p:sp>
        <p:nvSpPr>
          <p:cNvPr id="13" name="text_37"/>
          <p:cNvSpPr txBox="1"/>
          <p:nvPr/>
        </p:nvSpPr>
        <p:spPr>
          <a:xfrm>
            <a:off x="548640" y="6035040"/>
            <a:ext cx="11064240" cy="365760"/>
          </a:xfrm>
          <a:prstGeom prst="rect">
            <a:avLst/>
          </a:prstGeom>
          <a:noFill/>
          <a:ln/>
        </p:spPr>
        <p:txBody>
          <a:bodyPr wrap="square" lIns="635" tIns="635" rIns="635" bIns="635" rtlCol="0" anchor="t"/>
          <a:lstStyle/>
          <a:p>
            <a:pPr indent="0" marL="0">
              <a:buNone/>
            </a:pPr>
            <a:r>
              <a:rPr lang="en-US" sz="1400" i="1" dirty="0">
                <a:solidFill>
                  <a:schemeClr val="accent6"/>
                </a:solidFill>
              </a:rPr>
              <a:t>Bitta element ikkala effektni ko'rsatadi, ular orasida gate kuchlanishi almashtiradi. Modelning asosiy vazifasi shu.</a:t>
            </a:r>
            <a:endParaRPr lang="en-US" sz="14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Maqoladagi Fig.1: gate kuchlanishi effektni almashtiradi</a:t>
            </a:r>
            <a:endParaRPr lang="en-US" sz="3000" dirty="0"/>
          </a:p>
        </p:txBody>
      </p:sp>
      <p:sp>
        <p:nvSpPr>
          <p:cNvPr id="3" name="box_38"/>
          <p:cNvSpPr/>
          <p:nvPr/>
        </p:nvSpPr>
        <p:spPr>
          <a:xfrm>
            <a:off x="548640" y="1554480"/>
            <a:ext cx="2560320" cy="2651760"/>
          </a:xfrm>
          <a:prstGeom prst="roundRect">
            <a:avLst>
              <a:gd name="adj" fmla="val 2857"/>
            </a:avLst>
          </a:prstGeom>
          <a:solidFill>
            <a:schemeClr val="bg2"/>
          </a:solidFill>
          <a:ln w="9525">
            <a:solidFill>
              <a:schemeClr val="bg2"/>
            </a:solidFill>
            <a:prstDash val="solid"/>
          </a:ln>
        </p:spPr>
      </p:sp>
      <p:sp>
        <p:nvSpPr>
          <p:cNvPr id="4" name="text_39"/>
          <p:cNvSpPr txBox="1"/>
          <p:nvPr/>
        </p:nvSpPr>
        <p:spPr>
          <a:xfrm>
            <a:off x="777240" y="1737360"/>
            <a:ext cx="2103120" cy="640080"/>
          </a:xfrm>
          <a:prstGeom prst="rect">
            <a:avLst/>
          </a:prstGeom>
          <a:noFill/>
          <a:ln/>
        </p:spPr>
        <p:txBody>
          <a:bodyPr wrap="square" lIns="635" tIns="635" rIns="635" bIns="635"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(a)</a:t>
            </a:r>
            <a:endParaRPr lang="en-US" sz="3400" dirty="0"/>
          </a:p>
        </p:txBody>
      </p:sp>
      <p:sp>
        <p:nvSpPr>
          <p:cNvPr id="5" name="text_40"/>
          <p:cNvSpPr txBox="1"/>
          <p:nvPr/>
        </p:nvSpPr>
        <p:spPr>
          <a:xfrm>
            <a:off x="777240" y="2514600"/>
            <a:ext cx="2194560" cy="411480"/>
          </a:xfrm>
          <a:prstGeom prst="rect">
            <a:avLst/>
          </a:prstGeom>
          <a:noFill/>
          <a:ln/>
        </p:spPr>
        <p:txBody>
          <a:bodyPr wrap="square" lIns="635" tIns="635" rIns="635" bIns="635" rtlCol="0" anchor="t"/>
          <a:lstStyle/>
          <a:p>
            <a:pPr indent="0" marL="0">
              <a:buNone/>
            </a:pPr>
            <a:r>
              <a:rPr lang="en-US" sz="1700" b="1" dirty="0">
                <a:solidFill>
                  <a:schemeClr val="tx1"/>
                </a:solidFill>
              </a:rPr>
              <a:t>U_gate = 0 V</a:t>
            </a:r>
            <a:endParaRPr lang="en-US" sz="1700" dirty="0"/>
          </a:p>
        </p:txBody>
      </p:sp>
      <p:sp>
        <p:nvSpPr>
          <p:cNvPr id="6" name="text_41"/>
          <p:cNvSpPr txBox="1"/>
          <p:nvPr/>
        </p:nvSpPr>
        <p:spPr>
          <a:xfrm>
            <a:off x="777240" y="2971800"/>
            <a:ext cx="2194560" cy="1005840"/>
          </a:xfrm>
          <a:prstGeom prst="rect">
            <a:avLst/>
          </a:prstGeom>
          <a:noFill/>
          <a:ln/>
        </p:spPr>
        <p:txBody>
          <a:bodyPr wrap="square" lIns="635" tIns="635" rIns="635" bIns="635" rtlCol="0" anchor="t"/>
          <a:lstStyle/>
          <a:p>
            <a:pPr indent="0" marL="0">
              <a:buNone/>
            </a:pPr>
            <a:r>
              <a:rPr lang="en-US" sz="1500" dirty="0">
                <a:solidFill>
                  <a:schemeClr val="accent6"/>
                </a:solidFill>
              </a:rPr>
              <a:t>Toza xotira</a:t>
            </a:r>
            <a:endParaRPr lang="en-US" sz="1500" dirty="0"/>
          </a:p>
        </p:txBody>
      </p:sp>
      <p:sp>
        <p:nvSpPr>
          <p:cNvPr id="7" name="arrow_42"/>
          <p:cNvSpPr/>
          <p:nvPr/>
        </p:nvSpPr>
        <p:spPr>
          <a:xfrm>
            <a:off x="3127248" y="2880360"/>
            <a:ext cx="210312" cy="0"/>
          </a:xfrm>
          <a:prstGeom prst="line">
            <a:avLst/>
          </a:prstGeom>
          <a:noFill/>
          <a:ln w="25400">
            <a:solidFill>
              <a:schemeClr val="accent6"/>
            </a:solidFill>
            <a:prstDash val="solid"/>
            <a:tailEnd type="triangle"/>
          </a:ln>
        </p:spPr>
      </p:sp>
      <p:sp>
        <p:nvSpPr>
          <p:cNvPr id="8" name="box_43"/>
          <p:cNvSpPr/>
          <p:nvPr/>
        </p:nvSpPr>
        <p:spPr>
          <a:xfrm>
            <a:off x="3360420" y="1554480"/>
            <a:ext cx="2560320" cy="2651760"/>
          </a:xfrm>
          <a:prstGeom prst="roundRect">
            <a:avLst>
              <a:gd name="adj" fmla="val 2857"/>
            </a:avLst>
          </a:prstGeom>
          <a:solidFill>
            <a:schemeClr val="bg2"/>
          </a:solidFill>
          <a:ln w="9525">
            <a:solidFill>
              <a:schemeClr val="bg2"/>
            </a:solidFill>
            <a:prstDash val="solid"/>
          </a:ln>
        </p:spPr>
      </p:sp>
      <p:sp>
        <p:nvSpPr>
          <p:cNvPr id="9" name="text_44"/>
          <p:cNvSpPr txBox="1"/>
          <p:nvPr/>
        </p:nvSpPr>
        <p:spPr>
          <a:xfrm>
            <a:off x="3589020" y="1737360"/>
            <a:ext cx="2103120" cy="640080"/>
          </a:xfrm>
          <a:prstGeom prst="rect">
            <a:avLst/>
          </a:prstGeom>
          <a:noFill/>
          <a:ln/>
        </p:spPr>
        <p:txBody>
          <a:bodyPr wrap="square" lIns="635" tIns="635" rIns="635" bIns="635"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(b)</a:t>
            </a:r>
            <a:endParaRPr lang="en-US" sz="3400" dirty="0"/>
          </a:p>
        </p:txBody>
      </p:sp>
      <p:sp>
        <p:nvSpPr>
          <p:cNvPr id="10" name="text_45"/>
          <p:cNvSpPr txBox="1"/>
          <p:nvPr/>
        </p:nvSpPr>
        <p:spPr>
          <a:xfrm>
            <a:off x="3589020" y="2514600"/>
            <a:ext cx="2194560" cy="411480"/>
          </a:xfrm>
          <a:prstGeom prst="rect">
            <a:avLst/>
          </a:prstGeom>
          <a:noFill/>
          <a:ln/>
        </p:spPr>
        <p:txBody>
          <a:bodyPr wrap="square" lIns="635" tIns="635" rIns="635" bIns="635" rtlCol="0" anchor="t"/>
          <a:lstStyle/>
          <a:p>
            <a:pPr indent="0" marL="0">
              <a:buNone/>
            </a:pPr>
            <a:r>
              <a:rPr lang="en-US" sz="1700" b="1" dirty="0">
                <a:solidFill>
                  <a:schemeClr val="tx1"/>
                </a:solidFill>
              </a:rPr>
              <a:t>U_gate = −0.9 V</a:t>
            </a:r>
            <a:endParaRPr lang="en-US" sz="1700" dirty="0"/>
          </a:p>
        </p:txBody>
      </p:sp>
      <p:sp>
        <p:nvSpPr>
          <p:cNvPr id="11" name="text_46"/>
          <p:cNvSpPr txBox="1"/>
          <p:nvPr/>
        </p:nvSpPr>
        <p:spPr>
          <a:xfrm>
            <a:off x="3589020" y="2971800"/>
            <a:ext cx="2194560" cy="1005840"/>
          </a:xfrm>
          <a:prstGeom prst="rect">
            <a:avLst/>
          </a:prstGeom>
          <a:noFill/>
          <a:ln/>
        </p:spPr>
        <p:txBody>
          <a:bodyPr wrap="square" lIns="635" tIns="635" rIns="635" bIns="635" rtlCol="0" anchor="t"/>
          <a:lstStyle/>
          <a:p>
            <a:pPr indent="0" marL="0">
              <a:buNone/>
            </a:pPr>
            <a:r>
              <a:rPr lang="en-US" sz="1500" dirty="0">
                <a:solidFill>
                  <a:schemeClr val="accent6"/>
                </a:solidFill>
              </a:rPr>
              <a:t>Xotira kuchsizlanadi</a:t>
            </a:r>
            <a:endParaRPr lang="en-US" sz="1500" dirty="0"/>
          </a:p>
        </p:txBody>
      </p:sp>
      <p:sp>
        <p:nvSpPr>
          <p:cNvPr id="12" name="arrow_47"/>
          <p:cNvSpPr/>
          <p:nvPr/>
        </p:nvSpPr>
        <p:spPr>
          <a:xfrm>
            <a:off x="5939028" y="2880360"/>
            <a:ext cx="210312" cy="0"/>
          </a:xfrm>
          <a:prstGeom prst="line">
            <a:avLst/>
          </a:prstGeom>
          <a:noFill/>
          <a:ln w="25400">
            <a:solidFill>
              <a:schemeClr val="accent6"/>
            </a:solidFill>
            <a:prstDash val="solid"/>
            <a:tailEnd type="triangle"/>
          </a:ln>
        </p:spPr>
      </p:sp>
      <p:sp>
        <p:nvSpPr>
          <p:cNvPr id="13" name="box_48"/>
          <p:cNvSpPr/>
          <p:nvPr/>
        </p:nvSpPr>
        <p:spPr>
          <a:xfrm>
            <a:off x="6172200" y="1554480"/>
            <a:ext cx="2560320" cy="2651760"/>
          </a:xfrm>
          <a:prstGeom prst="roundRect">
            <a:avLst>
              <a:gd name="adj" fmla="val 2857"/>
            </a:avLst>
          </a:prstGeom>
          <a:solidFill>
            <a:schemeClr val="bg2"/>
          </a:solidFill>
          <a:ln w="9525">
            <a:solidFill>
              <a:schemeClr val="bg2"/>
            </a:solidFill>
            <a:prstDash val="solid"/>
          </a:ln>
        </p:spPr>
      </p:sp>
      <p:sp>
        <p:nvSpPr>
          <p:cNvPr id="14" name="text_49"/>
          <p:cNvSpPr txBox="1"/>
          <p:nvPr/>
        </p:nvSpPr>
        <p:spPr>
          <a:xfrm>
            <a:off x="6400800" y="1737360"/>
            <a:ext cx="2103120" cy="640080"/>
          </a:xfrm>
          <a:prstGeom prst="rect">
            <a:avLst/>
          </a:prstGeom>
          <a:noFill/>
          <a:ln/>
        </p:spPr>
        <p:txBody>
          <a:bodyPr wrap="square" lIns="635" tIns="635" rIns="635" bIns="635"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(c)</a:t>
            </a:r>
            <a:endParaRPr lang="en-US" sz="3400" dirty="0"/>
          </a:p>
        </p:txBody>
      </p:sp>
      <p:sp>
        <p:nvSpPr>
          <p:cNvPr id="15" name="text_50"/>
          <p:cNvSpPr txBox="1"/>
          <p:nvPr/>
        </p:nvSpPr>
        <p:spPr>
          <a:xfrm>
            <a:off x="6400800" y="2514600"/>
            <a:ext cx="2194560" cy="411480"/>
          </a:xfrm>
          <a:prstGeom prst="rect">
            <a:avLst/>
          </a:prstGeom>
          <a:noFill/>
          <a:ln/>
        </p:spPr>
        <p:txBody>
          <a:bodyPr wrap="square" lIns="635" tIns="635" rIns="635" bIns="635" rtlCol="0" anchor="t"/>
          <a:lstStyle/>
          <a:p>
            <a:pPr indent="0" marL="0">
              <a:buNone/>
            </a:pPr>
            <a:r>
              <a:rPr lang="en-US" sz="1700" b="1" dirty="0">
                <a:solidFill>
                  <a:schemeClr val="tx1"/>
                </a:solidFill>
              </a:rPr>
              <a:t>U_gate = −1.1 V</a:t>
            </a:r>
            <a:endParaRPr lang="en-US" sz="1700" dirty="0"/>
          </a:p>
        </p:txBody>
      </p:sp>
      <p:sp>
        <p:nvSpPr>
          <p:cNvPr id="16" name="text_51"/>
          <p:cNvSpPr txBox="1"/>
          <p:nvPr/>
        </p:nvSpPr>
        <p:spPr>
          <a:xfrm>
            <a:off x="6400800" y="2971800"/>
            <a:ext cx="2194560" cy="1005840"/>
          </a:xfrm>
          <a:prstGeom prst="rect">
            <a:avLst/>
          </a:prstGeom>
          <a:noFill/>
          <a:ln/>
        </p:spPr>
        <p:txBody>
          <a:bodyPr wrap="square" lIns="635" tIns="635" rIns="635" bIns="635" rtlCol="0" anchor="t"/>
          <a:lstStyle/>
          <a:p>
            <a:pPr indent="0" marL="0">
              <a:buNone/>
            </a:pPr>
            <a:r>
              <a:rPr lang="en-US" sz="1500" dirty="0">
                <a:solidFill>
                  <a:schemeClr val="accent6"/>
                </a:solidFill>
              </a:rPr>
              <a:t>Faqat ostona kalitlash</a:t>
            </a:r>
            <a:endParaRPr lang="en-US" sz="1500" dirty="0"/>
          </a:p>
        </p:txBody>
      </p:sp>
      <p:sp>
        <p:nvSpPr>
          <p:cNvPr id="17" name="arrow_52"/>
          <p:cNvSpPr/>
          <p:nvPr/>
        </p:nvSpPr>
        <p:spPr>
          <a:xfrm>
            <a:off x="8750808" y="2880360"/>
            <a:ext cx="210312" cy="0"/>
          </a:xfrm>
          <a:prstGeom prst="line">
            <a:avLst/>
          </a:prstGeom>
          <a:noFill/>
          <a:ln w="25400">
            <a:solidFill>
              <a:schemeClr val="accent6"/>
            </a:solidFill>
            <a:prstDash val="solid"/>
            <a:tailEnd type="triangle"/>
          </a:ln>
        </p:spPr>
      </p:sp>
      <p:sp>
        <p:nvSpPr>
          <p:cNvPr id="18" name="box_53"/>
          <p:cNvSpPr/>
          <p:nvPr/>
        </p:nvSpPr>
        <p:spPr>
          <a:xfrm>
            <a:off x="8983980" y="1554480"/>
            <a:ext cx="2560320" cy="2651760"/>
          </a:xfrm>
          <a:prstGeom prst="roundRect">
            <a:avLst>
              <a:gd name="adj" fmla="val 2857"/>
            </a:avLst>
          </a:prstGeom>
          <a:solidFill>
            <a:schemeClr val="bg2"/>
          </a:solidFill>
          <a:ln w="9525">
            <a:solidFill>
              <a:schemeClr val="bg2"/>
            </a:solidFill>
            <a:prstDash val="solid"/>
          </a:ln>
        </p:spPr>
      </p:sp>
      <p:sp>
        <p:nvSpPr>
          <p:cNvPr id="19" name="text_54"/>
          <p:cNvSpPr txBox="1"/>
          <p:nvPr/>
        </p:nvSpPr>
        <p:spPr>
          <a:xfrm>
            <a:off x="9212580" y="1737360"/>
            <a:ext cx="2103120" cy="640080"/>
          </a:xfrm>
          <a:prstGeom prst="rect">
            <a:avLst/>
          </a:prstGeom>
          <a:noFill/>
          <a:ln/>
        </p:spPr>
        <p:txBody>
          <a:bodyPr wrap="square" lIns="635" tIns="635" rIns="635" bIns="635"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(d)</a:t>
            </a:r>
            <a:endParaRPr lang="en-US" sz="3400" dirty="0"/>
          </a:p>
        </p:txBody>
      </p:sp>
      <p:sp>
        <p:nvSpPr>
          <p:cNvPr id="20" name="text_55"/>
          <p:cNvSpPr txBox="1"/>
          <p:nvPr/>
        </p:nvSpPr>
        <p:spPr>
          <a:xfrm>
            <a:off x="9212580" y="2514600"/>
            <a:ext cx="2194560" cy="411480"/>
          </a:xfrm>
          <a:prstGeom prst="rect">
            <a:avLst/>
          </a:prstGeom>
          <a:noFill/>
          <a:ln/>
        </p:spPr>
        <p:txBody>
          <a:bodyPr wrap="square" lIns="635" tIns="635" rIns="635" bIns="635" rtlCol="0" anchor="t"/>
          <a:lstStyle/>
          <a:p>
            <a:pPr indent="0" marL="0">
              <a:buNone/>
            </a:pPr>
            <a:r>
              <a:rPr lang="en-US" sz="1700" b="1" dirty="0">
                <a:solidFill>
                  <a:schemeClr val="tx1"/>
                </a:solidFill>
              </a:rPr>
              <a:t>U_gate → 0 V</a:t>
            </a:r>
            <a:endParaRPr lang="en-US" sz="1700" dirty="0"/>
          </a:p>
        </p:txBody>
      </p:sp>
      <p:sp>
        <p:nvSpPr>
          <p:cNvPr id="21" name="text_56"/>
          <p:cNvSpPr txBox="1"/>
          <p:nvPr/>
        </p:nvSpPr>
        <p:spPr>
          <a:xfrm>
            <a:off x="9212580" y="2971800"/>
            <a:ext cx="2194560" cy="1005840"/>
          </a:xfrm>
          <a:prstGeom prst="rect">
            <a:avLst/>
          </a:prstGeom>
          <a:noFill/>
          <a:ln/>
        </p:spPr>
        <p:txBody>
          <a:bodyPr wrap="square" lIns="635" tIns="635" rIns="635" bIns="635" rtlCol="0" anchor="t"/>
          <a:lstStyle/>
          <a:p>
            <a:pPr indent="0" marL="0">
              <a:buNone/>
            </a:pPr>
            <a:r>
              <a:rPr lang="en-US" sz="1500" dirty="0">
                <a:solidFill>
                  <a:schemeClr val="accent6"/>
                </a:solidFill>
              </a:rPr>
              <a:t>Xotira qaytadi</a:t>
            </a:r>
            <a:endParaRPr lang="en-US" sz="1500" dirty="0"/>
          </a:p>
        </p:txBody>
      </p:sp>
      <p:sp>
        <p:nvSpPr>
          <p:cNvPr id="22" name="bul_57"/>
          <p:cNvSpPr txBox="1"/>
          <p:nvPr/>
        </p:nvSpPr>
        <p:spPr>
          <a:xfrm>
            <a:off x="548640" y="4480560"/>
            <a:ext cx="11064240" cy="17373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Tajriba: </a:t>
            </a:r>
            <a:pPr indent="0" marL="0">
              <a:buNone/>
            </a:pPr>
            <a:r>
              <a:rPr lang="en-US" sz="1600" dirty="0">
                <a:solidFill>
                  <a:schemeClr val="tx1"/>
                </a:solidFill>
              </a:rPr>
              <a:t>elementga 100 Hz chastotali o'zgaruvchan kuchlanish berilib, tok o'lchangan (I–V egri chizig'i).</a:t>
            </a:r>
            <a:endParaRPr lang="en-US" sz="1600" dirty="0"/>
          </a:p>
          <a:p>
            <a:pPr marL="228600" indent="-228600">
              <a:spcAft>
                <a:spcPts val="800"/>
              </a:spcAft>
              <a:buSzPct val="100000"/>
              <a:buChar char="•"/>
            </a:pPr>
            <a:r>
              <a:rPr lang="en-US" sz="1600" b="1" dirty="0">
                <a:solidFill>
                  <a:schemeClr val="tx1"/>
                </a:solidFill>
              </a:rPr>
              <a:t>Model uchun nishon: </a:t>
            </a:r>
            <a:pPr indent="0" marL="0">
              <a:buNone/>
            </a:pPr>
            <a:r>
              <a:rPr lang="en-US" sz="1600" dirty="0">
                <a:solidFill>
                  <a:schemeClr val="tx1"/>
                </a:solidFill>
              </a:rPr>
              <a:t>har bir panelning SET/RESET kuchlanishi, R_ON, OFF toki grafikdan ko'z bilan o'qib olindi (±20% aniqlik).</a:t>
            </a:r>
            <a:endParaRPr lang="en-US" sz="1600" dirty="0"/>
          </a:p>
          <a:p>
            <a:pPr marL="228600" indent="-228600">
              <a:spcAft>
                <a:spcPts val="800"/>
              </a:spcAft>
              <a:buSzPct val="100000"/>
              <a:buChar char="•"/>
            </a:pPr>
            <a:r>
              <a:rPr lang="en-US" sz="1600" b="1" dirty="0">
                <a:solidFill>
                  <a:schemeClr val="tx1"/>
                </a:solidFill>
              </a:rPr>
              <a:t>Qaytarlik: </a:t>
            </a:r>
            <a:pPr indent="0" marL="0">
              <a:buNone/>
            </a:pPr>
            <a:r>
              <a:rPr lang="en-US" sz="1600" dirty="0">
                <a:solidFill>
                  <a:schemeClr val="tx1"/>
                </a:solidFill>
              </a:rPr>
              <a:t>(d) panelda gate yana 0 V ga qaytganda xotira tiklanadi.</a:t>
            </a:r>
            <a:endParaRPr lang="en-US" sz="16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COMSOL nimani qila oladi, nimani qila olmaydi</a:t>
            </a:r>
            <a:endParaRPr lang="en-US" sz="3000" dirty="0"/>
          </a:p>
        </p:txBody>
      </p:sp>
      <p:sp>
        <p:nvSpPr>
          <p:cNvPr id="3" name="text_58"/>
          <p:cNvSpPr txBox="1"/>
          <p:nvPr/>
        </p:nvSpPr>
        <p:spPr>
          <a:xfrm>
            <a:off x="548640" y="1417320"/>
            <a:ext cx="5394960" cy="457200"/>
          </a:xfrm>
          <a:prstGeom prst="rect">
            <a:avLst/>
          </a:prstGeom>
          <a:noFill/>
          <a:ln/>
        </p:spPr>
        <p:txBody>
          <a:bodyPr wrap="square" lIns="635" tIns="635" rIns="635" bIns="635" rtlCol="0" anchor="t"/>
          <a:lstStyle/>
          <a:p>
            <a:pPr indent="0" marL="0">
              <a:buNone/>
            </a:pPr>
            <a:r>
              <a:rPr lang="en-US" sz="2000" b="1" dirty="0">
                <a:solidFill>
                  <a:schemeClr val="accent5"/>
                </a:solidFill>
              </a:rPr>
              <a:t>Qila oladi (qurilma darajasi)</a:t>
            </a:r>
            <a:endParaRPr lang="en-US" sz="2000" dirty="0"/>
          </a:p>
        </p:txBody>
      </p:sp>
      <p:sp>
        <p:nvSpPr>
          <p:cNvPr id="4" name="num_59"/>
          <p:cNvSpPr/>
          <p:nvPr/>
        </p:nvSpPr>
        <p:spPr>
          <a:xfrm>
            <a:off x="548640" y="2011680"/>
            <a:ext cx="457200" cy="457200"/>
          </a:xfrm>
          <a:prstGeom prst="ellipse">
            <a:avLst/>
          </a:prstGeom>
          <a:solidFill>
            <a:schemeClr val="accent5"/>
          </a:solidFill>
          <a:ln w="12700">
            <a:solidFill>
              <a:schemeClr val="accent5"/>
            </a:solidFill>
            <a:prstDash val="solid"/>
          </a:ln>
        </p:spPr>
      </p:sp>
      <p:sp>
        <p:nvSpPr>
          <p:cNvPr id="5" name="numtxt_60"/>
          <p:cNvSpPr txBox="1"/>
          <p:nvPr/>
        </p:nvSpPr>
        <p:spPr>
          <a:xfrm>
            <a:off x="54864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text_61"/>
          <p:cNvSpPr txBox="1"/>
          <p:nvPr/>
        </p:nvSpPr>
        <p:spPr>
          <a:xfrm>
            <a:off x="1188720" y="2011680"/>
            <a:ext cx="4754880" cy="457200"/>
          </a:xfrm>
          <a:prstGeom prst="rect">
            <a:avLst/>
          </a:prstGeom>
          <a:noFill/>
          <a:ln/>
        </p:spPr>
        <p:txBody>
          <a:bodyPr wrap="square" lIns="635" tIns="635" rIns="635" bIns="635" rtlCol="0" anchor="ctr"/>
          <a:lstStyle/>
          <a:p>
            <a:pPr indent="0" marL="0">
              <a:buNone/>
            </a:pPr>
            <a:r>
              <a:rPr lang="en-US" sz="1600" dirty="0">
                <a:solidFill>
                  <a:schemeClr val="tx1"/>
                </a:solidFill>
              </a:rPr>
              <a:t>Tok va kuchlanish taqsimoti (Ohm qonuni)</a:t>
            </a:r>
            <a:endParaRPr lang="en-US" sz="1600" dirty="0"/>
          </a:p>
        </p:txBody>
      </p:sp>
      <p:sp>
        <p:nvSpPr>
          <p:cNvPr id="7" name="num_62"/>
          <p:cNvSpPr/>
          <p:nvPr/>
        </p:nvSpPr>
        <p:spPr>
          <a:xfrm>
            <a:off x="548640" y="2761488"/>
            <a:ext cx="457200" cy="457200"/>
          </a:xfrm>
          <a:prstGeom prst="ellipse">
            <a:avLst/>
          </a:prstGeom>
          <a:solidFill>
            <a:schemeClr val="accent5"/>
          </a:solidFill>
          <a:ln w="12700">
            <a:solidFill>
              <a:schemeClr val="accent5"/>
            </a:solidFill>
            <a:prstDash val="solid"/>
          </a:ln>
        </p:spPr>
      </p:sp>
      <p:sp>
        <p:nvSpPr>
          <p:cNvPr id="8" name="numtxt_63"/>
          <p:cNvSpPr txBox="1"/>
          <p:nvPr/>
        </p:nvSpPr>
        <p:spPr>
          <a:xfrm>
            <a:off x="548640" y="27614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9" name="text_64"/>
          <p:cNvSpPr txBox="1"/>
          <p:nvPr/>
        </p:nvSpPr>
        <p:spPr>
          <a:xfrm>
            <a:off x="1188720" y="2761488"/>
            <a:ext cx="4754880" cy="457200"/>
          </a:xfrm>
          <a:prstGeom prst="rect">
            <a:avLst/>
          </a:prstGeom>
          <a:noFill/>
          <a:ln/>
        </p:spPr>
        <p:txBody>
          <a:bodyPr wrap="square" lIns="635" tIns="635" rIns="635" bIns="635" rtlCol="0" anchor="ctr"/>
          <a:lstStyle/>
          <a:p>
            <a:pPr indent="0" marL="0">
              <a:buNone/>
            </a:pPr>
            <a:r>
              <a:rPr lang="en-US" sz="1600" dirty="0">
                <a:solidFill>
                  <a:schemeClr val="tx1"/>
                </a:solidFill>
              </a:rPr>
              <a:t>Joule qizishi va harorat</a:t>
            </a:r>
            <a:endParaRPr lang="en-US" sz="1600" dirty="0"/>
          </a:p>
        </p:txBody>
      </p:sp>
      <p:sp>
        <p:nvSpPr>
          <p:cNvPr id="10" name="num_65"/>
          <p:cNvSpPr/>
          <p:nvPr/>
        </p:nvSpPr>
        <p:spPr>
          <a:xfrm>
            <a:off x="548640" y="3511296"/>
            <a:ext cx="457200" cy="457200"/>
          </a:xfrm>
          <a:prstGeom prst="ellipse">
            <a:avLst/>
          </a:prstGeom>
          <a:solidFill>
            <a:schemeClr val="accent5"/>
          </a:solidFill>
          <a:ln w="12700">
            <a:solidFill>
              <a:schemeClr val="accent5"/>
            </a:solidFill>
            <a:prstDash val="solid"/>
          </a:ln>
        </p:spPr>
      </p:sp>
      <p:sp>
        <p:nvSpPr>
          <p:cNvPr id="11" name="numtxt_66"/>
          <p:cNvSpPr txBox="1"/>
          <p:nvPr/>
        </p:nvSpPr>
        <p:spPr>
          <a:xfrm>
            <a:off x="548640" y="351129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2" name="text_67"/>
          <p:cNvSpPr txBox="1"/>
          <p:nvPr/>
        </p:nvSpPr>
        <p:spPr>
          <a:xfrm>
            <a:off x="1188720" y="3511296"/>
            <a:ext cx="4754880" cy="457200"/>
          </a:xfrm>
          <a:prstGeom prst="rect">
            <a:avLst/>
          </a:prstGeom>
          <a:noFill/>
          <a:ln/>
        </p:spPr>
        <p:txBody>
          <a:bodyPr wrap="square" lIns="635" tIns="635" rIns="635" bIns="635" rtlCol="0" anchor="ctr"/>
          <a:lstStyle/>
          <a:p>
            <a:pPr indent="0" marL="0">
              <a:buNone/>
            </a:pPr>
            <a:r>
              <a:rPr lang="en-US" sz="1600" dirty="0">
                <a:solidFill>
                  <a:schemeClr val="tx1"/>
                </a:solidFill>
              </a:rPr>
              <a:t>Bosim → deformatsiya → qatlam qalinligi</a:t>
            </a:r>
            <a:endParaRPr lang="en-US" sz="1600" dirty="0"/>
          </a:p>
        </p:txBody>
      </p:sp>
      <p:sp>
        <p:nvSpPr>
          <p:cNvPr id="13" name="num_68"/>
          <p:cNvSpPr/>
          <p:nvPr/>
        </p:nvSpPr>
        <p:spPr>
          <a:xfrm>
            <a:off x="548640" y="4261104"/>
            <a:ext cx="457200" cy="457200"/>
          </a:xfrm>
          <a:prstGeom prst="ellipse">
            <a:avLst/>
          </a:prstGeom>
          <a:solidFill>
            <a:schemeClr val="accent5"/>
          </a:solidFill>
          <a:ln w="12700">
            <a:solidFill>
              <a:schemeClr val="accent5"/>
            </a:solidFill>
            <a:prstDash val="solid"/>
          </a:ln>
        </p:spPr>
      </p:sp>
      <p:sp>
        <p:nvSpPr>
          <p:cNvPr id="14" name="numtxt_69"/>
          <p:cNvSpPr txBox="1"/>
          <p:nvPr/>
        </p:nvSpPr>
        <p:spPr>
          <a:xfrm>
            <a:off x="548640" y="42611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5" name="text_70"/>
          <p:cNvSpPr txBox="1"/>
          <p:nvPr/>
        </p:nvSpPr>
        <p:spPr>
          <a:xfrm>
            <a:off x="1188720" y="4261104"/>
            <a:ext cx="4754880" cy="457200"/>
          </a:xfrm>
          <a:prstGeom prst="rect">
            <a:avLst/>
          </a:prstGeom>
          <a:noFill/>
          <a:ln/>
        </p:spPr>
        <p:txBody>
          <a:bodyPr wrap="square" lIns="635" tIns="635" rIns="635" bIns="635" rtlCol="0" anchor="ctr"/>
          <a:lstStyle/>
          <a:p>
            <a:pPr indent="0" marL="0">
              <a:buNone/>
            </a:pPr>
            <a:r>
              <a:rPr lang="en-US" sz="1600" dirty="0">
                <a:solidFill>
                  <a:schemeClr val="tx1"/>
                </a:solidFill>
              </a:rPr>
              <a:t>Vaqt bo'yicha o'zgaradigan holat (ODE)</a:t>
            </a:r>
            <a:endParaRPr lang="en-US" sz="1600" dirty="0"/>
          </a:p>
        </p:txBody>
      </p:sp>
      <p:sp>
        <p:nvSpPr>
          <p:cNvPr id="16" name="num_71"/>
          <p:cNvSpPr/>
          <p:nvPr/>
        </p:nvSpPr>
        <p:spPr>
          <a:xfrm>
            <a:off x="548640" y="5010912"/>
            <a:ext cx="457200" cy="457200"/>
          </a:xfrm>
          <a:prstGeom prst="ellipse">
            <a:avLst/>
          </a:prstGeom>
          <a:solidFill>
            <a:schemeClr val="accent5"/>
          </a:solidFill>
          <a:ln w="12700">
            <a:solidFill>
              <a:schemeClr val="accent5"/>
            </a:solidFill>
            <a:prstDash val="solid"/>
          </a:ln>
        </p:spPr>
      </p:sp>
      <p:sp>
        <p:nvSpPr>
          <p:cNvPr id="17" name="numtxt_72"/>
          <p:cNvSpPr txBox="1"/>
          <p:nvPr/>
        </p:nvSpPr>
        <p:spPr>
          <a:xfrm>
            <a:off x="548640" y="50109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8" name="text_73"/>
          <p:cNvSpPr txBox="1"/>
          <p:nvPr/>
        </p:nvSpPr>
        <p:spPr>
          <a:xfrm>
            <a:off x="1188720" y="5010912"/>
            <a:ext cx="4754880" cy="457200"/>
          </a:xfrm>
          <a:prstGeom prst="rect">
            <a:avLst/>
          </a:prstGeom>
          <a:noFill/>
          <a:ln/>
        </p:spPr>
        <p:txBody>
          <a:bodyPr wrap="square" lIns="635" tIns="635" rIns="635" bIns="635" rtlCol="0" anchor="ctr"/>
          <a:lstStyle/>
          <a:p>
            <a:pPr indent="0" marL="0">
              <a:buNone/>
            </a:pPr>
            <a:r>
              <a:rPr lang="en-US" sz="1600" dirty="0">
                <a:solidFill>
                  <a:schemeClr val="tx1"/>
                </a:solidFill>
              </a:rPr>
              <a:t>Real geometriyada hammasi birga</a:t>
            </a:r>
            <a:endParaRPr lang="en-US" sz="1600" dirty="0"/>
          </a:p>
        </p:txBody>
      </p:sp>
      <p:sp>
        <p:nvSpPr>
          <p:cNvPr id="19" name="text_74"/>
          <p:cNvSpPr txBox="1"/>
          <p:nvPr/>
        </p:nvSpPr>
        <p:spPr>
          <a:xfrm>
            <a:off x="6217920" y="1417320"/>
            <a:ext cx="5394960" cy="457200"/>
          </a:xfrm>
          <a:prstGeom prst="rect">
            <a:avLst/>
          </a:prstGeom>
          <a:noFill/>
          <a:ln/>
        </p:spPr>
        <p:txBody>
          <a:bodyPr wrap="square" lIns="635" tIns="635" rIns="635" bIns="635" rtlCol="0" anchor="t"/>
          <a:lstStyle/>
          <a:p>
            <a:pPr indent="0" marL="0">
              <a:buNone/>
            </a:pPr>
            <a:r>
              <a:rPr lang="en-US" sz="2000" b="1" dirty="0">
                <a:solidFill>
                  <a:schemeClr val="accent4"/>
                </a:solidFill>
              </a:rPr>
              <a:t>Qila olmaydi (kvant darajasi)</a:t>
            </a:r>
            <a:endParaRPr lang="en-US" sz="2000" dirty="0"/>
          </a:p>
        </p:txBody>
      </p:sp>
      <p:sp>
        <p:nvSpPr>
          <p:cNvPr id="20" name="num_75"/>
          <p:cNvSpPr/>
          <p:nvPr/>
        </p:nvSpPr>
        <p:spPr>
          <a:xfrm>
            <a:off x="6217920" y="2011680"/>
            <a:ext cx="457200" cy="457200"/>
          </a:xfrm>
          <a:prstGeom prst="ellipse">
            <a:avLst/>
          </a:prstGeom>
          <a:solidFill>
            <a:schemeClr val="accent4"/>
          </a:solidFill>
          <a:ln w="12700">
            <a:solidFill>
              <a:schemeClr val="accent4"/>
            </a:solidFill>
            <a:prstDash val="solid"/>
          </a:ln>
        </p:spPr>
      </p:sp>
      <p:sp>
        <p:nvSpPr>
          <p:cNvPr id="21" name="numtxt_76"/>
          <p:cNvSpPr txBox="1"/>
          <p:nvPr/>
        </p:nvSpPr>
        <p:spPr>
          <a:xfrm>
            <a:off x="621792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2" name="text_77"/>
          <p:cNvSpPr txBox="1"/>
          <p:nvPr/>
        </p:nvSpPr>
        <p:spPr>
          <a:xfrm>
            <a:off x="6858000" y="2011680"/>
            <a:ext cx="4754880" cy="457200"/>
          </a:xfrm>
          <a:prstGeom prst="rect">
            <a:avLst/>
          </a:prstGeom>
          <a:noFill/>
          <a:ln/>
        </p:spPr>
        <p:txBody>
          <a:bodyPr wrap="square" lIns="635" tIns="635" rIns="635" bIns="635" rtlCol="0" anchor="ctr"/>
          <a:lstStyle/>
          <a:p>
            <a:pPr indent="0" marL="0">
              <a:buNone/>
            </a:pPr>
            <a:r>
              <a:rPr lang="en-US" sz="1600" dirty="0">
                <a:solidFill>
                  <a:schemeClr val="tx1"/>
                </a:solidFill>
              </a:rPr>
              <a:t>Elektronlarning bandlar strukturasi</a:t>
            </a:r>
            <a:endParaRPr lang="en-US" sz="1600" dirty="0"/>
          </a:p>
        </p:txBody>
      </p:sp>
      <p:sp>
        <p:nvSpPr>
          <p:cNvPr id="23" name="num_78"/>
          <p:cNvSpPr/>
          <p:nvPr/>
        </p:nvSpPr>
        <p:spPr>
          <a:xfrm>
            <a:off x="6217920" y="2761488"/>
            <a:ext cx="457200" cy="457200"/>
          </a:xfrm>
          <a:prstGeom prst="ellipse">
            <a:avLst/>
          </a:prstGeom>
          <a:solidFill>
            <a:schemeClr val="accent4"/>
          </a:solidFill>
          <a:ln w="12700">
            <a:solidFill>
              <a:schemeClr val="accent4"/>
            </a:solidFill>
            <a:prstDash val="solid"/>
          </a:ln>
        </p:spPr>
      </p:sp>
      <p:sp>
        <p:nvSpPr>
          <p:cNvPr id="24" name="numtxt_79"/>
          <p:cNvSpPr txBox="1"/>
          <p:nvPr/>
        </p:nvSpPr>
        <p:spPr>
          <a:xfrm>
            <a:off x="6217920" y="27614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5" name="text_80"/>
          <p:cNvSpPr txBox="1"/>
          <p:nvPr/>
        </p:nvSpPr>
        <p:spPr>
          <a:xfrm>
            <a:off x="6858000" y="2761488"/>
            <a:ext cx="4754880" cy="457200"/>
          </a:xfrm>
          <a:prstGeom prst="rect">
            <a:avLst/>
          </a:prstGeom>
          <a:noFill/>
          <a:ln/>
        </p:spPr>
        <p:txBody>
          <a:bodyPr wrap="square" lIns="635" tIns="635" rIns="635" bIns="635" rtlCol="0" anchor="ctr"/>
          <a:lstStyle/>
          <a:p>
            <a:pPr indent="0" marL="0">
              <a:buNone/>
            </a:pPr>
            <a:r>
              <a:rPr lang="en-US" sz="1600" dirty="0">
                <a:solidFill>
                  <a:schemeClr val="tx1"/>
                </a:solidFill>
              </a:rPr>
              <a:t>Veyl tugunlari, Fermi yoylari</a:t>
            </a:r>
            <a:endParaRPr lang="en-US" sz="1600" dirty="0"/>
          </a:p>
        </p:txBody>
      </p:sp>
      <p:sp>
        <p:nvSpPr>
          <p:cNvPr id="26" name="num_81"/>
          <p:cNvSpPr/>
          <p:nvPr/>
        </p:nvSpPr>
        <p:spPr>
          <a:xfrm>
            <a:off x="6217920" y="3511296"/>
            <a:ext cx="457200" cy="457200"/>
          </a:xfrm>
          <a:prstGeom prst="ellipse">
            <a:avLst/>
          </a:prstGeom>
          <a:solidFill>
            <a:schemeClr val="accent4"/>
          </a:solidFill>
          <a:ln w="12700">
            <a:solidFill>
              <a:schemeClr val="accent4"/>
            </a:solidFill>
            <a:prstDash val="solid"/>
          </a:ln>
        </p:spPr>
      </p:sp>
      <p:sp>
        <p:nvSpPr>
          <p:cNvPr id="27" name="numtxt_82"/>
          <p:cNvSpPr txBox="1"/>
          <p:nvPr/>
        </p:nvSpPr>
        <p:spPr>
          <a:xfrm>
            <a:off x="6217920" y="351129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8" name="text_83"/>
          <p:cNvSpPr txBox="1"/>
          <p:nvPr/>
        </p:nvSpPr>
        <p:spPr>
          <a:xfrm>
            <a:off x="6858000" y="3511296"/>
            <a:ext cx="4754880" cy="457200"/>
          </a:xfrm>
          <a:prstGeom prst="rect">
            <a:avLst/>
          </a:prstGeom>
          <a:noFill/>
          <a:ln/>
        </p:spPr>
        <p:txBody>
          <a:bodyPr wrap="square" lIns="635" tIns="635" rIns="635" bIns="635" rtlCol="0" anchor="ctr"/>
          <a:lstStyle/>
          <a:p>
            <a:pPr indent="0" marL="0">
              <a:buNone/>
            </a:pPr>
            <a:r>
              <a:rPr lang="en-US" sz="1600" dirty="0">
                <a:solidFill>
                  <a:schemeClr val="tx1"/>
                </a:solidFill>
              </a:rPr>
              <a:t>Topologik invariantlar, spin-orbita</a:t>
            </a:r>
            <a:endParaRPr lang="en-US" sz="1600" dirty="0"/>
          </a:p>
        </p:txBody>
      </p:sp>
      <p:sp>
        <p:nvSpPr>
          <p:cNvPr id="29" name="num_84"/>
          <p:cNvSpPr/>
          <p:nvPr/>
        </p:nvSpPr>
        <p:spPr>
          <a:xfrm>
            <a:off x="6217920" y="4261104"/>
            <a:ext cx="457200" cy="457200"/>
          </a:xfrm>
          <a:prstGeom prst="ellipse">
            <a:avLst/>
          </a:prstGeom>
          <a:solidFill>
            <a:schemeClr val="accent4"/>
          </a:solidFill>
          <a:ln w="12700">
            <a:solidFill>
              <a:schemeClr val="accent4"/>
            </a:solidFill>
            <a:prstDash val="solid"/>
          </a:ln>
        </p:spPr>
      </p:sp>
      <p:sp>
        <p:nvSpPr>
          <p:cNvPr id="30" name="numtxt_85"/>
          <p:cNvSpPr txBox="1"/>
          <p:nvPr/>
        </p:nvSpPr>
        <p:spPr>
          <a:xfrm>
            <a:off x="6217920" y="42611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1" name="text_86"/>
          <p:cNvSpPr txBox="1"/>
          <p:nvPr/>
        </p:nvSpPr>
        <p:spPr>
          <a:xfrm>
            <a:off x="6858000" y="4261104"/>
            <a:ext cx="4754880" cy="457200"/>
          </a:xfrm>
          <a:prstGeom prst="rect">
            <a:avLst/>
          </a:prstGeom>
          <a:noFill/>
          <a:ln/>
        </p:spPr>
        <p:txBody>
          <a:bodyPr wrap="square" lIns="635" tIns="635" rIns="635" bIns="635" rtlCol="0" anchor="ctr"/>
          <a:lstStyle/>
          <a:p>
            <a:pPr indent="0" marL="0">
              <a:buNone/>
            </a:pPr>
            <a:r>
              <a:rPr lang="en-US" sz="1600" dirty="0">
                <a:solidFill>
                  <a:schemeClr val="tx1"/>
                </a:solidFill>
              </a:rPr>
              <a:t>Atomlar migratsiyasi (atom darajasida)</a:t>
            </a:r>
            <a:endParaRPr lang="en-US" sz="1600" dirty="0"/>
          </a:p>
        </p:txBody>
      </p:sp>
      <p:sp>
        <p:nvSpPr>
          <p:cNvPr id="32" name="num_87"/>
          <p:cNvSpPr/>
          <p:nvPr/>
        </p:nvSpPr>
        <p:spPr>
          <a:xfrm>
            <a:off x="6217920" y="5010912"/>
            <a:ext cx="457200" cy="457200"/>
          </a:xfrm>
          <a:prstGeom prst="ellipse">
            <a:avLst/>
          </a:prstGeom>
          <a:solidFill>
            <a:schemeClr val="accent4"/>
          </a:solidFill>
          <a:ln w="12700">
            <a:solidFill>
              <a:schemeClr val="accent4"/>
            </a:solidFill>
            <a:prstDash val="solid"/>
          </a:ln>
        </p:spPr>
      </p:sp>
      <p:sp>
        <p:nvSpPr>
          <p:cNvPr id="33" name="numtxt_88"/>
          <p:cNvSpPr txBox="1"/>
          <p:nvPr/>
        </p:nvSpPr>
        <p:spPr>
          <a:xfrm>
            <a:off x="6217920" y="50109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4" name="text_89"/>
          <p:cNvSpPr txBox="1"/>
          <p:nvPr/>
        </p:nvSpPr>
        <p:spPr>
          <a:xfrm>
            <a:off x="6858000" y="5010912"/>
            <a:ext cx="4754880" cy="457200"/>
          </a:xfrm>
          <a:prstGeom prst="rect">
            <a:avLst/>
          </a:prstGeom>
          <a:noFill/>
          <a:ln/>
        </p:spPr>
        <p:txBody>
          <a:bodyPr wrap="square" lIns="635" tIns="635" rIns="635" bIns="635" rtlCol="0" anchor="ctr"/>
          <a:lstStyle/>
          <a:p>
            <a:pPr indent="0" marL="0">
              <a:buNone/>
            </a:pPr>
            <a:r>
              <a:rPr lang="en-US" sz="1600" dirty="0">
                <a:solidFill>
                  <a:schemeClr val="tx1"/>
                </a:solidFill>
              </a:rPr>
              <a:t>Bular uchun DFT kerak: Quantum ESPRESSO, VASP, Wannier90</a:t>
            </a:r>
            <a:endParaRPr lang="en-US" sz="16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10058400" cy="548640"/>
          </a:xfrm>
          <a:prstGeom prst="rect">
            <a:avLst/>
          </a:prstGeom>
          <a:noFill/>
          <a:ln/>
        </p:spPr>
        <p:txBody>
          <a:bodyPr wrap="square" rtlCol="0"/>
          <a:lstStyle/>
          <a:p>
            <a:pPr indent="0" marL="0">
              <a:buNone/>
            </a:pPr>
            <a:r>
              <a:rPr lang="en-US" sz="1800" b="1" dirty="0">
                <a:solidFill>
                  <a:schemeClr val="accent1"/>
                </a:solidFill>
              </a:rPr>
              <a:t>2-bo'lim</a:t>
            </a:r>
            <a:endParaRPr lang="en-US" sz="1800" dirty="0"/>
          </a:p>
        </p:txBody>
      </p:sp>
      <p:sp>
        <p:nvSpPr>
          <p:cNvPr id="3" name="Text 0"/>
          <p:cNvSpPr/>
          <p:nvPr>
            <p:ph idx="101" type="title" hasCustomPrompt="1"/>
          </p:nvPr>
        </p:nvSpPr>
        <p:spPr>
          <a:xfrm>
            <a:off x="731520" y="2651760"/>
            <a:ext cx="106984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Model qanday qurildi</a:t>
            </a:r>
            <a:endParaRPr lang="en-US" sz="4000" dirty="0"/>
          </a:p>
        </p:txBody>
      </p:sp>
      <p:sp>
        <p:nvSpPr>
          <p:cNvPr id="4" name="Text 0"/>
          <p:cNvSpPr/>
          <p:nvPr>
            <p:ph idx="102" type="body" hasCustomPrompt="1"/>
          </p:nvPr>
        </p:nvSpPr>
        <p:spPr>
          <a:xfrm>
            <a:off x="731520" y="4023360"/>
            <a:ext cx="10058400" cy="1097280"/>
          </a:xfrm>
          <a:prstGeom prst="rect">
            <a:avLst/>
          </a:prstGeom>
          <a:noFill/>
          <a:ln/>
        </p:spPr>
        <p:txBody>
          <a:bodyPr wrap="square" rtlCol="0" anchor="t"/>
          <a:lstStyle/>
          <a:p>
            <a:pPr indent="0" marL="0">
              <a:buNone/>
            </a:pPr>
            <a:r>
              <a:rPr lang="en-US" sz="1800" dirty="0">
                <a:solidFill>
                  <a:schemeClr val="bg2"/>
                </a:solidFill>
              </a:rPr>
              <a:t>Fenomenologik yondashuv, uchta model, geometriya va COMSOL modullari</a:t>
            </a:r>
            <a:endParaRPr lang="en-US" sz="18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“Fenomenologik model” nima degani</a:t>
            </a:r>
            <a:endParaRPr lang="en-US" sz="3000" dirty="0"/>
          </a:p>
        </p:txBody>
      </p:sp>
      <p:sp>
        <p:nvSpPr>
          <p:cNvPr id="3" name="box_90"/>
          <p:cNvSpPr/>
          <p:nvPr/>
        </p:nvSpPr>
        <p:spPr>
          <a:xfrm>
            <a:off x="548640" y="1554480"/>
            <a:ext cx="2560320" cy="2468880"/>
          </a:xfrm>
          <a:prstGeom prst="roundRect">
            <a:avLst>
              <a:gd name="adj" fmla="val 2963"/>
            </a:avLst>
          </a:prstGeom>
          <a:solidFill>
            <a:schemeClr val="bg2"/>
          </a:solidFill>
          <a:ln w="9525">
            <a:solidFill>
              <a:schemeClr val="bg2"/>
            </a:solidFill>
            <a:prstDash val="solid"/>
          </a:ln>
        </p:spPr>
      </p:sp>
      <p:sp>
        <p:nvSpPr>
          <p:cNvPr id="4" name="num_91"/>
          <p:cNvSpPr/>
          <p:nvPr/>
        </p:nvSpPr>
        <p:spPr>
          <a:xfrm>
            <a:off x="777240" y="1783080"/>
            <a:ext cx="457200" cy="457200"/>
          </a:xfrm>
          <a:prstGeom prst="ellipse">
            <a:avLst/>
          </a:prstGeom>
          <a:solidFill>
            <a:schemeClr val="accent1"/>
          </a:solidFill>
          <a:ln w="12700">
            <a:solidFill>
              <a:schemeClr val="accent1"/>
            </a:solidFill>
            <a:prstDash val="solid"/>
          </a:ln>
        </p:spPr>
      </p:sp>
      <p:sp>
        <p:nvSpPr>
          <p:cNvPr id="5" name="numtxt_92"/>
          <p:cNvSpPr txBox="1"/>
          <p:nvPr/>
        </p:nvSpPr>
        <p:spPr>
          <a:xfrm>
            <a:off x="77724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_93"/>
          <p:cNvSpPr txBox="1"/>
          <p:nvPr/>
        </p:nvSpPr>
        <p:spPr>
          <a:xfrm>
            <a:off x="777240" y="2377440"/>
            <a:ext cx="2194560" cy="411480"/>
          </a:xfrm>
          <a:prstGeom prst="rect">
            <a:avLst/>
          </a:prstGeom>
          <a:noFill/>
          <a:ln/>
        </p:spPr>
        <p:txBody>
          <a:bodyPr wrap="square" lIns="635" tIns="635" rIns="635" bIns="635" rtlCol="0" anchor="t"/>
          <a:lstStyle/>
          <a:p>
            <a:pPr indent="0" marL="0">
              <a:buNone/>
            </a:pPr>
            <a:r>
              <a:rPr lang="en-US" sz="1800" b="1" dirty="0">
                <a:solidFill>
                  <a:schemeClr val="tx1"/>
                </a:solidFill>
              </a:rPr>
              <a:t>Kuzatish</a:t>
            </a:r>
            <a:endParaRPr lang="en-US" sz="1800" dirty="0"/>
          </a:p>
        </p:txBody>
      </p:sp>
      <p:sp>
        <p:nvSpPr>
          <p:cNvPr id="7" name="text_94"/>
          <p:cNvSpPr txBox="1"/>
          <p:nvPr/>
        </p:nvSpPr>
        <p:spPr>
          <a:xfrm>
            <a:off x="777240" y="2834640"/>
            <a:ext cx="2194560" cy="1143000"/>
          </a:xfrm>
          <a:prstGeom prst="rect">
            <a:avLst/>
          </a:prstGeom>
          <a:noFill/>
          <a:ln/>
        </p:spPr>
        <p:txBody>
          <a:bodyPr wrap="square" lIns="635" tIns="635" rIns="635" bIns="635" rtlCol="0" anchor="t"/>
          <a:lstStyle/>
          <a:p>
            <a:pPr indent="0" marL="0">
              <a:buNone/>
            </a:pPr>
            <a:r>
              <a:rPr lang="en-US" sz="1400" dirty="0">
                <a:solidFill>
                  <a:schemeClr val="accent6"/>
                </a:solidFill>
              </a:rPr>
              <a:t>Tajribada nima ko'rilgan: qachon ON bo'ladi, qachon OFF bo'ladi, tok qancha</a:t>
            </a:r>
            <a:endParaRPr lang="en-US" sz="1400" dirty="0"/>
          </a:p>
        </p:txBody>
      </p:sp>
      <p:sp>
        <p:nvSpPr>
          <p:cNvPr id="8" name="arrow_95"/>
          <p:cNvSpPr/>
          <p:nvPr/>
        </p:nvSpPr>
        <p:spPr>
          <a:xfrm>
            <a:off x="3127248" y="2788920"/>
            <a:ext cx="237744" cy="0"/>
          </a:xfrm>
          <a:prstGeom prst="line">
            <a:avLst/>
          </a:prstGeom>
          <a:noFill/>
          <a:ln w="25400">
            <a:solidFill>
              <a:schemeClr val="accent6"/>
            </a:solidFill>
            <a:prstDash val="solid"/>
            <a:tailEnd type="triangle"/>
          </a:ln>
        </p:spPr>
      </p:sp>
      <p:sp>
        <p:nvSpPr>
          <p:cNvPr id="9" name="box_96"/>
          <p:cNvSpPr/>
          <p:nvPr/>
        </p:nvSpPr>
        <p:spPr>
          <a:xfrm>
            <a:off x="3383280" y="1554480"/>
            <a:ext cx="2560320" cy="2468880"/>
          </a:xfrm>
          <a:prstGeom prst="roundRect">
            <a:avLst>
              <a:gd name="adj" fmla="val 2963"/>
            </a:avLst>
          </a:prstGeom>
          <a:solidFill>
            <a:schemeClr val="bg2"/>
          </a:solidFill>
          <a:ln w="9525">
            <a:solidFill>
              <a:schemeClr val="bg2"/>
            </a:solidFill>
            <a:prstDash val="solid"/>
          </a:ln>
        </p:spPr>
      </p:sp>
      <p:sp>
        <p:nvSpPr>
          <p:cNvPr id="10" name="num_97"/>
          <p:cNvSpPr/>
          <p:nvPr/>
        </p:nvSpPr>
        <p:spPr>
          <a:xfrm>
            <a:off x="3611880" y="1783080"/>
            <a:ext cx="457200" cy="457200"/>
          </a:xfrm>
          <a:prstGeom prst="ellipse">
            <a:avLst/>
          </a:prstGeom>
          <a:solidFill>
            <a:schemeClr val="accent1"/>
          </a:solidFill>
          <a:ln w="12700">
            <a:solidFill>
              <a:schemeClr val="accent1"/>
            </a:solidFill>
            <a:prstDash val="solid"/>
          </a:ln>
        </p:spPr>
      </p:sp>
      <p:sp>
        <p:nvSpPr>
          <p:cNvPr id="11" name="numtxt_98"/>
          <p:cNvSpPr txBox="1"/>
          <p:nvPr/>
        </p:nvSpPr>
        <p:spPr>
          <a:xfrm>
            <a:off x="361188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_99"/>
          <p:cNvSpPr txBox="1"/>
          <p:nvPr/>
        </p:nvSpPr>
        <p:spPr>
          <a:xfrm>
            <a:off x="3611880" y="2377440"/>
            <a:ext cx="2194560" cy="411480"/>
          </a:xfrm>
          <a:prstGeom prst="rect">
            <a:avLst/>
          </a:prstGeom>
          <a:noFill/>
          <a:ln/>
        </p:spPr>
        <p:txBody>
          <a:bodyPr wrap="square" lIns="635" tIns="635" rIns="635" bIns="635" rtlCol="0" anchor="t"/>
          <a:lstStyle/>
          <a:p>
            <a:pPr indent="0" marL="0">
              <a:buNone/>
            </a:pPr>
            <a:r>
              <a:rPr lang="en-US" sz="1800" b="1" dirty="0">
                <a:solidFill>
                  <a:schemeClr val="tx1"/>
                </a:solidFill>
              </a:rPr>
              <a:t>Tenglama</a:t>
            </a:r>
            <a:endParaRPr lang="en-US" sz="1800" dirty="0"/>
          </a:p>
        </p:txBody>
      </p:sp>
      <p:sp>
        <p:nvSpPr>
          <p:cNvPr id="13" name="text_100"/>
          <p:cNvSpPr txBox="1"/>
          <p:nvPr/>
        </p:nvSpPr>
        <p:spPr>
          <a:xfrm>
            <a:off x="3611880" y="2834640"/>
            <a:ext cx="2194560" cy="1143000"/>
          </a:xfrm>
          <a:prstGeom prst="rect">
            <a:avLst/>
          </a:prstGeom>
          <a:noFill/>
          <a:ln/>
        </p:spPr>
        <p:txBody>
          <a:bodyPr wrap="square" lIns="635" tIns="635" rIns="635" bIns="635" rtlCol="0" anchor="t"/>
          <a:lstStyle/>
          <a:p>
            <a:pPr indent="0" marL="0">
              <a:buNone/>
            </a:pPr>
            <a:r>
              <a:rPr lang="en-US" sz="1400" dirty="0">
                <a:solidFill>
                  <a:schemeClr val="accent6"/>
                </a:solidFill>
              </a:rPr>
              <a:t>Bu xatti-harakatni beradigan oddiy, fizik ma'noli tenglama tanlanadi</a:t>
            </a:r>
            <a:endParaRPr lang="en-US" sz="1400" dirty="0"/>
          </a:p>
        </p:txBody>
      </p:sp>
      <p:sp>
        <p:nvSpPr>
          <p:cNvPr id="14" name="arrow_101"/>
          <p:cNvSpPr/>
          <p:nvPr/>
        </p:nvSpPr>
        <p:spPr>
          <a:xfrm>
            <a:off x="5961888" y="2788920"/>
            <a:ext cx="237744" cy="0"/>
          </a:xfrm>
          <a:prstGeom prst="line">
            <a:avLst/>
          </a:prstGeom>
          <a:noFill/>
          <a:ln w="25400">
            <a:solidFill>
              <a:schemeClr val="accent6"/>
            </a:solidFill>
            <a:prstDash val="solid"/>
            <a:tailEnd type="triangle"/>
          </a:ln>
        </p:spPr>
      </p:sp>
      <p:sp>
        <p:nvSpPr>
          <p:cNvPr id="15" name="box_102"/>
          <p:cNvSpPr/>
          <p:nvPr/>
        </p:nvSpPr>
        <p:spPr>
          <a:xfrm>
            <a:off x="6217920" y="1554480"/>
            <a:ext cx="2560320" cy="2468880"/>
          </a:xfrm>
          <a:prstGeom prst="roundRect">
            <a:avLst>
              <a:gd name="adj" fmla="val 2963"/>
            </a:avLst>
          </a:prstGeom>
          <a:solidFill>
            <a:schemeClr val="bg2"/>
          </a:solidFill>
          <a:ln w="9525">
            <a:solidFill>
              <a:schemeClr val="bg2"/>
            </a:solidFill>
            <a:prstDash val="solid"/>
          </a:ln>
        </p:spPr>
      </p:sp>
      <p:sp>
        <p:nvSpPr>
          <p:cNvPr id="16" name="num_103"/>
          <p:cNvSpPr/>
          <p:nvPr/>
        </p:nvSpPr>
        <p:spPr>
          <a:xfrm>
            <a:off x="6446520" y="1783080"/>
            <a:ext cx="457200" cy="457200"/>
          </a:xfrm>
          <a:prstGeom prst="ellipse">
            <a:avLst/>
          </a:prstGeom>
          <a:solidFill>
            <a:schemeClr val="accent1"/>
          </a:solidFill>
          <a:ln w="12700">
            <a:solidFill>
              <a:schemeClr val="accent1"/>
            </a:solidFill>
            <a:prstDash val="solid"/>
          </a:ln>
        </p:spPr>
      </p:sp>
      <p:sp>
        <p:nvSpPr>
          <p:cNvPr id="17" name="numtxt_104"/>
          <p:cNvSpPr txBox="1"/>
          <p:nvPr/>
        </p:nvSpPr>
        <p:spPr>
          <a:xfrm>
            <a:off x="644652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_105"/>
          <p:cNvSpPr txBox="1"/>
          <p:nvPr/>
        </p:nvSpPr>
        <p:spPr>
          <a:xfrm>
            <a:off x="6446520" y="2377440"/>
            <a:ext cx="2194560" cy="411480"/>
          </a:xfrm>
          <a:prstGeom prst="rect">
            <a:avLst/>
          </a:prstGeom>
          <a:noFill/>
          <a:ln/>
        </p:spPr>
        <p:txBody>
          <a:bodyPr wrap="square" lIns="635" tIns="635" rIns="635" bIns="635" rtlCol="0" anchor="t"/>
          <a:lstStyle/>
          <a:p>
            <a:pPr indent="0" marL="0">
              <a:buNone/>
            </a:pPr>
            <a:r>
              <a:rPr lang="en-US" sz="1800" b="1" dirty="0">
                <a:solidFill>
                  <a:schemeClr val="tx1"/>
                </a:solidFill>
              </a:rPr>
              <a:t>Moslash (fitting)</a:t>
            </a:r>
            <a:endParaRPr lang="en-US" sz="1800" dirty="0"/>
          </a:p>
        </p:txBody>
      </p:sp>
      <p:sp>
        <p:nvSpPr>
          <p:cNvPr id="19" name="text_106"/>
          <p:cNvSpPr txBox="1"/>
          <p:nvPr/>
        </p:nvSpPr>
        <p:spPr>
          <a:xfrm>
            <a:off x="6446520" y="2834640"/>
            <a:ext cx="2194560" cy="1143000"/>
          </a:xfrm>
          <a:prstGeom prst="rect">
            <a:avLst/>
          </a:prstGeom>
          <a:noFill/>
          <a:ln/>
        </p:spPr>
        <p:txBody>
          <a:bodyPr wrap="square" lIns="635" tIns="635" rIns="635" bIns="635" rtlCol="0" anchor="t"/>
          <a:lstStyle/>
          <a:p>
            <a:pPr indent="0" marL="0">
              <a:buNone/>
            </a:pPr>
            <a:r>
              <a:rPr lang="en-US" sz="1400" dirty="0">
                <a:solidFill>
                  <a:schemeClr val="accent6"/>
                </a:solidFill>
              </a:rPr>
              <a:t>Parametrlar model egri chizig'i tajribaga yaqinlashguncha o'zgartiriladi</a:t>
            </a:r>
            <a:endParaRPr lang="en-US" sz="1400" dirty="0"/>
          </a:p>
        </p:txBody>
      </p:sp>
      <p:sp>
        <p:nvSpPr>
          <p:cNvPr id="20" name="arrow_107"/>
          <p:cNvSpPr/>
          <p:nvPr/>
        </p:nvSpPr>
        <p:spPr>
          <a:xfrm>
            <a:off x="8796528" y="2788920"/>
            <a:ext cx="237744" cy="0"/>
          </a:xfrm>
          <a:prstGeom prst="line">
            <a:avLst/>
          </a:prstGeom>
          <a:noFill/>
          <a:ln w="25400">
            <a:solidFill>
              <a:schemeClr val="accent6"/>
            </a:solidFill>
            <a:prstDash val="solid"/>
            <a:tailEnd type="triangle"/>
          </a:ln>
        </p:spPr>
      </p:sp>
      <p:sp>
        <p:nvSpPr>
          <p:cNvPr id="21" name="box_108"/>
          <p:cNvSpPr/>
          <p:nvPr/>
        </p:nvSpPr>
        <p:spPr>
          <a:xfrm>
            <a:off x="9052560" y="1554480"/>
            <a:ext cx="2560320" cy="2468880"/>
          </a:xfrm>
          <a:prstGeom prst="roundRect">
            <a:avLst>
              <a:gd name="adj" fmla="val 2963"/>
            </a:avLst>
          </a:prstGeom>
          <a:solidFill>
            <a:schemeClr val="bg2"/>
          </a:solidFill>
          <a:ln w="9525">
            <a:solidFill>
              <a:schemeClr val="bg2"/>
            </a:solidFill>
            <a:prstDash val="solid"/>
          </a:ln>
        </p:spPr>
      </p:sp>
      <p:sp>
        <p:nvSpPr>
          <p:cNvPr id="22" name="num_109"/>
          <p:cNvSpPr/>
          <p:nvPr/>
        </p:nvSpPr>
        <p:spPr>
          <a:xfrm>
            <a:off x="9281160" y="1783080"/>
            <a:ext cx="457200" cy="457200"/>
          </a:xfrm>
          <a:prstGeom prst="ellipse">
            <a:avLst/>
          </a:prstGeom>
          <a:solidFill>
            <a:schemeClr val="accent1"/>
          </a:solidFill>
          <a:ln w="12700">
            <a:solidFill>
              <a:schemeClr val="accent1"/>
            </a:solidFill>
            <a:prstDash val="solid"/>
          </a:ln>
        </p:spPr>
      </p:sp>
      <p:sp>
        <p:nvSpPr>
          <p:cNvPr id="23" name="numtxt_110"/>
          <p:cNvSpPr txBox="1"/>
          <p:nvPr/>
        </p:nvSpPr>
        <p:spPr>
          <a:xfrm>
            <a:off x="928116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_111"/>
          <p:cNvSpPr txBox="1"/>
          <p:nvPr/>
        </p:nvSpPr>
        <p:spPr>
          <a:xfrm>
            <a:off x="9281160" y="2377440"/>
            <a:ext cx="2194560" cy="411480"/>
          </a:xfrm>
          <a:prstGeom prst="rect">
            <a:avLst/>
          </a:prstGeom>
          <a:noFill/>
          <a:ln/>
        </p:spPr>
        <p:txBody>
          <a:bodyPr wrap="square" lIns="635" tIns="635" rIns="635" bIns="635" rtlCol="0" anchor="t"/>
          <a:lstStyle/>
          <a:p>
            <a:pPr indent="0" marL="0">
              <a:buNone/>
            </a:pPr>
            <a:r>
              <a:rPr lang="en-US" sz="1800" b="1" dirty="0">
                <a:solidFill>
                  <a:schemeClr val="tx1"/>
                </a:solidFill>
              </a:rPr>
              <a:t>Tekshirish</a:t>
            </a:r>
            <a:endParaRPr lang="en-US" sz="1800" dirty="0"/>
          </a:p>
        </p:txBody>
      </p:sp>
      <p:sp>
        <p:nvSpPr>
          <p:cNvPr id="25" name="text_112"/>
          <p:cNvSpPr txBox="1"/>
          <p:nvPr/>
        </p:nvSpPr>
        <p:spPr>
          <a:xfrm>
            <a:off x="9281160" y="2834640"/>
            <a:ext cx="2194560" cy="1143000"/>
          </a:xfrm>
          <a:prstGeom prst="rect">
            <a:avLst/>
          </a:prstGeom>
          <a:noFill/>
          <a:ln/>
        </p:spPr>
        <p:txBody>
          <a:bodyPr wrap="square" lIns="635" tIns="635" rIns="635" bIns="635" rtlCol="0" anchor="t"/>
          <a:lstStyle/>
          <a:p>
            <a:pPr indent="0" marL="0">
              <a:buNone/>
            </a:pPr>
            <a:r>
              <a:rPr lang="en-US" sz="1400" dirty="0">
                <a:solidFill>
                  <a:schemeClr val="accent6"/>
                </a:solidFill>
              </a:rPr>
              <a:t>Natija maqola raqamlari bilan solishtiriladi, farqlar yoziladi</a:t>
            </a:r>
            <a:endParaRPr lang="en-US" sz="1400" dirty="0"/>
          </a:p>
        </p:txBody>
      </p:sp>
      <p:sp>
        <p:nvSpPr>
          <p:cNvPr id="26" name="box_113"/>
          <p:cNvSpPr/>
          <p:nvPr/>
        </p:nvSpPr>
        <p:spPr>
          <a:xfrm>
            <a:off x="548640" y="4389120"/>
            <a:ext cx="11064240" cy="1645920"/>
          </a:xfrm>
          <a:prstGeom prst="roundRect">
            <a:avLst>
              <a:gd name="adj" fmla="val 4444"/>
            </a:avLst>
          </a:prstGeom>
          <a:solidFill>
            <a:schemeClr val="bg1"/>
          </a:solidFill>
          <a:ln w="15875">
            <a:solidFill>
              <a:srgbClr val="0F766E"/>
            </a:solidFill>
            <a:prstDash val="solid"/>
          </a:ln>
        </p:spPr>
      </p:sp>
      <p:sp>
        <p:nvSpPr>
          <p:cNvPr id="27" name="text_114"/>
          <p:cNvSpPr txBox="1"/>
          <p:nvPr/>
        </p:nvSpPr>
        <p:spPr>
          <a:xfrm>
            <a:off x="822960" y="4526280"/>
            <a:ext cx="10515600" cy="1371600"/>
          </a:xfrm>
          <a:prstGeom prst="rect">
            <a:avLst/>
          </a:prstGeom>
          <a:noFill/>
          <a:ln/>
        </p:spPr>
        <p:txBody>
          <a:bodyPr wrap="square" lIns="635" tIns="635" rIns="635" bIns="635" rtlCol="0" anchor="ctr"/>
          <a:lstStyle/>
          <a:p>
            <a:pPr indent="0" marL="0">
              <a:buNone/>
            </a:pPr>
            <a:r>
              <a:rPr lang="en-US" sz="1600" b="1" dirty="0">
                <a:solidFill>
                  <a:schemeClr val="accent3"/>
                </a:solidFill>
              </a:rPr>
              <a:t>Oddiy misol: </a:t>
            </a:r>
            <a:pPr indent="0" marL="0">
              <a:buNone/>
            </a:pPr>
            <a:r>
              <a:rPr lang="en-US" sz="1600" dirty="0">
                <a:solidFill>
                  <a:schemeClr val="tx1"/>
                </a:solidFill>
              </a:rPr>
              <a:t>termostat qanday ishlashini atomlardan boshlab hisoblamaymiz. “Harorat 22° dan oshsa o'chadi, 20° dan tushsa yonadi” degan qoida bilan yetarlicha aniq tasvirlaymiz. Bizning model ham shunday: filament qanday paydo bo'lishini atomlar darajasida emas, “maydon kuchli bo'lsa ON tomonga o'sadi” degan tenglama bilan tasvirlaydi.</a:t>
            </a:r>
            <a:endParaRPr lang="en-US" sz="16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Uchta model, uchta savol</a:t>
            </a:r>
            <a:endParaRPr lang="en-US" sz="3000" dirty="0"/>
          </a:p>
        </p:txBody>
      </p:sp>
      <p:sp>
        <p:nvSpPr>
          <p:cNvPr id="3" name="box_115"/>
          <p:cNvSpPr/>
          <p:nvPr/>
        </p:nvSpPr>
        <p:spPr>
          <a:xfrm>
            <a:off x="548640" y="1417320"/>
            <a:ext cx="3474720" cy="4663440"/>
          </a:xfrm>
          <a:prstGeom prst="roundRect">
            <a:avLst>
              <a:gd name="adj" fmla="val 2105"/>
            </a:avLst>
          </a:prstGeom>
          <a:solidFill>
            <a:schemeClr val="bg2"/>
          </a:solidFill>
          <a:ln w="9525">
            <a:solidFill>
              <a:schemeClr val="bg2"/>
            </a:solidFill>
            <a:prstDash val="solid"/>
          </a:ln>
        </p:spPr>
      </p:sp>
      <p:sp>
        <p:nvSpPr>
          <p:cNvPr id="4" name="num_116"/>
          <p:cNvSpPr/>
          <p:nvPr/>
        </p:nvSpPr>
        <p:spPr>
          <a:xfrm>
            <a:off x="822960" y="1645920"/>
            <a:ext cx="502920" cy="502920"/>
          </a:xfrm>
          <a:prstGeom prst="ellipse">
            <a:avLst/>
          </a:prstGeom>
          <a:solidFill>
            <a:schemeClr val="accent3"/>
          </a:solidFill>
          <a:ln w="12700">
            <a:solidFill>
              <a:schemeClr val="accent3"/>
            </a:solidFill>
            <a:prstDash val="solid"/>
          </a:ln>
        </p:spPr>
      </p:sp>
      <p:sp>
        <p:nvSpPr>
          <p:cNvPr id="5" name="numtxt_117"/>
          <p:cNvSpPr txBox="1"/>
          <p:nvPr/>
        </p:nvSpPr>
        <p:spPr>
          <a:xfrm>
            <a:off x="82296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_118"/>
          <p:cNvSpPr txBox="1"/>
          <p:nvPr/>
        </p:nvSpPr>
        <p:spPr>
          <a:xfrm>
            <a:off x="1463040" y="1645920"/>
            <a:ext cx="2468880" cy="502920"/>
          </a:xfrm>
          <a:prstGeom prst="rect">
            <a:avLst/>
          </a:prstGeom>
          <a:noFill/>
          <a:ln/>
        </p:spPr>
        <p:txBody>
          <a:bodyPr wrap="square" lIns="635" tIns="635" rIns="635" bIns="635" rtlCol="0" anchor="ctr"/>
          <a:lstStyle/>
          <a:p>
            <a:pPr indent="0" marL="0">
              <a:buNone/>
            </a:pPr>
            <a:r>
              <a:rPr lang="en-US" sz="1700" b="1" dirty="0">
                <a:solidFill>
                  <a:schemeClr val="tx1"/>
                </a:solidFill>
              </a:rPr>
              <a:t>Model1_Vertical</a:t>
            </a:r>
            <a:endParaRPr lang="en-US" sz="1700" dirty="0"/>
          </a:p>
        </p:txBody>
      </p:sp>
      <p:sp>
        <p:nvSpPr>
          <p:cNvPr id="7" name="text_119"/>
          <p:cNvSpPr txBox="1"/>
          <p:nvPr/>
        </p:nvSpPr>
        <p:spPr>
          <a:xfrm>
            <a:off x="822960" y="2331720"/>
            <a:ext cx="3017520" cy="731520"/>
          </a:xfrm>
          <a:prstGeom prst="rect">
            <a:avLst/>
          </a:prstGeom>
          <a:noFill/>
          <a:ln/>
        </p:spPr>
        <p:txBody>
          <a:bodyPr wrap="square" lIns="635" tIns="635" rIns="635" bIns="635" rtlCol="0" anchor="t"/>
          <a:lstStyle/>
          <a:p>
            <a:pPr indent="0" marL="0">
              <a:buNone/>
            </a:pPr>
            <a:r>
              <a:rPr lang="en-US" sz="1700" b="1" i="1" dirty="0">
                <a:solidFill>
                  <a:schemeClr val="accent3"/>
                </a:solidFill>
              </a:rPr>
              <a:t>Element qizib ketadimi?</a:t>
            </a:r>
            <a:endParaRPr lang="en-US" sz="1700" dirty="0"/>
          </a:p>
        </p:txBody>
      </p:sp>
      <p:sp>
        <p:nvSpPr>
          <p:cNvPr id="8" name="text_120"/>
          <p:cNvSpPr txBox="1"/>
          <p:nvPr/>
        </p:nvSpPr>
        <p:spPr>
          <a:xfrm>
            <a:off x="822960" y="3108960"/>
            <a:ext cx="3017520" cy="1463040"/>
          </a:xfrm>
          <a:prstGeom prst="rect">
            <a:avLst/>
          </a:prstGeom>
          <a:noFill/>
          <a:ln/>
        </p:spPr>
        <p:txBody>
          <a:bodyPr wrap="square" lIns="635" tIns="635" rIns="635" bIns="635" rtlCol="0" anchor="t"/>
          <a:lstStyle/>
          <a:p>
            <a:pPr indent="0" marL="0">
              <a:buNone/>
            </a:pPr>
            <a:r>
              <a:rPr lang="en-US" sz="1500" dirty="0">
                <a:solidFill>
                  <a:schemeClr val="tx1"/>
                </a:solidFill>
              </a:rPr>
              <a:t>Vertikal (o'qqa simmetrik) element. Joule qizishi va harorat ta'siri tekshirildi.</a:t>
            </a:r>
            <a:endParaRPr lang="en-US" sz="1500" dirty="0"/>
          </a:p>
        </p:txBody>
      </p:sp>
      <p:sp>
        <p:nvSpPr>
          <p:cNvPr id="9" name="text_121"/>
          <p:cNvSpPr txBox="1"/>
          <p:nvPr/>
        </p:nvSpPr>
        <p:spPr>
          <a:xfrm>
            <a:off x="822960" y="4617720"/>
            <a:ext cx="3017520" cy="320040"/>
          </a:xfrm>
          <a:prstGeom prst="rect">
            <a:avLst/>
          </a:prstGeom>
          <a:noFill/>
          <a:ln/>
        </p:spPr>
        <p:txBody>
          <a:bodyPr wrap="square" lIns="635" tIns="635" rIns="635" bIns="635" rtlCol="0" anchor="t"/>
          <a:lstStyle/>
          <a:p>
            <a:pPr indent="0" marL="0">
              <a:buNone/>
            </a:pPr>
            <a:r>
              <a:rPr lang="en-US" sz="1200" b="1" dirty="0">
                <a:solidFill>
                  <a:schemeClr val="accent6"/>
                </a:solidFill>
              </a:rPr>
              <a:t>Modullar:</a:t>
            </a:r>
            <a:endParaRPr lang="en-US" sz="1200" dirty="0"/>
          </a:p>
        </p:txBody>
      </p:sp>
      <p:sp>
        <p:nvSpPr>
          <p:cNvPr id="10" name="text_122"/>
          <p:cNvSpPr txBox="1"/>
          <p:nvPr/>
        </p:nvSpPr>
        <p:spPr>
          <a:xfrm>
            <a:off x="822960" y="4937760"/>
            <a:ext cx="3017520" cy="1005840"/>
          </a:xfrm>
          <a:prstGeom prst="rect">
            <a:avLst/>
          </a:prstGeom>
          <a:noFill/>
          <a:ln/>
        </p:spPr>
        <p:txBody>
          <a:bodyPr wrap="square" lIns="635" tIns="635" rIns="635" bIns="635" rtlCol="0" anchor="t"/>
          <a:lstStyle/>
          <a:p>
            <a:pPr indent="0" marL="0">
              <a:buNone/>
            </a:pPr>
            <a:r>
              <a:rPr lang="en-US" sz="1200" dirty="0">
                <a:solidFill>
                  <a:schemeClr val="accent6"/>
                </a:solidFill>
              </a:rPr>
              <a:t>Electric Currents · Heat Transfer · Electromagnetic Heating · Global ODE</a:t>
            </a:r>
            <a:endParaRPr lang="en-US" sz="1200" dirty="0"/>
          </a:p>
        </p:txBody>
      </p:sp>
      <p:sp>
        <p:nvSpPr>
          <p:cNvPr id="11" name="box_123"/>
          <p:cNvSpPr/>
          <p:nvPr/>
        </p:nvSpPr>
        <p:spPr>
          <a:xfrm>
            <a:off x="4297680" y="1417320"/>
            <a:ext cx="3474720" cy="4663440"/>
          </a:xfrm>
          <a:prstGeom prst="roundRect">
            <a:avLst>
              <a:gd name="adj" fmla="val 2105"/>
            </a:avLst>
          </a:prstGeom>
          <a:solidFill>
            <a:schemeClr val="bg2"/>
          </a:solidFill>
          <a:ln w="9525">
            <a:solidFill>
              <a:schemeClr val="bg2"/>
            </a:solidFill>
            <a:prstDash val="solid"/>
          </a:ln>
        </p:spPr>
      </p:sp>
      <p:sp>
        <p:nvSpPr>
          <p:cNvPr id="12" name="num_124"/>
          <p:cNvSpPr/>
          <p:nvPr/>
        </p:nvSpPr>
        <p:spPr>
          <a:xfrm>
            <a:off x="4572000" y="1645920"/>
            <a:ext cx="502920" cy="502920"/>
          </a:xfrm>
          <a:prstGeom prst="ellipse">
            <a:avLst/>
          </a:prstGeom>
          <a:solidFill>
            <a:schemeClr val="accent1"/>
          </a:solidFill>
          <a:ln w="12700">
            <a:solidFill>
              <a:schemeClr val="accent1"/>
            </a:solidFill>
            <a:prstDash val="solid"/>
          </a:ln>
        </p:spPr>
      </p:sp>
      <p:sp>
        <p:nvSpPr>
          <p:cNvPr id="13" name="numtxt_125"/>
          <p:cNvSpPr txBox="1"/>
          <p:nvPr/>
        </p:nvSpPr>
        <p:spPr>
          <a:xfrm>
            <a:off x="457200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_126"/>
          <p:cNvSpPr txBox="1"/>
          <p:nvPr/>
        </p:nvSpPr>
        <p:spPr>
          <a:xfrm>
            <a:off x="5212080" y="1645920"/>
            <a:ext cx="2468880" cy="502920"/>
          </a:xfrm>
          <a:prstGeom prst="rect">
            <a:avLst/>
          </a:prstGeom>
          <a:noFill/>
          <a:ln/>
        </p:spPr>
        <p:txBody>
          <a:bodyPr wrap="square" lIns="635" tIns="635" rIns="635" bIns="635" rtlCol="0" anchor="ctr"/>
          <a:lstStyle/>
          <a:p>
            <a:pPr indent="0" marL="0">
              <a:buNone/>
            </a:pPr>
            <a:r>
              <a:rPr lang="en-US" sz="1700" b="1" dirty="0">
                <a:solidFill>
                  <a:schemeClr val="tx1"/>
                </a:solidFill>
              </a:rPr>
              <a:t>Model2_FET_Fig1</a:t>
            </a:r>
            <a:endParaRPr lang="en-US" sz="1700" dirty="0"/>
          </a:p>
        </p:txBody>
      </p:sp>
      <p:sp>
        <p:nvSpPr>
          <p:cNvPr id="15" name="text_127"/>
          <p:cNvSpPr txBox="1"/>
          <p:nvPr/>
        </p:nvSpPr>
        <p:spPr>
          <a:xfrm>
            <a:off x="4572000" y="2331720"/>
            <a:ext cx="3017520" cy="731520"/>
          </a:xfrm>
          <a:prstGeom prst="rect">
            <a:avLst/>
          </a:prstGeom>
          <a:noFill/>
          <a:ln/>
        </p:spPr>
        <p:txBody>
          <a:bodyPr wrap="square" lIns="635" tIns="635" rIns="635" bIns="635" rtlCol="0" anchor="t"/>
          <a:lstStyle/>
          <a:p>
            <a:pPr indent="0" marL="0">
              <a:buNone/>
            </a:pPr>
            <a:r>
              <a:rPr lang="en-US" sz="1700" b="1" i="1" dirty="0">
                <a:solidFill>
                  <a:schemeClr val="accent3"/>
                </a:solidFill>
              </a:rPr>
              <a:t>Fig.1 ni takrorlay olamizmi?</a:t>
            </a:r>
            <a:endParaRPr lang="en-US" sz="1700" dirty="0"/>
          </a:p>
        </p:txBody>
      </p:sp>
      <p:sp>
        <p:nvSpPr>
          <p:cNvPr id="16" name="text_128"/>
          <p:cNvSpPr txBox="1"/>
          <p:nvPr/>
        </p:nvSpPr>
        <p:spPr>
          <a:xfrm>
            <a:off x="4572000" y="3108960"/>
            <a:ext cx="3017520" cy="1463040"/>
          </a:xfrm>
          <a:prstGeom prst="rect">
            <a:avLst/>
          </a:prstGeom>
          <a:noFill/>
          <a:ln/>
        </p:spPr>
        <p:txBody>
          <a:bodyPr wrap="square" lIns="635" tIns="635" rIns="635" bIns="635" rtlCol="0" anchor="t"/>
          <a:lstStyle/>
          <a:p>
            <a:pPr indent="0" marL="0">
              <a:buNone/>
            </a:pPr>
            <a:r>
              <a:rPr lang="en-US" sz="1500" dirty="0">
                <a:solidFill>
                  <a:schemeClr val="tx1"/>
                </a:solidFill>
              </a:rPr>
              <a:t>Gate'li lateral tranzistor. Fig.1 ning 4 paneli shu modelda olindi. Asosiy model.</a:t>
            </a:r>
            <a:endParaRPr lang="en-US" sz="1500" dirty="0"/>
          </a:p>
        </p:txBody>
      </p:sp>
      <p:sp>
        <p:nvSpPr>
          <p:cNvPr id="17" name="text_129"/>
          <p:cNvSpPr txBox="1"/>
          <p:nvPr/>
        </p:nvSpPr>
        <p:spPr>
          <a:xfrm>
            <a:off x="4572000" y="4617720"/>
            <a:ext cx="3017520" cy="320040"/>
          </a:xfrm>
          <a:prstGeom prst="rect">
            <a:avLst/>
          </a:prstGeom>
          <a:noFill/>
          <a:ln/>
        </p:spPr>
        <p:txBody>
          <a:bodyPr wrap="square" lIns="635" tIns="635" rIns="635" bIns="635" rtlCol="0" anchor="t"/>
          <a:lstStyle/>
          <a:p>
            <a:pPr indent="0" marL="0">
              <a:buNone/>
            </a:pPr>
            <a:r>
              <a:rPr lang="en-US" sz="1200" b="1" dirty="0">
                <a:solidFill>
                  <a:schemeClr val="accent6"/>
                </a:solidFill>
              </a:rPr>
              <a:t>Modullar:</a:t>
            </a:r>
            <a:endParaRPr lang="en-US" sz="1200" dirty="0"/>
          </a:p>
        </p:txBody>
      </p:sp>
      <p:sp>
        <p:nvSpPr>
          <p:cNvPr id="18" name="text_130"/>
          <p:cNvSpPr txBox="1"/>
          <p:nvPr/>
        </p:nvSpPr>
        <p:spPr>
          <a:xfrm>
            <a:off x="4572000" y="4937760"/>
            <a:ext cx="3017520" cy="1005840"/>
          </a:xfrm>
          <a:prstGeom prst="rect">
            <a:avLst/>
          </a:prstGeom>
          <a:noFill/>
          <a:ln/>
        </p:spPr>
        <p:txBody>
          <a:bodyPr wrap="square" lIns="635" tIns="635" rIns="635" bIns="635" rtlCol="0" anchor="t"/>
          <a:lstStyle/>
          <a:p>
            <a:pPr indent="0" marL="0">
              <a:buNone/>
            </a:pPr>
            <a:r>
              <a:rPr lang="en-US" sz="1200" dirty="0">
                <a:solidFill>
                  <a:schemeClr val="accent6"/>
                </a:solidFill>
              </a:rPr>
              <a:t>Electric Currents · Global ODE (x va P) · (Heat Transfer: faqat tekshiruv)</a:t>
            </a:r>
            <a:endParaRPr lang="en-US" sz="1200" dirty="0"/>
          </a:p>
        </p:txBody>
      </p:sp>
      <p:sp>
        <p:nvSpPr>
          <p:cNvPr id="19" name="box_131"/>
          <p:cNvSpPr/>
          <p:nvPr/>
        </p:nvSpPr>
        <p:spPr>
          <a:xfrm>
            <a:off x="8046720" y="1417320"/>
            <a:ext cx="3474720" cy="4663440"/>
          </a:xfrm>
          <a:prstGeom prst="roundRect">
            <a:avLst>
              <a:gd name="adj" fmla="val 2105"/>
            </a:avLst>
          </a:prstGeom>
          <a:solidFill>
            <a:schemeClr val="bg2"/>
          </a:solidFill>
          <a:ln w="9525">
            <a:solidFill>
              <a:schemeClr val="bg2"/>
            </a:solidFill>
            <a:prstDash val="solid"/>
          </a:ln>
        </p:spPr>
      </p:sp>
      <p:sp>
        <p:nvSpPr>
          <p:cNvPr id="20" name="num_132"/>
          <p:cNvSpPr/>
          <p:nvPr/>
        </p:nvSpPr>
        <p:spPr>
          <a:xfrm>
            <a:off x="8321040" y="1645920"/>
            <a:ext cx="502920" cy="502920"/>
          </a:xfrm>
          <a:prstGeom prst="ellipse">
            <a:avLst/>
          </a:prstGeom>
          <a:solidFill>
            <a:schemeClr val="accent3"/>
          </a:solidFill>
          <a:ln w="12700">
            <a:solidFill>
              <a:schemeClr val="accent3"/>
            </a:solidFill>
            <a:prstDash val="solid"/>
          </a:ln>
        </p:spPr>
      </p:sp>
      <p:sp>
        <p:nvSpPr>
          <p:cNvPr id="21" name="numtxt_133"/>
          <p:cNvSpPr txBox="1"/>
          <p:nvPr/>
        </p:nvSpPr>
        <p:spPr>
          <a:xfrm>
            <a:off x="832104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2" name="text_134"/>
          <p:cNvSpPr txBox="1"/>
          <p:nvPr/>
        </p:nvSpPr>
        <p:spPr>
          <a:xfrm>
            <a:off x="8961120" y="1645920"/>
            <a:ext cx="2468880" cy="502920"/>
          </a:xfrm>
          <a:prstGeom prst="rect">
            <a:avLst/>
          </a:prstGeom>
          <a:noFill/>
          <a:ln/>
        </p:spPr>
        <p:txBody>
          <a:bodyPr wrap="square" lIns="635" tIns="635" rIns="635" bIns="635" rtlCol="0" anchor="ctr"/>
          <a:lstStyle/>
          <a:p>
            <a:pPr indent="0" marL="0">
              <a:buNone/>
            </a:pPr>
            <a:r>
              <a:rPr lang="en-US" sz="1700" b="1" dirty="0">
                <a:solidFill>
                  <a:schemeClr val="tx1"/>
                </a:solidFill>
              </a:rPr>
              <a:t>Model3_Pressure</a:t>
            </a:r>
            <a:endParaRPr lang="en-US" sz="1700" dirty="0"/>
          </a:p>
        </p:txBody>
      </p:sp>
      <p:sp>
        <p:nvSpPr>
          <p:cNvPr id="23" name="text_135"/>
          <p:cNvSpPr txBox="1"/>
          <p:nvPr/>
        </p:nvSpPr>
        <p:spPr>
          <a:xfrm>
            <a:off x="8321040" y="2331720"/>
            <a:ext cx="3017520" cy="731520"/>
          </a:xfrm>
          <a:prstGeom prst="rect">
            <a:avLst/>
          </a:prstGeom>
          <a:noFill/>
          <a:ln/>
        </p:spPr>
        <p:txBody>
          <a:bodyPr wrap="square" lIns="635" tIns="635" rIns="635" bIns="635" rtlCol="0" anchor="t"/>
          <a:lstStyle/>
          <a:p>
            <a:pPr indent="0" marL="0">
              <a:buNone/>
            </a:pPr>
            <a:r>
              <a:rPr lang="en-US" sz="1700" b="1" i="1" dirty="0">
                <a:solidFill>
                  <a:schemeClr val="accent3"/>
                </a:solidFill>
              </a:rPr>
              <a:t>Bosim R_ON ni qanday o'zgartiradi?</a:t>
            </a:r>
            <a:endParaRPr lang="en-US" sz="1700" dirty="0"/>
          </a:p>
        </p:txBody>
      </p:sp>
      <p:sp>
        <p:nvSpPr>
          <p:cNvPr id="24" name="text_136"/>
          <p:cNvSpPr txBox="1"/>
          <p:nvPr/>
        </p:nvSpPr>
        <p:spPr>
          <a:xfrm>
            <a:off x="8321040" y="3108960"/>
            <a:ext cx="3017520" cy="1463040"/>
          </a:xfrm>
          <a:prstGeom prst="rect">
            <a:avLst/>
          </a:prstGeom>
          <a:noFill/>
          <a:ln/>
        </p:spPr>
        <p:txBody>
          <a:bodyPr wrap="square" lIns="635" tIns="635" rIns="635" bIns="635" rtlCol="0" anchor="t"/>
          <a:lstStyle/>
          <a:p>
            <a:pPr indent="0" marL="0">
              <a:buNone/>
            </a:pPr>
            <a:r>
              <a:rPr lang="en-US" sz="1500" dirty="0">
                <a:solidFill>
                  <a:schemeClr val="tx1"/>
                </a:solidFill>
              </a:rPr>
              <a:t>Model1 geometriyasi + mexanika. Bosim qatlamni siqadi, R_ON kamayadi.</a:t>
            </a:r>
            <a:endParaRPr lang="en-US" sz="1500" dirty="0"/>
          </a:p>
        </p:txBody>
      </p:sp>
      <p:sp>
        <p:nvSpPr>
          <p:cNvPr id="25" name="text_137"/>
          <p:cNvSpPr txBox="1"/>
          <p:nvPr/>
        </p:nvSpPr>
        <p:spPr>
          <a:xfrm>
            <a:off x="8321040" y="4617720"/>
            <a:ext cx="3017520" cy="320040"/>
          </a:xfrm>
          <a:prstGeom prst="rect">
            <a:avLst/>
          </a:prstGeom>
          <a:noFill/>
          <a:ln/>
        </p:spPr>
        <p:txBody>
          <a:bodyPr wrap="square" lIns="635" tIns="635" rIns="635" bIns="635" rtlCol="0" anchor="t"/>
          <a:lstStyle/>
          <a:p>
            <a:pPr indent="0" marL="0">
              <a:buNone/>
            </a:pPr>
            <a:r>
              <a:rPr lang="en-US" sz="1200" b="1" dirty="0">
                <a:solidFill>
                  <a:schemeClr val="accent6"/>
                </a:solidFill>
              </a:rPr>
              <a:t>Modullar:</a:t>
            </a:r>
            <a:endParaRPr lang="en-US" sz="1200" dirty="0"/>
          </a:p>
        </p:txBody>
      </p:sp>
      <p:sp>
        <p:nvSpPr>
          <p:cNvPr id="26" name="text_138"/>
          <p:cNvSpPr txBox="1"/>
          <p:nvPr/>
        </p:nvSpPr>
        <p:spPr>
          <a:xfrm>
            <a:off x="8321040" y="4937760"/>
            <a:ext cx="3017520" cy="1005840"/>
          </a:xfrm>
          <a:prstGeom prst="rect">
            <a:avLst/>
          </a:prstGeom>
          <a:noFill/>
          <a:ln/>
        </p:spPr>
        <p:txBody>
          <a:bodyPr wrap="square" lIns="635" tIns="635" rIns="635" bIns="635" rtlCol="0" anchor="t"/>
          <a:lstStyle/>
          <a:p>
            <a:pPr indent="0" marL="0">
              <a:buNone/>
            </a:pPr>
            <a:r>
              <a:rPr lang="en-US" sz="1200" dirty="0">
                <a:solidFill>
                  <a:schemeClr val="accent6"/>
                </a:solidFill>
              </a:rPr>
              <a:t>Solid Mechanics · Electric Currents</a:t>
            </a:r>
            <a:endParaRPr lang="en-US" sz="12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Model2 geometriyasi: gate'li lateral tranzistor</a:t>
            </a:r>
            <a:endParaRPr lang="en-US" sz="3000" dirty="0"/>
          </a:p>
        </p:txBody>
      </p:sp>
      <p:sp>
        <p:nvSpPr>
          <p:cNvPr id="3" name="glayer_139"/>
          <p:cNvSpPr/>
          <p:nvPr/>
        </p:nvSpPr>
        <p:spPr>
          <a:xfrm>
            <a:off x="640080" y="1554480"/>
            <a:ext cx="6766560" cy="457200"/>
          </a:xfrm>
          <a:prstGeom prst="rect">
            <a:avLst/>
          </a:prstGeom>
          <a:solidFill>
            <a:schemeClr val="accent6"/>
          </a:solidFill>
          <a:ln w="12700">
            <a:solidFill>
              <a:schemeClr val="bg1"/>
            </a:solidFill>
            <a:prstDash val="solid"/>
          </a:ln>
        </p:spPr>
      </p:sp>
      <p:sp>
        <p:nvSpPr>
          <p:cNvPr id="4" name="text_140"/>
          <p:cNvSpPr txBox="1"/>
          <p:nvPr/>
        </p:nvSpPr>
        <p:spPr>
          <a:xfrm>
            <a:off x="640080" y="1554480"/>
            <a:ext cx="6766560" cy="457200"/>
          </a:xfrm>
          <a:prstGeom prst="rect">
            <a:avLst/>
          </a:prstGeom>
          <a:noFill/>
          <a:ln/>
        </p:spPr>
        <p:txBody>
          <a:bodyPr wrap="square" lIns="635" tIns="635" rIns="635" bIns="635" rtlCol="0" anchor="ctr"/>
          <a:lstStyle/>
          <a:p>
            <a:pPr algn="ctr" indent="0" marL="0">
              <a:buNone/>
            </a:pPr>
            <a:r>
              <a:rPr lang="en-US" sz="1400" b="1" dirty="0">
                <a:solidFill>
                  <a:schemeClr val="bg1"/>
                </a:solidFill>
              </a:rPr>
              <a:t>Gate elektrodi, 10 nm</a:t>
            </a:r>
            <a:endParaRPr lang="en-US" sz="1400" dirty="0"/>
          </a:p>
        </p:txBody>
      </p:sp>
      <p:sp>
        <p:nvSpPr>
          <p:cNvPr id="5" name="glayer_141"/>
          <p:cNvSpPr/>
          <p:nvPr/>
        </p:nvSpPr>
        <p:spPr>
          <a:xfrm>
            <a:off x="640080" y="2011680"/>
            <a:ext cx="6766560" cy="457200"/>
          </a:xfrm>
          <a:prstGeom prst="rect">
            <a:avLst/>
          </a:prstGeom>
          <a:solidFill>
            <a:srgbClr val="B9C3CF"/>
          </a:solidFill>
          <a:ln w="12700">
            <a:solidFill>
              <a:schemeClr val="bg1"/>
            </a:solidFill>
            <a:prstDash val="solid"/>
          </a:ln>
        </p:spPr>
      </p:sp>
      <p:sp>
        <p:nvSpPr>
          <p:cNvPr id="6" name="text_142"/>
          <p:cNvSpPr txBox="1"/>
          <p:nvPr/>
        </p:nvSpPr>
        <p:spPr>
          <a:xfrm>
            <a:off x="640080" y="2011680"/>
            <a:ext cx="6766560" cy="457200"/>
          </a:xfrm>
          <a:prstGeom prst="rect">
            <a:avLst/>
          </a:prstGeom>
          <a:noFill/>
          <a:ln/>
        </p:spPr>
        <p:txBody>
          <a:bodyPr wrap="square" lIns="635" tIns="635" rIns="635" bIns="635" rtlCol="0" anchor="ctr"/>
          <a:lstStyle/>
          <a:p>
            <a:pPr algn="ctr" indent="0" marL="0">
              <a:buNone/>
            </a:pPr>
            <a:r>
              <a:rPr lang="en-US" sz="1400" b="1" dirty="0">
                <a:solidFill>
                  <a:schemeClr val="tx1"/>
                </a:solidFill>
              </a:rPr>
              <a:t>Al₂O₃ dielektrik, 10 nm</a:t>
            </a:r>
            <a:endParaRPr lang="en-US" sz="1400" dirty="0"/>
          </a:p>
        </p:txBody>
      </p:sp>
      <p:sp>
        <p:nvSpPr>
          <p:cNvPr id="7" name="glayer_143"/>
          <p:cNvSpPr/>
          <p:nvPr/>
        </p:nvSpPr>
        <p:spPr>
          <a:xfrm>
            <a:off x="640080" y="2468880"/>
            <a:ext cx="6766560" cy="777240"/>
          </a:xfrm>
          <a:prstGeom prst="rect">
            <a:avLst/>
          </a:prstGeom>
          <a:solidFill>
            <a:schemeClr val="accent3"/>
          </a:solidFill>
          <a:ln w="12700">
            <a:solidFill>
              <a:schemeClr val="bg1"/>
            </a:solidFill>
            <a:prstDash val="solid"/>
          </a:ln>
        </p:spPr>
      </p:sp>
      <p:sp>
        <p:nvSpPr>
          <p:cNvPr id="8" name="text_144"/>
          <p:cNvSpPr txBox="1"/>
          <p:nvPr/>
        </p:nvSpPr>
        <p:spPr>
          <a:xfrm>
            <a:off x="640080" y="2468880"/>
            <a:ext cx="676656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GeTe, 20 nm</a:t>
            </a:r>
            <a:endParaRPr lang="en-US" sz="1400" dirty="0"/>
          </a:p>
        </p:txBody>
      </p:sp>
      <p:sp>
        <p:nvSpPr>
          <p:cNvPr id="9" name="ch_145"/>
          <p:cNvSpPr/>
          <p:nvPr/>
        </p:nvSpPr>
        <p:spPr>
          <a:xfrm>
            <a:off x="640080" y="3246120"/>
            <a:ext cx="3131820" cy="868680"/>
          </a:xfrm>
          <a:prstGeom prst="rect">
            <a:avLst/>
          </a:prstGeom>
          <a:solidFill>
            <a:schemeClr val="accent2"/>
          </a:solidFill>
          <a:ln w="12700">
            <a:solidFill>
              <a:schemeClr val="bg1"/>
            </a:solidFill>
            <a:prstDash val="solid"/>
          </a:ln>
        </p:spPr>
      </p:sp>
      <p:sp>
        <p:nvSpPr>
          <p:cNvPr id="10" name="gap_146"/>
          <p:cNvSpPr/>
          <p:nvPr/>
        </p:nvSpPr>
        <p:spPr>
          <a:xfrm>
            <a:off x="3771900" y="3246120"/>
            <a:ext cx="502920" cy="868680"/>
          </a:xfrm>
          <a:prstGeom prst="rect">
            <a:avLst/>
          </a:prstGeom>
          <a:solidFill>
            <a:schemeClr val="accent1"/>
          </a:solidFill>
          <a:ln w="12700">
            <a:solidFill>
              <a:schemeClr val="bg1"/>
            </a:solidFill>
            <a:prstDash val="solid"/>
          </a:ln>
        </p:spPr>
      </p:sp>
      <p:sp>
        <p:nvSpPr>
          <p:cNvPr id="11" name="ch_147"/>
          <p:cNvSpPr/>
          <p:nvPr/>
        </p:nvSpPr>
        <p:spPr>
          <a:xfrm>
            <a:off x="4274820" y="3246120"/>
            <a:ext cx="3131820" cy="868680"/>
          </a:xfrm>
          <a:prstGeom prst="rect">
            <a:avLst/>
          </a:prstGeom>
          <a:solidFill>
            <a:schemeClr val="accent2"/>
          </a:solidFill>
          <a:ln w="12700">
            <a:solidFill>
              <a:schemeClr val="bg1"/>
            </a:solidFill>
            <a:prstDash val="solid"/>
          </a:ln>
        </p:spPr>
      </p:sp>
      <p:sp>
        <p:nvSpPr>
          <p:cNvPr id="12" name="text_148"/>
          <p:cNvSpPr txBox="1"/>
          <p:nvPr/>
        </p:nvSpPr>
        <p:spPr>
          <a:xfrm>
            <a:off x="640080" y="3246120"/>
            <a:ext cx="3131820" cy="868680"/>
          </a:xfrm>
          <a:prstGeom prst="rect">
            <a:avLst/>
          </a:prstGeom>
          <a:noFill/>
          <a:ln/>
        </p:spPr>
        <p:txBody>
          <a:bodyPr wrap="square" lIns="635" tIns="635" rIns="635" bIns="635" rtlCol="0" anchor="ctr"/>
          <a:lstStyle/>
          <a:p>
            <a:pPr algn="ctr" indent="0" marL="0">
              <a:buNone/>
            </a:pPr>
            <a:r>
              <a:rPr lang="en-US" sz="1400" b="1" dirty="0">
                <a:solidFill>
                  <a:schemeClr val="bg1"/>
                </a:solidFill>
              </a:rPr>
              <a:t>Sb₂Te₃ kanal, 20 nm</a:t>
            </a:r>
            <a:endParaRPr lang="en-US" sz="1400" dirty="0"/>
          </a:p>
        </p:txBody>
      </p:sp>
      <p:sp>
        <p:nvSpPr>
          <p:cNvPr id="13" name="text_149"/>
          <p:cNvSpPr txBox="1"/>
          <p:nvPr/>
        </p:nvSpPr>
        <p:spPr>
          <a:xfrm>
            <a:off x="4274820" y="3246120"/>
            <a:ext cx="3131820" cy="868680"/>
          </a:xfrm>
          <a:prstGeom prst="rect">
            <a:avLst/>
          </a:prstGeom>
          <a:noFill/>
          <a:ln/>
        </p:spPr>
        <p:txBody>
          <a:bodyPr wrap="square" lIns="635" tIns="635" rIns="635" bIns="635" rtlCol="0" anchor="ctr"/>
          <a:lstStyle/>
          <a:p>
            <a:pPr algn="ctr" indent="0" marL="0">
              <a:buNone/>
            </a:pPr>
            <a:r>
              <a:rPr lang="en-US" sz="1400" b="1" dirty="0">
                <a:solidFill>
                  <a:schemeClr val="bg1"/>
                </a:solidFill>
              </a:rPr>
              <a:t>Sb₂Te₃ kanal, 20 nm</a:t>
            </a:r>
            <a:endParaRPr lang="en-US" sz="1400" dirty="0"/>
          </a:p>
        </p:txBody>
      </p:sp>
      <p:sp>
        <p:nvSpPr>
          <p:cNvPr id="14" name="text_150"/>
          <p:cNvSpPr txBox="1"/>
          <p:nvPr/>
        </p:nvSpPr>
        <p:spPr>
          <a:xfrm>
            <a:off x="548640" y="4206240"/>
            <a:ext cx="2743200" cy="365760"/>
          </a:xfrm>
          <a:prstGeom prst="rect">
            <a:avLst/>
          </a:prstGeom>
          <a:noFill/>
          <a:ln/>
        </p:spPr>
        <p:txBody>
          <a:bodyPr wrap="square" lIns="635" tIns="635" rIns="635" bIns="635" rtlCol="0" anchor="t"/>
          <a:lstStyle/>
          <a:p>
            <a:pPr indent="0" marL="0">
              <a:buNone/>
            </a:pPr>
            <a:r>
              <a:rPr lang="en-US" sz="1300" b="1" dirty="0">
                <a:solidFill>
                  <a:schemeClr val="accent2"/>
                </a:solidFill>
              </a:rPr>
              <a:t>Source: Ground (0 V)</a:t>
            </a:r>
            <a:endParaRPr lang="en-US" sz="1300" dirty="0"/>
          </a:p>
        </p:txBody>
      </p:sp>
      <p:sp>
        <p:nvSpPr>
          <p:cNvPr id="15" name="text_151"/>
          <p:cNvSpPr txBox="1"/>
          <p:nvPr/>
        </p:nvSpPr>
        <p:spPr>
          <a:xfrm>
            <a:off x="4663440" y="4206240"/>
            <a:ext cx="2834640" cy="365760"/>
          </a:xfrm>
          <a:prstGeom prst="rect">
            <a:avLst/>
          </a:prstGeom>
          <a:noFill/>
          <a:ln/>
        </p:spPr>
        <p:txBody>
          <a:bodyPr wrap="square" lIns="635" tIns="635" rIns="635" bIns="635" rtlCol="0" anchor="t"/>
          <a:lstStyle/>
          <a:p>
            <a:pPr algn="r" indent="0" marL="0">
              <a:buNone/>
            </a:pPr>
            <a:r>
              <a:rPr lang="en-US" sz="1300" b="1" dirty="0">
                <a:solidFill>
                  <a:schemeClr val="accent2"/>
                </a:solidFill>
              </a:rPr>
              <a:t>Drain: Terminal, V(t)</a:t>
            </a:r>
            <a:endParaRPr lang="en-US" sz="1300" dirty="0"/>
          </a:p>
        </p:txBody>
      </p:sp>
      <p:sp>
        <p:nvSpPr>
          <p:cNvPr id="16" name="text_152"/>
          <p:cNvSpPr txBox="1"/>
          <p:nvPr/>
        </p:nvSpPr>
        <p:spPr>
          <a:xfrm>
            <a:off x="2308860" y="4617720"/>
            <a:ext cx="3474720" cy="365760"/>
          </a:xfrm>
          <a:prstGeom prst="rect">
            <a:avLst/>
          </a:prstGeom>
          <a:noFill/>
          <a:ln/>
        </p:spPr>
        <p:txBody>
          <a:bodyPr wrap="square" lIns="635" tIns="635" rIns="635" bIns="635" rtlCol="0" anchor="t"/>
          <a:lstStyle/>
          <a:p>
            <a:pPr algn="ctr" indent="0" marL="0">
              <a:buNone/>
            </a:pPr>
            <a:r>
              <a:rPr lang="en-US" sz="1300" b="1" dirty="0">
                <a:solidFill>
                  <a:schemeClr val="accent1"/>
                </a:solidFill>
              </a:rPr>
              <a:t>Faol soha L_gap = 1.5 nm (to'q sariq)</a:t>
            </a:r>
            <a:endParaRPr lang="en-US" sz="1300" dirty="0"/>
          </a:p>
        </p:txBody>
      </p:sp>
      <p:sp>
        <p:nvSpPr>
          <p:cNvPr id="17" name="text_153"/>
          <p:cNvSpPr txBox="1"/>
          <p:nvPr/>
        </p:nvSpPr>
        <p:spPr>
          <a:xfrm>
            <a:off x="640080" y="5029200"/>
            <a:ext cx="6766560" cy="365760"/>
          </a:xfrm>
          <a:prstGeom prst="rect">
            <a:avLst/>
          </a:prstGeom>
          <a:noFill/>
          <a:ln/>
        </p:spPr>
        <p:txBody>
          <a:bodyPr wrap="square" lIns="635" tIns="635" rIns="635" bIns="635" rtlCol="0" anchor="t"/>
          <a:lstStyle/>
          <a:p>
            <a:pPr indent="0" marL="0">
              <a:buNone/>
            </a:pPr>
            <a:r>
              <a:rPr lang="en-US" sz="1200" i="1" dirty="0">
                <a:solidFill>
                  <a:schemeClr val="accent6"/>
                </a:solidFill>
              </a:rPr>
              <a:t>Kanal uzunligi W = 250 nm. Sxema masshtabsiz.</a:t>
            </a:r>
            <a:endParaRPr lang="en-US" sz="1200" dirty="0"/>
          </a:p>
        </p:txBody>
      </p:sp>
      <p:sp>
        <p:nvSpPr>
          <p:cNvPr id="18" name="bul_154"/>
          <p:cNvSpPr txBox="1"/>
          <p:nvPr/>
        </p:nvSpPr>
        <p:spPr>
          <a:xfrm>
            <a:off x="7772400" y="1554480"/>
            <a:ext cx="3931920" cy="4754880"/>
          </a:xfrm>
          <a:prstGeom prst="rect">
            <a:avLst/>
          </a:prstGeom>
          <a:noFill/>
          <a:ln/>
        </p:spPr>
        <p:txBody>
          <a:bodyPr wrap="square" lIns="635" tIns="635" rIns="635" bIns="635" rtlCol="0" anchor="t"/>
          <a:lstStyle/>
          <a:p>
            <a:pPr marL="228600" indent="-228600">
              <a:spcAft>
                <a:spcPts val="800"/>
              </a:spcAft>
              <a:buSzPct val="100000"/>
              <a:buChar char="•"/>
            </a:pPr>
            <a:r>
              <a:rPr lang="en-US" sz="1400" b="1" dirty="0">
                <a:solidFill>
                  <a:schemeClr val="tx1"/>
                </a:solidFill>
              </a:rPr>
              <a:t>Tok faqat Sb₂Te₃ kanalidan oqadi. </a:t>
            </a:r>
            <a:pPr indent="0" marL="0">
              <a:buNone/>
            </a:pPr>
            <a:r>
              <a:rPr lang="en-US" sz="1400" dirty="0">
                <a:solidFill>
                  <a:schemeClr val="tx1"/>
                </a:solidFill>
              </a:rPr>
              <a:t>Electric Currents fizikasi faqat shu uchta domenga qo'yilgan.</a:t>
            </a:r>
            <a:endParaRPr lang="en-US" sz="1400" dirty="0"/>
          </a:p>
          <a:p>
            <a:pPr marL="228600" indent="-228600">
              <a:spcAft>
                <a:spcPts val="800"/>
              </a:spcAft>
              <a:buSzPct val="100000"/>
              <a:buChar char="•"/>
            </a:pPr>
            <a:r>
              <a:rPr lang="en-US" sz="1400" b="1" dirty="0">
                <a:solidFill>
                  <a:schemeClr val="tx1"/>
                </a:solidFill>
              </a:rPr>
              <a:t>Kalitlash faqat faol sohada. </a:t>
            </a:r>
            <a:pPr indent="0" marL="0">
              <a:buNone/>
            </a:pPr>
            <a:r>
              <a:rPr lang="en-US" sz="1400" dirty="0">
                <a:solidFill>
                  <a:schemeClr val="tx1"/>
                </a:solidFill>
              </a:rPr>
              <a:t>Uning o'tkazuvchanligi σ_fil holat o'zgaruvchilariga bog'liq.</a:t>
            </a:r>
            <a:endParaRPr lang="en-US" sz="1400" dirty="0"/>
          </a:p>
          <a:p>
            <a:pPr marL="228600" indent="-228600">
              <a:spcAft>
                <a:spcPts val="800"/>
              </a:spcAft>
              <a:buSzPct val="100000"/>
              <a:buChar char="•"/>
            </a:pPr>
            <a:r>
              <a:rPr lang="en-US" sz="1400" b="1" dirty="0">
                <a:solidFill>
                  <a:schemeClr val="tx1"/>
                </a:solidFill>
              </a:rPr>
              <a:t>Gate ustida, GeTe ga tegib turadi. </a:t>
            </a:r>
            <a:pPr indent="0" marL="0">
              <a:buNone/>
            </a:pPr>
            <a:r>
              <a:rPr lang="en-US" sz="1400" dirty="0">
                <a:solidFill>
                  <a:schemeClr val="tx1"/>
                </a:solidFill>
              </a:rPr>
              <a:t>Gate maydoni elektrostatik hisoblanmaydi, U_gate tenglamaga parametr sifatida kiradi.</a:t>
            </a:r>
            <a:endParaRPr lang="en-US" sz="1400" dirty="0"/>
          </a:p>
          <a:p>
            <a:pPr marL="228600" indent="-228600">
              <a:spcAft>
                <a:spcPts val="800"/>
              </a:spcAft>
              <a:buSzPct val="100000"/>
              <a:buChar char="•"/>
            </a:pPr>
            <a:r>
              <a:rPr lang="en-US" sz="1400" b="1" dirty="0">
                <a:solidFill>
                  <a:schemeClr val="tx1"/>
                </a:solidFill>
              </a:rPr>
              <a:t>L_gap = 1.5 nm muhim. </a:t>
            </a:r>
            <a:pPr indent="0" marL="0">
              <a:buNone/>
            </a:pPr>
            <a:r>
              <a:rPr lang="en-US" sz="1400" dirty="0">
                <a:solidFill>
                  <a:schemeClr val="tx1"/>
                </a:solidFill>
              </a:rPr>
              <a:t>Kattaroq (3 nm, 200 nm) olinganda kalitlash umuman bo'lmadi.</a:t>
            </a:r>
            <a:endParaRPr lang="en-US" sz="14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Qaysi COMSOL modullari ishlatildi va nega</a:t>
            </a:r>
            <a:endParaRPr lang="en-US" sz="3000" dirty="0"/>
          </a:p>
        </p:txBody>
      </p:sp>
      <p:sp>
        <p:nvSpPr>
          <p:cNvPr id="3" name="num_155"/>
          <p:cNvSpPr/>
          <p:nvPr/>
        </p:nvSpPr>
        <p:spPr>
          <a:xfrm>
            <a:off x="548640" y="1554480"/>
            <a:ext cx="502920" cy="502920"/>
          </a:xfrm>
          <a:prstGeom prst="ellipse">
            <a:avLst/>
          </a:prstGeom>
          <a:solidFill>
            <a:schemeClr val="accent3"/>
          </a:solidFill>
          <a:ln w="12700">
            <a:solidFill>
              <a:schemeClr val="accent3"/>
            </a:solidFill>
            <a:prstDash val="solid"/>
          </a:ln>
        </p:spPr>
      </p:sp>
      <p:sp>
        <p:nvSpPr>
          <p:cNvPr id="4" name="numtxt_156"/>
          <p:cNvSpPr txBox="1"/>
          <p:nvPr/>
        </p:nvSpPr>
        <p:spPr>
          <a:xfrm>
            <a:off x="548640" y="15544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_157"/>
          <p:cNvSpPr txBox="1"/>
          <p:nvPr/>
        </p:nvSpPr>
        <p:spPr>
          <a:xfrm>
            <a:off x="1234440" y="1417320"/>
            <a:ext cx="3931920" cy="411480"/>
          </a:xfrm>
          <a:prstGeom prst="rect">
            <a:avLst/>
          </a:prstGeom>
          <a:noFill/>
          <a:ln/>
        </p:spPr>
        <p:txBody>
          <a:bodyPr wrap="square" lIns="635" tIns="635" rIns="635" bIns="635" rtlCol="0" anchor="t"/>
          <a:lstStyle/>
          <a:p>
            <a:pPr indent="0" marL="0">
              <a:buNone/>
            </a:pPr>
            <a:r>
              <a:rPr lang="en-US" sz="1600" b="1" dirty="0">
                <a:solidFill>
                  <a:schemeClr val="tx1"/>
                </a:solidFill>
              </a:rPr>
              <a:t>Electric Currents (ec)</a:t>
            </a:r>
            <a:endParaRPr lang="en-US" sz="1600" dirty="0"/>
          </a:p>
        </p:txBody>
      </p:sp>
      <p:sp>
        <p:nvSpPr>
          <p:cNvPr id="6" name="eqi_158"/>
          <p:cNvSpPr txBox="1"/>
          <p:nvPr/>
        </p:nvSpPr>
        <p:spPr>
          <a:xfrm>
            <a:off x="1234440" y="1874520"/>
            <a:ext cx="3931920" cy="457200"/>
          </a:xfrm>
          <a:prstGeom prst="rect">
            <a:avLst/>
          </a:prstGeom>
          <a:noFill/>
          <a:ln/>
        </p:spPr>
        <p:txBody>
          <a:bodyPr wrap="square" lIns="635" tIns="635" rIns="635" bIns="635" rtlCol="0" anchor="ctr"/>
          <a:lstStyle/>
          <a:p>
            <a:pPr indent="0" marL="0">
              <a:buNone/>
            </a:pPr>
            <a:r>
              <a:rPr lang="en-US" sz="1500" i="1" dirty="0">
                <a:solidFill>
                  <a:schemeClr val="accent3"/>
                </a:solidFill>
                <a:latin typeface="Cambria" pitchFamily="34" charset="0"/>
                <a:ea typeface="Cambria" pitchFamily="34" charset="-122"/>
                <a:cs typeface="Cambria" pitchFamily="34" charset="-120"/>
              </a:rPr>
              <a:t>∇·(σ∇V) = 0</a:t>
            </a:r>
            <a:endParaRPr lang="en-US" sz="1500" dirty="0"/>
          </a:p>
        </p:txBody>
      </p:sp>
      <p:sp>
        <p:nvSpPr>
          <p:cNvPr id="7" name="text_159"/>
          <p:cNvSpPr txBox="1"/>
          <p:nvPr/>
        </p:nvSpPr>
        <p:spPr>
          <a:xfrm>
            <a:off x="5394960" y="1417320"/>
            <a:ext cx="6217920" cy="1051560"/>
          </a:xfrm>
          <a:prstGeom prst="rect">
            <a:avLst/>
          </a:prstGeom>
          <a:noFill/>
          <a:ln/>
        </p:spPr>
        <p:txBody>
          <a:bodyPr wrap="square" lIns="635" tIns="635" rIns="635" bIns="635" rtlCol="0" anchor="ctr"/>
          <a:lstStyle/>
          <a:p>
            <a:pPr indent="0" marL="0">
              <a:buNone/>
            </a:pPr>
            <a:r>
              <a:rPr lang="en-US" sz="1400" dirty="0">
                <a:solidFill>
                  <a:schemeClr val="tx1"/>
                </a:solidFill>
              </a:rPr>
              <a:t>Tok va kuchlanish taqsimotini hisoblaydi. Har bir hisobning asosi: I–V egri chizig'idagi tok shu yerdan olinadi (ec.I0_1).</a:t>
            </a:r>
            <a:endParaRPr lang="en-US" sz="1400" dirty="0"/>
          </a:p>
        </p:txBody>
      </p:sp>
      <p:sp>
        <p:nvSpPr>
          <p:cNvPr id="8" name="num_160"/>
          <p:cNvSpPr/>
          <p:nvPr/>
        </p:nvSpPr>
        <p:spPr>
          <a:xfrm>
            <a:off x="548640" y="2761488"/>
            <a:ext cx="502920" cy="502920"/>
          </a:xfrm>
          <a:prstGeom prst="ellipse">
            <a:avLst/>
          </a:prstGeom>
          <a:solidFill>
            <a:schemeClr val="accent3"/>
          </a:solidFill>
          <a:ln w="12700">
            <a:solidFill>
              <a:schemeClr val="accent3"/>
            </a:solidFill>
            <a:prstDash val="solid"/>
          </a:ln>
        </p:spPr>
      </p:sp>
      <p:sp>
        <p:nvSpPr>
          <p:cNvPr id="9" name="numtxt_161"/>
          <p:cNvSpPr txBox="1"/>
          <p:nvPr/>
        </p:nvSpPr>
        <p:spPr>
          <a:xfrm>
            <a:off x="548640" y="276148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_162"/>
          <p:cNvSpPr txBox="1"/>
          <p:nvPr/>
        </p:nvSpPr>
        <p:spPr>
          <a:xfrm>
            <a:off x="1234440" y="2624328"/>
            <a:ext cx="3931920" cy="411480"/>
          </a:xfrm>
          <a:prstGeom prst="rect">
            <a:avLst/>
          </a:prstGeom>
          <a:noFill/>
          <a:ln/>
        </p:spPr>
        <p:txBody>
          <a:bodyPr wrap="square" lIns="635" tIns="635" rIns="635" bIns="635" rtlCol="0" anchor="t"/>
          <a:lstStyle/>
          <a:p>
            <a:pPr indent="0" marL="0">
              <a:buNone/>
            </a:pPr>
            <a:r>
              <a:rPr lang="en-US" sz="1600" b="1" dirty="0">
                <a:solidFill>
                  <a:schemeClr val="tx1"/>
                </a:solidFill>
              </a:rPr>
              <a:t>Heat Transfer + Electromagnetic Heating</a:t>
            </a:r>
            <a:endParaRPr lang="en-US" sz="1600" dirty="0"/>
          </a:p>
        </p:txBody>
      </p:sp>
      <p:sp>
        <p:nvSpPr>
          <p:cNvPr id="11" name="eqi_163"/>
          <p:cNvSpPr txBox="1"/>
          <p:nvPr/>
        </p:nvSpPr>
        <p:spPr>
          <a:xfrm>
            <a:off x="1234440" y="3081528"/>
            <a:ext cx="3931920" cy="457200"/>
          </a:xfrm>
          <a:prstGeom prst="rect">
            <a:avLst/>
          </a:prstGeom>
          <a:noFill/>
          <a:ln/>
        </p:spPr>
        <p:txBody>
          <a:bodyPr wrap="square" lIns="635" tIns="635" rIns="635" bIns="635" rtlCol="0" anchor="ctr"/>
          <a:lstStyle/>
          <a:p>
            <a:pPr indent="0" marL="0">
              <a:buNone/>
            </a:pPr>
            <a:r>
              <a:rPr lang="en-US" sz="1500" i="1" dirty="0">
                <a:solidFill>
                  <a:schemeClr val="accent3"/>
                </a:solidFill>
                <a:latin typeface="Cambria" pitchFamily="34" charset="0"/>
                <a:ea typeface="Cambria" pitchFamily="34" charset="-122"/>
                <a:cs typeface="Cambria" pitchFamily="34" charset="-120"/>
              </a:rPr>
              <a:t>Q = J·E</a:t>
            </a:r>
            <a:endParaRPr lang="en-US" sz="1500" dirty="0"/>
          </a:p>
        </p:txBody>
      </p:sp>
      <p:sp>
        <p:nvSpPr>
          <p:cNvPr id="12" name="text_164"/>
          <p:cNvSpPr txBox="1"/>
          <p:nvPr/>
        </p:nvSpPr>
        <p:spPr>
          <a:xfrm>
            <a:off x="5394960" y="2624328"/>
            <a:ext cx="6217920" cy="1051560"/>
          </a:xfrm>
          <a:prstGeom prst="rect">
            <a:avLst/>
          </a:prstGeom>
          <a:noFill/>
          <a:ln/>
        </p:spPr>
        <p:txBody>
          <a:bodyPr wrap="square" lIns="635" tIns="635" rIns="635" bIns="635" rtlCol="0" anchor="ctr"/>
          <a:lstStyle/>
          <a:p>
            <a:pPr indent="0" marL="0">
              <a:buNone/>
            </a:pPr>
            <a:r>
              <a:rPr lang="en-US" sz="1400" dirty="0">
                <a:solidFill>
                  <a:schemeClr val="tx1"/>
                </a:solidFill>
              </a:rPr>
              <a:t>Joule qizishini hisoblaydi. Savol: kalitlash issiqlik tufayli emasmi? Model2 da T_max = 300 K chiqdi, shuning uchun asosiy hisobda o'chirildi (xotira tejash).</a:t>
            </a:r>
            <a:endParaRPr lang="en-US" sz="1400" dirty="0"/>
          </a:p>
        </p:txBody>
      </p:sp>
      <p:sp>
        <p:nvSpPr>
          <p:cNvPr id="13" name="num_165"/>
          <p:cNvSpPr/>
          <p:nvPr/>
        </p:nvSpPr>
        <p:spPr>
          <a:xfrm>
            <a:off x="548640" y="3968496"/>
            <a:ext cx="502920" cy="502920"/>
          </a:xfrm>
          <a:prstGeom prst="ellipse">
            <a:avLst/>
          </a:prstGeom>
          <a:solidFill>
            <a:schemeClr val="accent3"/>
          </a:solidFill>
          <a:ln w="12700">
            <a:solidFill>
              <a:schemeClr val="accent3"/>
            </a:solidFill>
            <a:prstDash val="solid"/>
          </a:ln>
        </p:spPr>
      </p:sp>
      <p:sp>
        <p:nvSpPr>
          <p:cNvPr id="14" name="numtxt_166"/>
          <p:cNvSpPr txBox="1"/>
          <p:nvPr/>
        </p:nvSpPr>
        <p:spPr>
          <a:xfrm>
            <a:off x="548640" y="3968496"/>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_167"/>
          <p:cNvSpPr txBox="1"/>
          <p:nvPr/>
        </p:nvSpPr>
        <p:spPr>
          <a:xfrm>
            <a:off x="1234440" y="3831336"/>
            <a:ext cx="3931920" cy="411480"/>
          </a:xfrm>
          <a:prstGeom prst="rect">
            <a:avLst/>
          </a:prstGeom>
          <a:noFill/>
          <a:ln/>
        </p:spPr>
        <p:txBody>
          <a:bodyPr wrap="square" lIns="635" tIns="635" rIns="635" bIns="635" rtlCol="0" anchor="t"/>
          <a:lstStyle/>
          <a:p>
            <a:pPr indent="0" marL="0">
              <a:buNone/>
            </a:pPr>
            <a:r>
              <a:rPr lang="en-US" sz="1600" b="1" dirty="0">
                <a:solidFill>
                  <a:schemeClr val="tx1"/>
                </a:solidFill>
              </a:rPr>
              <a:t>Global ODEs and DAEs (ge)</a:t>
            </a:r>
            <a:endParaRPr lang="en-US" sz="1600" dirty="0"/>
          </a:p>
        </p:txBody>
      </p:sp>
      <p:sp>
        <p:nvSpPr>
          <p:cNvPr id="16" name="eqi_168"/>
          <p:cNvSpPr txBox="1"/>
          <p:nvPr/>
        </p:nvSpPr>
        <p:spPr>
          <a:xfrm>
            <a:off x="1234440" y="4288536"/>
            <a:ext cx="3931920" cy="457200"/>
          </a:xfrm>
          <a:prstGeom prst="rect">
            <a:avLst/>
          </a:prstGeom>
          <a:noFill/>
          <a:ln/>
        </p:spPr>
        <p:txBody>
          <a:bodyPr wrap="square" lIns="635" tIns="635" rIns="635" bIns="635" rtlCol="0" anchor="ctr"/>
          <a:lstStyle/>
          <a:p>
            <a:pPr indent="0" marL="0">
              <a:buNone/>
            </a:pPr>
            <a:r>
              <a:rPr lang="en-US" sz="1500" i="1" dirty="0">
                <a:solidFill>
                  <a:schemeClr val="accent3"/>
                </a:solidFill>
                <a:latin typeface="Cambria" pitchFamily="34" charset="0"/>
                <a:ea typeface="Cambria" pitchFamily="34" charset="-122"/>
                <a:cs typeface="Cambria" pitchFamily="34" charset="-120"/>
              </a:rPr>
              <a:t>dx/dt = …,  dP/dt = …</a:t>
            </a:r>
            <a:endParaRPr lang="en-US" sz="1500" dirty="0"/>
          </a:p>
        </p:txBody>
      </p:sp>
      <p:sp>
        <p:nvSpPr>
          <p:cNvPr id="17" name="text_169"/>
          <p:cNvSpPr txBox="1"/>
          <p:nvPr/>
        </p:nvSpPr>
        <p:spPr>
          <a:xfrm>
            <a:off x="5394960" y="3831336"/>
            <a:ext cx="6217920" cy="1051560"/>
          </a:xfrm>
          <a:prstGeom prst="rect">
            <a:avLst/>
          </a:prstGeom>
          <a:noFill/>
          <a:ln/>
        </p:spPr>
        <p:txBody>
          <a:bodyPr wrap="square" lIns="635" tIns="635" rIns="635" bIns="635" rtlCol="0" anchor="ctr"/>
          <a:lstStyle/>
          <a:p>
            <a:pPr indent="0" marL="0">
              <a:buNone/>
            </a:pPr>
            <a:r>
              <a:rPr lang="en-US" sz="1400" dirty="0">
                <a:solidFill>
                  <a:schemeClr val="tx1"/>
                </a:solidFill>
              </a:rPr>
              <a:t>Vaqt bo'yicha o'zgaradigan ikki holat: filament x va gate xotirasi P. Bular elementning “xotirasi”.</a:t>
            </a:r>
            <a:endParaRPr lang="en-US" sz="1400" dirty="0"/>
          </a:p>
        </p:txBody>
      </p:sp>
      <p:sp>
        <p:nvSpPr>
          <p:cNvPr id="18" name="num_170"/>
          <p:cNvSpPr/>
          <p:nvPr/>
        </p:nvSpPr>
        <p:spPr>
          <a:xfrm>
            <a:off x="548640" y="5175504"/>
            <a:ext cx="502920" cy="502920"/>
          </a:xfrm>
          <a:prstGeom prst="ellipse">
            <a:avLst/>
          </a:prstGeom>
          <a:solidFill>
            <a:schemeClr val="accent3"/>
          </a:solidFill>
          <a:ln w="12700">
            <a:solidFill>
              <a:schemeClr val="accent3"/>
            </a:solidFill>
            <a:prstDash val="solid"/>
          </a:ln>
        </p:spPr>
      </p:sp>
      <p:sp>
        <p:nvSpPr>
          <p:cNvPr id="19" name="numtxt_171"/>
          <p:cNvSpPr txBox="1"/>
          <p:nvPr/>
        </p:nvSpPr>
        <p:spPr>
          <a:xfrm>
            <a:off x="548640" y="5175504"/>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_172"/>
          <p:cNvSpPr txBox="1"/>
          <p:nvPr/>
        </p:nvSpPr>
        <p:spPr>
          <a:xfrm>
            <a:off x="1234440" y="5038344"/>
            <a:ext cx="3931920" cy="411480"/>
          </a:xfrm>
          <a:prstGeom prst="rect">
            <a:avLst/>
          </a:prstGeom>
          <a:noFill/>
          <a:ln/>
        </p:spPr>
        <p:txBody>
          <a:bodyPr wrap="square" lIns="635" tIns="635" rIns="635" bIns="635" rtlCol="0" anchor="t"/>
          <a:lstStyle/>
          <a:p>
            <a:pPr indent="0" marL="0">
              <a:buNone/>
            </a:pPr>
            <a:r>
              <a:rPr lang="en-US" sz="1600" b="1" dirty="0">
                <a:solidFill>
                  <a:schemeClr val="tx1"/>
                </a:solidFill>
              </a:rPr>
              <a:t>Solid Mechanics (solid), Model3</a:t>
            </a:r>
            <a:endParaRPr lang="en-US" sz="1600" dirty="0"/>
          </a:p>
        </p:txBody>
      </p:sp>
      <p:sp>
        <p:nvSpPr>
          <p:cNvPr id="21" name="eqi_173"/>
          <p:cNvSpPr txBox="1"/>
          <p:nvPr/>
        </p:nvSpPr>
        <p:spPr>
          <a:xfrm>
            <a:off x="1234440" y="5495544"/>
            <a:ext cx="3931920" cy="457200"/>
          </a:xfrm>
          <a:prstGeom prst="rect">
            <a:avLst/>
          </a:prstGeom>
          <a:noFill/>
          <a:ln/>
        </p:spPr>
        <p:txBody>
          <a:bodyPr wrap="square" lIns="635" tIns="635" rIns="635" bIns="635" rtlCol="0" anchor="ctr"/>
          <a:lstStyle/>
          <a:p>
            <a:pPr indent="0" marL="0">
              <a:buNone/>
            </a:pPr>
            <a:r>
              <a:rPr lang="en-US" sz="1500" i="1" dirty="0">
                <a:solidFill>
                  <a:schemeClr val="accent3"/>
                </a:solidFill>
                <a:latin typeface="Cambria" pitchFamily="34" charset="0"/>
                <a:ea typeface="Cambria" pitchFamily="34" charset="-122"/>
                <a:cs typeface="Cambria" pitchFamily="34" charset="-120"/>
              </a:rPr>
              <a:t>σ = C : ε</a:t>
            </a:r>
            <a:endParaRPr lang="en-US" sz="1500" dirty="0"/>
          </a:p>
        </p:txBody>
      </p:sp>
      <p:sp>
        <p:nvSpPr>
          <p:cNvPr id="22" name="text_174"/>
          <p:cNvSpPr txBox="1"/>
          <p:nvPr/>
        </p:nvSpPr>
        <p:spPr>
          <a:xfrm>
            <a:off x="5394960" y="5038344"/>
            <a:ext cx="6217920" cy="1051560"/>
          </a:xfrm>
          <a:prstGeom prst="rect">
            <a:avLst/>
          </a:prstGeom>
          <a:noFill/>
          <a:ln/>
        </p:spPr>
        <p:txBody>
          <a:bodyPr wrap="square" lIns="635" tIns="635" rIns="635" bIns="635" rtlCol="0" anchor="ctr"/>
          <a:lstStyle/>
          <a:p>
            <a:pPr indent="0" marL="0">
              <a:buNone/>
            </a:pPr>
            <a:r>
              <a:rPr lang="en-US" sz="1400" dirty="0">
                <a:solidFill>
                  <a:schemeClr val="tx1"/>
                </a:solidFill>
              </a:rPr>
              <a:t>Bosimdan deformatsiyani hisoblaydi. Interfeys qatlamining yangi qalinligi shu yerdan olinadi.</a:t>
            </a:r>
            <a:endParaRPr lang="en-US" sz="14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10058400" cy="548640"/>
          </a:xfrm>
          <a:prstGeom prst="rect">
            <a:avLst/>
          </a:prstGeom>
          <a:noFill/>
          <a:ln/>
        </p:spPr>
        <p:txBody>
          <a:bodyPr wrap="square" rtlCol="0"/>
          <a:lstStyle/>
          <a:p>
            <a:pPr indent="0" marL="0">
              <a:buNone/>
            </a:pPr>
            <a:r>
              <a:rPr lang="en-US" sz="1800" b="1" dirty="0">
                <a:solidFill>
                  <a:schemeClr val="accent1"/>
                </a:solidFill>
              </a:rPr>
              <a:t>3-bo'lim</a:t>
            </a:r>
            <a:endParaRPr lang="en-US" sz="1800" dirty="0"/>
          </a:p>
        </p:txBody>
      </p:sp>
      <p:sp>
        <p:nvSpPr>
          <p:cNvPr id="3" name="Text 0"/>
          <p:cNvSpPr/>
          <p:nvPr>
            <p:ph idx="101" type="title" hasCustomPrompt="1"/>
          </p:nvPr>
        </p:nvSpPr>
        <p:spPr>
          <a:xfrm>
            <a:off x="731520" y="2651760"/>
            <a:ext cx="106984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Tenglamalar: bittadan, sodda qilib</a:t>
            </a:r>
            <a:endParaRPr lang="en-US" sz="4000" dirty="0"/>
          </a:p>
        </p:txBody>
      </p:sp>
      <p:sp>
        <p:nvSpPr>
          <p:cNvPr id="4" name="Text 0"/>
          <p:cNvSpPr/>
          <p:nvPr>
            <p:ph idx="102" type="body" hasCustomPrompt="1"/>
          </p:nvPr>
        </p:nvSpPr>
        <p:spPr>
          <a:xfrm>
            <a:off x="731520" y="4023360"/>
            <a:ext cx="10058400" cy="1097280"/>
          </a:xfrm>
          <a:prstGeom prst="rect">
            <a:avLst/>
          </a:prstGeom>
          <a:noFill/>
          <a:ln/>
        </p:spPr>
        <p:txBody>
          <a:bodyPr wrap="square" rtlCol="0" anchor="t"/>
          <a:lstStyle/>
          <a:p>
            <a:pPr indent="0" marL="0">
              <a:buNone/>
            </a:pPr>
            <a:r>
              <a:rPr lang="en-US" sz="1800" dirty="0">
                <a:solidFill>
                  <a:schemeClr val="bg2"/>
                </a:solidFill>
              </a:rPr>
              <a:t>Har bir tenglama: nima qiladi, nega shunday tanlandi</a:t>
            </a:r>
            <a:endParaRPr lang="en-US" sz="18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1-g'oya: filament holati x</a:t>
            </a:r>
            <a:endParaRPr lang="en-US" sz="3000" dirty="0"/>
          </a:p>
        </p:txBody>
      </p:sp>
      <p:sp>
        <p:nvSpPr>
          <p:cNvPr id="3" name="box_175"/>
          <p:cNvSpPr/>
          <p:nvPr/>
        </p:nvSpPr>
        <p:spPr>
          <a:xfrm>
            <a:off x="548640" y="1371600"/>
            <a:ext cx="6583680" cy="1097280"/>
          </a:xfrm>
          <a:prstGeom prst="roundRect">
            <a:avLst>
              <a:gd name="adj" fmla="val 5000"/>
            </a:avLst>
          </a:prstGeom>
          <a:solidFill>
            <a:schemeClr val="bg2"/>
          </a:solidFill>
          <a:ln w="9525">
            <a:solidFill>
              <a:schemeClr val="bg2"/>
            </a:solidFill>
            <a:prstDash val="solid"/>
          </a:ln>
        </p:spPr>
      </p:sp>
      <p:sp>
        <p:nvSpPr>
          <p:cNvPr id="4" name="eq_176"/>
          <p:cNvSpPr txBox="1"/>
          <p:nvPr/>
        </p:nvSpPr>
        <p:spPr>
          <a:xfrm>
            <a:off x="731520" y="1371600"/>
            <a:ext cx="6217920" cy="1097280"/>
          </a:xfrm>
          <a:prstGeom prst="rect">
            <a:avLst/>
          </a:prstGeom>
          <a:noFill/>
          <a:ln/>
        </p:spPr>
        <p:txBody>
          <a:bodyPr wrap="square" lIns="0" tIns="0" rIns="0" bIns="0" rtlCol="0" anchor="ctr"/>
          <a:lstStyle/>
          <a:p>
            <a:pPr algn="ctr" indent="0" marL="0">
              <a:buNone/>
            </a:pPr>
            <a:r>
              <a:rPr lang="en-US" sz="3000" dirty="0">
                <a:solidFill>
                  <a:schemeClr val="tx1"/>
                </a:solidFill>
                <a:latin typeface="Cambria" pitchFamily="34" charset="0"/>
                <a:ea typeface="Cambria" pitchFamily="34" charset="-122"/>
                <a:cs typeface="Cambria" pitchFamily="34" charset="-120"/>
              </a:rPr>
              <a:t>σ</a:t>
            </a:r>
            <a:pPr algn="ctr" indent="0" marL="0">
              <a:buNone/>
            </a:pPr>
            <a:r>
              <a:rPr lang="en-US" sz="3000" baseline="-40000" dirty="0">
                <a:solidFill>
                  <a:schemeClr val="tx1"/>
                </a:solidFill>
                <a:latin typeface="Cambria" pitchFamily="34" charset="0"/>
                <a:ea typeface="Cambria" pitchFamily="34" charset="-122"/>
                <a:cs typeface="Cambria" pitchFamily="34" charset="-120"/>
              </a:rPr>
              <a:t>fil</a:t>
            </a:r>
            <a:pPr algn="ctr" indent="0" marL="0">
              <a:buNone/>
            </a:pPr>
            <a:r>
              <a:rPr lang="en-US" sz="3000" dirty="0">
                <a:solidFill>
                  <a:schemeClr val="tx1"/>
                </a:solidFill>
                <a:latin typeface="Cambria" pitchFamily="34" charset="0"/>
                <a:ea typeface="Cambria" pitchFamily="34" charset="-122"/>
                <a:cs typeface="Cambria" pitchFamily="34" charset="-120"/>
              </a:rPr>
              <a:t> = σ</a:t>
            </a:r>
            <a:pPr algn="ctr" indent="0" marL="0">
              <a:buNone/>
            </a:pPr>
            <a:r>
              <a:rPr lang="en-US" sz="3000" baseline="-40000" dirty="0">
                <a:solidFill>
                  <a:schemeClr val="tx1"/>
                </a:solidFill>
                <a:latin typeface="Cambria" pitchFamily="34" charset="0"/>
                <a:ea typeface="Cambria" pitchFamily="34" charset="-122"/>
                <a:cs typeface="Cambria" pitchFamily="34" charset="-120"/>
              </a:rPr>
              <a:t>off</a:t>
            </a:r>
            <a:pPr algn="ctr" indent="0" marL="0">
              <a:buNone/>
            </a:pPr>
            <a:r>
              <a:rPr lang="en-US" sz="3000" baseline="30000" dirty="0">
                <a:solidFill>
                  <a:schemeClr val="tx1"/>
                </a:solidFill>
                <a:latin typeface="Cambria" pitchFamily="34" charset="0"/>
                <a:ea typeface="Cambria" pitchFamily="34" charset="-122"/>
                <a:cs typeface="Cambria" pitchFamily="34" charset="-120"/>
              </a:rPr>
              <a:t> 1 − x</a:t>
            </a:r>
            <a:pPr algn="ctr" indent="0" marL="0">
              <a:buNone/>
            </a:pPr>
            <a:r>
              <a:rPr lang="en-US" sz="3000" dirty="0">
                <a:solidFill>
                  <a:schemeClr val="tx1"/>
                </a:solidFill>
                <a:latin typeface="Cambria" pitchFamily="34" charset="0"/>
                <a:ea typeface="Cambria" pitchFamily="34" charset="-122"/>
                <a:cs typeface="Cambria" pitchFamily="34" charset="-120"/>
              </a:rPr>
              <a:t> · σ</a:t>
            </a:r>
            <a:pPr algn="ctr" indent="0" marL="0">
              <a:buNone/>
            </a:pPr>
            <a:r>
              <a:rPr lang="en-US" sz="3000" baseline="-40000" dirty="0">
                <a:solidFill>
                  <a:schemeClr val="tx1"/>
                </a:solidFill>
                <a:latin typeface="Cambria" pitchFamily="34" charset="0"/>
                <a:ea typeface="Cambria" pitchFamily="34" charset="-122"/>
                <a:cs typeface="Cambria" pitchFamily="34" charset="-120"/>
              </a:rPr>
              <a:t>on</a:t>
            </a:r>
            <a:pPr algn="ctr" indent="0" marL="0">
              <a:buNone/>
            </a:pPr>
            <a:r>
              <a:rPr lang="en-US" sz="3000" baseline="30000" dirty="0">
                <a:solidFill>
                  <a:schemeClr val="tx1"/>
                </a:solidFill>
                <a:latin typeface="Cambria" pitchFamily="34" charset="0"/>
                <a:ea typeface="Cambria" pitchFamily="34" charset="-122"/>
                <a:cs typeface="Cambria" pitchFamily="34" charset="-120"/>
              </a:rPr>
              <a:t> x</a:t>
            </a:r>
            <a:endParaRPr lang="en-US" sz="3000" dirty="0"/>
          </a:p>
        </p:txBody>
      </p:sp>
      <p:sp>
        <p:nvSpPr>
          <p:cNvPr id="5" name="bar_177"/>
          <p:cNvSpPr/>
          <p:nvPr/>
        </p:nvSpPr>
        <p:spPr>
          <a:xfrm>
            <a:off x="731520" y="3063240"/>
            <a:ext cx="3108960" cy="411480"/>
          </a:xfrm>
          <a:prstGeom prst="rect">
            <a:avLst/>
          </a:prstGeom>
          <a:solidFill>
            <a:schemeClr val="accent2"/>
          </a:solidFill>
          <a:ln w="12700">
            <a:solidFill>
              <a:schemeClr val="accent2"/>
            </a:solidFill>
            <a:prstDash val="solid"/>
          </a:ln>
        </p:spPr>
      </p:sp>
      <p:sp>
        <p:nvSpPr>
          <p:cNvPr id="6" name="bar_178"/>
          <p:cNvSpPr/>
          <p:nvPr/>
        </p:nvSpPr>
        <p:spPr>
          <a:xfrm>
            <a:off x="3840480" y="3063240"/>
            <a:ext cx="3108960" cy="411480"/>
          </a:xfrm>
          <a:prstGeom prst="rect">
            <a:avLst/>
          </a:prstGeom>
          <a:solidFill>
            <a:schemeClr val="accent1"/>
          </a:solidFill>
          <a:ln w="12700">
            <a:solidFill>
              <a:schemeClr val="accent1"/>
            </a:solidFill>
            <a:prstDash val="solid"/>
          </a:ln>
        </p:spPr>
      </p:sp>
      <p:sp>
        <p:nvSpPr>
          <p:cNvPr id="7" name="text_179"/>
          <p:cNvSpPr txBox="1"/>
          <p:nvPr/>
        </p:nvSpPr>
        <p:spPr>
          <a:xfrm>
            <a:off x="731520" y="3566160"/>
            <a:ext cx="3108960" cy="365760"/>
          </a:xfrm>
          <a:prstGeom prst="rect">
            <a:avLst/>
          </a:prstGeom>
          <a:noFill/>
          <a:ln/>
        </p:spPr>
        <p:txBody>
          <a:bodyPr wrap="square" lIns="635" tIns="635" rIns="635" bIns="635" rtlCol="0" anchor="t"/>
          <a:lstStyle/>
          <a:p>
            <a:pPr indent="0" marL="0">
              <a:buNone/>
            </a:pPr>
            <a:r>
              <a:rPr lang="en-US" sz="1400" b="1" dirty="0">
                <a:solidFill>
                  <a:schemeClr val="accent2"/>
                </a:solidFill>
              </a:rPr>
              <a:t>x = 0: OFF, filament yo'q</a:t>
            </a:r>
            <a:endParaRPr lang="en-US" sz="1400" dirty="0"/>
          </a:p>
        </p:txBody>
      </p:sp>
      <p:sp>
        <p:nvSpPr>
          <p:cNvPr id="8" name="text_180"/>
          <p:cNvSpPr txBox="1"/>
          <p:nvPr/>
        </p:nvSpPr>
        <p:spPr>
          <a:xfrm>
            <a:off x="3840480" y="3566160"/>
            <a:ext cx="3108960" cy="365760"/>
          </a:xfrm>
          <a:prstGeom prst="rect">
            <a:avLst/>
          </a:prstGeom>
          <a:noFill/>
          <a:ln/>
        </p:spPr>
        <p:txBody>
          <a:bodyPr wrap="square" lIns="635" tIns="635" rIns="635" bIns="635" rtlCol="0" anchor="t"/>
          <a:lstStyle/>
          <a:p>
            <a:pPr algn="r" indent="0" marL="0">
              <a:buNone/>
            </a:pPr>
            <a:r>
              <a:rPr lang="en-US" sz="1400" b="1" dirty="0">
                <a:solidFill>
                  <a:schemeClr val="accent1"/>
                </a:solidFill>
              </a:rPr>
              <a:t>x = 1: ON, filament to'liq</a:t>
            </a:r>
            <a:endParaRPr lang="en-US" sz="1400" dirty="0"/>
          </a:p>
        </p:txBody>
      </p:sp>
      <p:sp>
        <p:nvSpPr>
          <p:cNvPr id="9" name="text_181"/>
          <p:cNvSpPr txBox="1"/>
          <p:nvPr/>
        </p:nvSpPr>
        <p:spPr>
          <a:xfrm>
            <a:off x="731520" y="4114800"/>
            <a:ext cx="6217920" cy="731520"/>
          </a:xfrm>
          <a:prstGeom prst="rect">
            <a:avLst/>
          </a:prstGeom>
          <a:noFill/>
          <a:ln/>
        </p:spPr>
        <p:txBody>
          <a:bodyPr wrap="square" lIns="635" tIns="635" rIns="635" bIns="635" rtlCol="0" anchor="t"/>
          <a:lstStyle/>
          <a:p>
            <a:pPr indent="0" marL="0">
              <a:buNone/>
            </a:pPr>
            <a:r>
              <a:rPr lang="en-US" sz="1500" dirty="0">
                <a:solidFill>
                  <a:schemeClr val="tx1"/>
                </a:solidFill>
              </a:rPr>
              <a:t>x — 0 dan 1 gacha bo'lgan son. U elementning “qancha ON ekanini” bildiradi.</a:t>
            </a:r>
            <a:endParaRPr lang="en-US" sz="1500" dirty="0"/>
          </a:p>
        </p:txBody>
      </p:sp>
      <p:sp>
        <p:nvSpPr>
          <p:cNvPr id="10" name="bul_182"/>
          <p:cNvSpPr txBox="1"/>
          <p:nvPr/>
        </p:nvSpPr>
        <p:spPr>
          <a:xfrm>
            <a:off x="7498080" y="1371600"/>
            <a:ext cx="4206240" cy="484632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Nega bitta son? </a:t>
            </a:r>
            <a:pPr indent="0" marL="0">
              <a:buNone/>
            </a:pPr>
            <a:r>
              <a:rPr lang="en-US" sz="1500" dirty="0">
                <a:solidFill>
                  <a:schemeClr val="tx1"/>
                </a:solidFill>
              </a:rPr>
              <a:t>Filament shaklini hisoblash juda murakkab. Uning ta'sirini bitta o'zgaruvchi bilan ifodalaymiz (memristor modellaridagi standart usul).</a:t>
            </a:r>
            <a:endParaRPr lang="en-US" sz="1500" dirty="0"/>
          </a:p>
          <a:p>
            <a:pPr marL="228600" indent="-228600">
              <a:spcAft>
                <a:spcPts val="800"/>
              </a:spcAft>
              <a:buSzPct val="100000"/>
              <a:buChar char="•"/>
            </a:pPr>
            <a:r>
              <a:rPr lang="en-US" sz="1500" b="1" dirty="0">
                <a:solidFill>
                  <a:schemeClr val="tx1"/>
                </a:solidFill>
              </a:rPr>
              <a:t>Nega darajali (log) aralashtirish? </a:t>
            </a:r>
            <a:pPr indent="0" marL="0">
              <a:buNone/>
            </a:pPr>
            <a:r>
              <a:rPr lang="en-US" sz="1500" dirty="0">
                <a:solidFill>
                  <a:schemeClr val="tx1"/>
                </a:solidFill>
              </a:rPr>
              <a:t>σ_on va σ_off bir-biridan ko'p tartibga farq qiladi. Darajali formula x o'zgarganda qarshilikni bir tekis, tartib-tartib bilan o'zgartiradi.</a:t>
            </a:r>
            <a:endParaRPr lang="en-US" sz="1500" dirty="0"/>
          </a:p>
          <a:p>
            <a:pPr marL="228600" indent="-228600">
              <a:spcAft>
                <a:spcPts val="800"/>
              </a:spcAft>
              <a:buSzPct val="100000"/>
              <a:buChar char="•"/>
            </a:pPr>
            <a:r>
              <a:rPr lang="en-US" sz="1500" b="1" dirty="0">
                <a:solidFill>
                  <a:schemeClr val="tx1"/>
                </a:solidFill>
              </a:rPr>
              <a:t>Oddiy aralashtirish bo'lsa </a:t>
            </a:r>
            <a:pPr indent="0" marL="0">
              <a:buNone/>
            </a:pPr>
            <a:r>
              <a:rPr lang="en-US" sz="1500" dirty="0">
                <a:solidFill>
                  <a:schemeClr val="tx1"/>
                </a:solidFill>
              </a:rPr>
              <a:t>(1−x)σ_off + xσ_on, x = 0.01 da ham element deyarli ON bo'lib qolardi.</a:t>
            </a:r>
            <a:endParaRPr lang="en-US" sz="15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2-tenglama: x qanchalik tez o'zgaradi</a:t>
            </a:r>
            <a:endParaRPr lang="en-US" sz="3000" dirty="0"/>
          </a:p>
        </p:txBody>
      </p:sp>
      <p:sp>
        <p:nvSpPr>
          <p:cNvPr id="3" name="box_183"/>
          <p:cNvSpPr/>
          <p:nvPr/>
        </p:nvSpPr>
        <p:spPr>
          <a:xfrm>
            <a:off x="548640" y="1325880"/>
            <a:ext cx="11064240" cy="1005840"/>
          </a:xfrm>
          <a:prstGeom prst="roundRect">
            <a:avLst>
              <a:gd name="adj" fmla="val 5455"/>
            </a:avLst>
          </a:prstGeom>
          <a:solidFill>
            <a:schemeClr val="bg2"/>
          </a:solidFill>
          <a:ln w="9525">
            <a:solidFill>
              <a:schemeClr val="bg2"/>
            </a:solidFill>
            <a:prstDash val="solid"/>
          </a:ln>
        </p:spPr>
      </p:sp>
      <p:sp>
        <p:nvSpPr>
          <p:cNvPr id="4" name="eq_184"/>
          <p:cNvSpPr txBox="1"/>
          <p:nvPr/>
        </p:nvSpPr>
        <p:spPr>
          <a:xfrm>
            <a:off x="731520" y="1325880"/>
            <a:ext cx="10698480" cy="1005840"/>
          </a:xfrm>
          <a:prstGeom prst="rect">
            <a:avLst/>
          </a:prstGeom>
          <a:noFill/>
          <a:ln/>
        </p:spPr>
        <p:txBody>
          <a:bodyPr wrap="square" lIns="0" tIns="0" rIns="0" bIns="0" rtlCol="0" anchor="ctr"/>
          <a:lstStyle/>
          <a:p>
            <a:pPr algn="ctr" indent="0" marL="0">
              <a:buNone/>
            </a:pPr>
            <a:r>
              <a:rPr lang="en-US" sz="2400" dirty="0">
                <a:solidFill>
                  <a:schemeClr val="tx1"/>
                </a:solidFill>
                <a:latin typeface="Cambria" pitchFamily="34" charset="0"/>
                <a:ea typeface="Cambria" pitchFamily="34" charset="-122"/>
                <a:cs typeface="Cambria" pitchFamily="34" charset="-120"/>
              </a:rPr>
              <a:t>dx/dt = k</a:t>
            </a:r>
            <a:pPr algn="ctr" indent="0" marL="0">
              <a:buNone/>
            </a:pPr>
            <a:r>
              <a:rPr lang="en-US" sz="2400" baseline="-40000" dirty="0">
                <a:solidFill>
                  <a:schemeClr val="tx1"/>
                </a:solidFill>
                <a:latin typeface="Cambria" pitchFamily="34" charset="0"/>
                <a:ea typeface="Cambria" pitchFamily="34" charset="-122"/>
                <a:cs typeface="Cambria" pitchFamily="34" charset="-120"/>
              </a:rPr>
              <a:t>0</a:t>
            </a:r>
            <a:pPr algn="ctr" indent="0" marL="0">
              <a:buNone/>
            </a:pPr>
            <a:r>
              <a:rPr lang="en-US" sz="2400" dirty="0">
                <a:solidFill>
                  <a:schemeClr val="tx1"/>
                </a:solidFill>
                <a:latin typeface="Cambria" pitchFamily="34" charset="0"/>
                <a:ea typeface="Cambria" pitchFamily="34" charset="-122"/>
                <a:cs typeface="Cambria" pitchFamily="34" charset="-120"/>
              </a:rPr>
              <a:t>·exp(−E</a:t>
            </a:r>
            <a:pPr algn="ctr" indent="0" marL="0">
              <a:buNone/>
            </a:pPr>
            <a:r>
              <a:rPr lang="en-US" sz="2400" baseline="-40000" dirty="0">
                <a:solidFill>
                  <a:schemeClr val="tx1"/>
                </a:solidFill>
                <a:latin typeface="Cambria" pitchFamily="34" charset="0"/>
                <a:ea typeface="Cambria" pitchFamily="34" charset="-122"/>
                <a:cs typeface="Cambria" pitchFamily="34" charset="-120"/>
              </a:rPr>
              <a:t>a</a:t>
            </a:r>
            <a:pPr algn="ctr" indent="0" marL="0">
              <a:buNone/>
            </a:pPr>
            <a:r>
              <a:rPr lang="en-US" sz="2400" dirty="0">
                <a:solidFill>
                  <a:schemeClr val="tx1"/>
                </a:solidFill>
                <a:latin typeface="Cambria" pitchFamily="34" charset="0"/>
                <a:ea typeface="Cambria" pitchFamily="34" charset="-122"/>
                <a:cs typeface="Cambria" pitchFamily="34" charset="-120"/>
              </a:rPr>
              <a:t>/k</a:t>
            </a:r>
            <a:pPr algn="ctr" indent="0" marL="0">
              <a:buNone/>
            </a:pPr>
            <a:r>
              <a:rPr lang="en-US" sz="2400" baseline="-40000" dirty="0">
                <a:solidFill>
                  <a:schemeClr val="tx1"/>
                </a:solidFill>
                <a:latin typeface="Cambria" pitchFamily="34" charset="0"/>
                <a:ea typeface="Cambria" pitchFamily="34" charset="-122"/>
                <a:cs typeface="Cambria" pitchFamily="34" charset="-120"/>
              </a:rPr>
              <a:t>B</a:t>
            </a:r>
            <a:pPr algn="ctr" indent="0" marL="0">
              <a:buNone/>
            </a:pPr>
            <a:r>
              <a:rPr lang="en-US" sz="2400" dirty="0">
                <a:solidFill>
                  <a:schemeClr val="tx1"/>
                </a:solidFill>
                <a:latin typeface="Cambria" pitchFamily="34" charset="0"/>
                <a:ea typeface="Cambria" pitchFamily="34" charset="-122"/>
                <a:cs typeface="Cambria" pitchFamily="34" charset="-120"/>
              </a:rPr>
              <a:t>T) · sinh(q·a·E/2k</a:t>
            </a:r>
            <a:pPr algn="ctr" indent="0" marL="0">
              <a:buNone/>
            </a:pPr>
            <a:r>
              <a:rPr lang="en-US" sz="2400" baseline="-40000" dirty="0">
                <a:solidFill>
                  <a:schemeClr val="tx1"/>
                </a:solidFill>
                <a:latin typeface="Cambria" pitchFamily="34" charset="0"/>
                <a:ea typeface="Cambria" pitchFamily="34" charset="-122"/>
                <a:cs typeface="Cambria" pitchFamily="34" charset="-120"/>
              </a:rPr>
              <a:t>B</a:t>
            </a:r>
            <a:pPr algn="ctr" indent="0" marL="0">
              <a:buNone/>
            </a:pPr>
            <a:r>
              <a:rPr lang="en-US" sz="2400" dirty="0">
                <a:solidFill>
                  <a:schemeClr val="tx1"/>
                </a:solidFill>
                <a:latin typeface="Cambria" pitchFamily="34" charset="0"/>
                <a:ea typeface="Cambria" pitchFamily="34" charset="-122"/>
                <a:cs typeface="Cambria" pitchFamily="34" charset="-120"/>
              </a:rPr>
              <a:t>T) · F(x) − x/τ</a:t>
            </a:r>
            <a:pPr algn="ctr" indent="0" marL="0">
              <a:buNone/>
            </a:pPr>
            <a:r>
              <a:rPr lang="en-US" sz="2400" baseline="-40000" dirty="0">
                <a:solidFill>
                  <a:schemeClr val="tx1"/>
                </a:solidFill>
                <a:latin typeface="Cambria" pitchFamily="34" charset="0"/>
                <a:ea typeface="Cambria" pitchFamily="34" charset="-122"/>
                <a:cs typeface="Cambria" pitchFamily="34" charset="-120"/>
              </a:rPr>
              <a:t>rel</a:t>
            </a:r>
            <a:endParaRPr lang="en-US" sz="2400" dirty="0"/>
          </a:p>
        </p:txBody>
      </p:sp>
      <p:sp>
        <p:nvSpPr>
          <p:cNvPr id="5" name="box_185"/>
          <p:cNvSpPr/>
          <p:nvPr/>
        </p:nvSpPr>
        <p:spPr>
          <a:xfrm>
            <a:off x="548640" y="2606040"/>
            <a:ext cx="2606040" cy="3429000"/>
          </a:xfrm>
          <a:prstGeom prst="roundRect">
            <a:avLst>
              <a:gd name="adj" fmla="val 2807"/>
            </a:avLst>
          </a:prstGeom>
          <a:solidFill>
            <a:schemeClr val="bg2"/>
          </a:solidFill>
          <a:ln w="9525">
            <a:solidFill>
              <a:schemeClr val="bg2"/>
            </a:solidFill>
            <a:prstDash val="solid"/>
          </a:ln>
        </p:spPr>
      </p:sp>
      <p:sp>
        <p:nvSpPr>
          <p:cNvPr id="6" name="text_186"/>
          <p:cNvSpPr txBox="1"/>
          <p:nvPr/>
        </p:nvSpPr>
        <p:spPr>
          <a:xfrm>
            <a:off x="731520" y="2743200"/>
            <a:ext cx="2286000" cy="457200"/>
          </a:xfrm>
          <a:prstGeom prst="rect">
            <a:avLst/>
          </a:prstGeom>
          <a:noFill/>
          <a:ln/>
        </p:spPr>
        <p:txBody>
          <a:bodyPr wrap="square" lIns="635" tIns="635" rIns="635" bIns="635"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k₀·exp(−Eₐ/k_BT)</a:t>
            </a:r>
            <a:endParaRPr lang="en-US" sz="1500" dirty="0"/>
          </a:p>
        </p:txBody>
      </p:sp>
      <p:sp>
        <p:nvSpPr>
          <p:cNvPr id="7" name="text_187"/>
          <p:cNvSpPr txBox="1"/>
          <p:nvPr/>
        </p:nvSpPr>
        <p:spPr>
          <a:xfrm>
            <a:off x="731520" y="3200400"/>
            <a:ext cx="2286000" cy="548640"/>
          </a:xfrm>
          <a:prstGeom prst="rect">
            <a:avLst/>
          </a:prstGeom>
          <a:noFill/>
          <a:ln/>
        </p:spPr>
        <p:txBody>
          <a:bodyPr wrap="square" lIns="635" tIns="635" rIns="635" bIns="635" rtlCol="0" anchor="t"/>
          <a:lstStyle/>
          <a:p>
            <a:pPr indent="0" marL="0">
              <a:buNone/>
            </a:pPr>
            <a:r>
              <a:rPr lang="en-US" sz="1600" b="1" dirty="0">
                <a:solidFill>
                  <a:schemeClr val="tx1"/>
                </a:solidFill>
              </a:rPr>
              <a:t>Atom to'siqdan sakrab o'tishi</a:t>
            </a:r>
            <a:endParaRPr lang="en-US" sz="1600" dirty="0"/>
          </a:p>
        </p:txBody>
      </p:sp>
      <p:sp>
        <p:nvSpPr>
          <p:cNvPr id="8" name="text_188"/>
          <p:cNvSpPr txBox="1"/>
          <p:nvPr/>
        </p:nvSpPr>
        <p:spPr>
          <a:xfrm>
            <a:off x="731520" y="3794760"/>
            <a:ext cx="2286000" cy="2194560"/>
          </a:xfrm>
          <a:prstGeom prst="rect">
            <a:avLst/>
          </a:prstGeom>
          <a:noFill/>
          <a:ln/>
        </p:spPr>
        <p:txBody>
          <a:bodyPr wrap="square" lIns="635" tIns="635" rIns="635" bIns="635" rtlCol="0" anchor="t"/>
          <a:lstStyle/>
          <a:p>
            <a:pPr indent="0" marL="0">
              <a:buNone/>
            </a:pPr>
            <a:r>
              <a:rPr lang="en-US" sz="1300" dirty="0">
                <a:solidFill>
                  <a:schemeClr val="tx1"/>
                </a:solidFill>
              </a:rPr>
              <a:t>k₀ = 10¹³ 1/s — atom sekundiga necha marta “urinishi”. Eₐ — to'siq balandligi (Arrhenius qonuni). Harorat oshsa tezlashadi.</a:t>
            </a:r>
            <a:endParaRPr lang="en-US" sz="1300" dirty="0"/>
          </a:p>
        </p:txBody>
      </p:sp>
      <p:sp>
        <p:nvSpPr>
          <p:cNvPr id="9" name="box_189"/>
          <p:cNvSpPr/>
          <p:nvPr/>
        </p:nvSpPr>
        <p:spPr>
          <a:xfrm>
            <a:off x="3360420" y="2606040"/>
            <a:ext cx="2606040" cy="3429000"/>
          </a:xfrm>
          <a:prstGeom prst="roundRect">
            <a:avLst>
              <a:gd name="adj" fmla="val 2807"/>
            </a:avLst>
          </a:prstGeom>
          <a:solidFill>
            <a:schemeClr val="bg2"/>
          </a:solidFill>
          <a:ln w="9525">
            <a:solidFill>
              <a:schemeClr val="bg2"/>
            </a:solidFill>
            <a:prstDash val="solid"/>
          </a:ln>
        </p:spPr>
      </p:sp>
      <p:sp>
        <p:nvSpPr>
          <p:cNvPr id="10" name="text_190"/>
          <p:cNvSpPr txBox="1"/>
          <p:nvPr/>
        </p:nvSpPr>
        <p:spPr>
          <a:xfrm>
            <a:off x="3543300" y="2743200"/>
            <a:ext cx="2286000" cy="457200"/>
          </a:xfrm>
          <a:prstGeom prst="rect">
            <a:avLst/>
          </a:prstGeom>
          <a:noFill/>
          <a:ln/>
        </p:spPr>
        <p:txBody>
          <a:bodyPr wrap="square" lIns="635" tIns="635" rIns="635" bIns="635"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sinh(q·a·E/2k_BT)</a:t>
            </a:r>
            <a:endParaRPr lang="en-US" sz="1500" dirty="0"/>
          </a:p>
        </p:txBody>
      </p:sp>
      <p:sp>
        <p:nvSpPr>
          <p:cNvPr id="11" name="text_191"/>
          <p:cNvSpPr txBox="1"/>
          <p:nvPr/>
        </p:nvSpPr>
        <p:spPr>
          <a:xfrm>
            <a:off x="3543300" y="3200400"/>
            <a:ext cx="2286000" cy="548640"/>
          </a:xfrm>
          <a:prstGeom prst="rect">
            <a:avLst/>
          </a:prstGeom>
          <a:noFill/>
          <a:ln/>
        </p:spPr>
        <p:txBody>
          <a:bodyPr wrap="square" lIns="635" tIns="635" rIns="635" bIns="635" rtlCol="0" anchor="t"/>
          <a:lstStyle/>
          <a:p>
            <a:pPr indent="0" marL="0">
              <a:buNone/>
            </a:pPr>
            <a:r>
              <a:rPr lang="en-US" sz="1600" b="1" dirty="0">
                <a:solidFill>
                  <a:schemeClr val="tx1"/>
                </a:solidFill>
              </a:rPr>
              <a:t>Elektr maydon yordami</a:t>
            </a:r>
            <a:endParaRPr lang="en-US" sz="1600" dirty="0"/>
          </a:p>
        </p:txBody>
      </p:sp>
      <p:sp>
        <p:nvSpPr>
          <p:cNvPr id="12" name="text_192"/>
          <p:cNvSpPr txBox="1"/>
          <p:nvPr/>
        </p:nvSpPr>
        <p:spPr>
          <a:xfrm>
            <a:off x="3543300" y="3794760"/>
            <a:ext cx="2286000" cy="2194560"/>
          </a:xfrm>
          <a:prstGeom prst="rect">
            <a:avLst/>
          </a:prstGeom>
          <a:noFill/>
          <a:ln/>
        </p:spPr>
        <p:txBody>
          <a:bodyPr wrap="square" lIns="635" tIns="635" rIns="635" bIns="635" rtlCol="0" anchor="t"/>
          <a:lstStyle/>
          <a:p>
            <a:pPr indent="0" marL="0">
              <a:buNone/>
            </a:pPr>
            <a:r>
              <a:rPr lang="en-US" sz="1300" dirty="0">
                <a:solidFill>
                  <a:schemeClr val="tx1"/>
                </a:solidFill>
              </a:rPr>
              <a:t>E &gt; 0: musbat, x o'sadi (SET). E &lt; 0: manfiy, x kamayadi (RESET). E kichik bo'lsa deyarli nol. Shu tufayli element qutbga bog'liq.</a:t>
            </a:r>
            <a:endParaRPr lang="en-US" sz="1300" dirty="0"/>
          </a:p>
        </p:txBody>
      </p:sp>
      <p:sp>
        <p:nvSpPr>
          <p:cNvPr id="13" name="box_193"/>
          <p:cNvSpPr/>
          <p:nvPr/>
        </p:nvSpPr>
        <p:spPr>
          <a:xfrm>
            <a:off x="6172200" y="2606040"/>
            <a:ext cx="2606040" cy="3429000"/>
          </a:xfrm>
          <a:prstGeom prst="roundRect">
            <a:avLst>
              <a:gd name="adj" fmla="val 2807"/>
            </a:avLst>
          </a:prstGeom>
          <a:solidFill>
            <a:schemeClr val="bg2"/>
          </a:solidFill>
          <a:ln w="9525">
            <a:solidFill>
              <a:schemeClr val="bg2"/>
            </a:solidFill>
            <a:prstDash val="solid"/>
          </a:ln>
        </p:spPr>
      </p:sp>
      <p:sp>
        <p:nvSpPr>
          <p:cNvPr id="14" name="text_194"/>
          <p:cNvSpPr txBox="1"/>
          <p:nvPr/>
        </p:nvSpPr>
        <p:spPr>
          <a:xfrm>
            <a:off x="6355080" y="2743200"/>
            <a:ext cx="2286000" cy="457200"/>
          </a:xfrm>
          <a:prstGeom prst="rect">
            <a:avLst/>
          </a:prstGeom>
          <a:noFill/>
          <a:ln/>
        </p:spPr>
        <p:txBody>
          <a:bodyPr wrap="square" lIns="635" tIns="635" rIns="635" bIns="635"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F(x)</a:t>
            </a:r>
            <a:endParaRPr lang="en-US" sz="1500" dirty="0"/>
          </a:p>
        </p:txBody>
      </p:sp>
      <p:sp>
        <p:nvSpPr>
          <p:cNvPr id="15" name="text_195"/>
          <p:cNvSpPr txBox="1"/>
          <p:nvPr/>
        </p:nvSpPr>
        <p:spPr>
          <a:xfrm>
            <a:off x="6355080" y="3200400"/>
            <a:ext cx="2286000" cy="548640"/>
          </a:xfrm>
          <a:prstGeom prst="rect">
            <a:avLst/>
          </a:prstGeom>
          <a:noFill/>
          <a:ln/>
        </p:spPr>
        <p:txBody>
          <a:bodyPr wrap="square" lIns="635" tIns="635" rIns="635" bIns="635" rtlCol="0" anchor="t"/>
          <a:lstStyle/>
          <a:p>
            <a:pPr indent="0" marL="0">
              <a:buNone/>
            </a:pPr>
            <a:r>
              <a:rPr lang="en-US" sz="1600" b="1" dirty="0">
                <a:solidFill>
                  <a:schemeClr val="tx1"/>
                </a:solidFill>
              </a:rPr>
              <a:t>Oyna funksiyasi</a:t>
            </a:r>
            <a:endParaRPr lang="en-US" sz="1600" dirty="0"/>
          </a:p>
        </p:txBody>
      </p:sp>
      <p:sp>
        <p:nvSpPr>
          <p:cNvPr id="16" name="text_196"/>
          <p:cNvSpPr txBox="1"/>
          <p:nvPr/>
        </p:nvSpPr>
        <p:spPr>
          <a:xfrm>
            <a:off x="6355080" y="3794760"/>
            <a:ext cx="2286000" cy="2194560"/>
          </a:xfrm>
          <a:prstGeom prst="rect">
            <a:avLst/>
          </a:prstGeom>
          <a:noFill/>
          <a:ln/>
        </p:spPr>
        <p:txBody>
          <a:bodyPr wrap="square" lIns="635" tIns="635" rIns="635" bIns="635" rtlCol="0" anchor="t"/>
          <a:lstStyle/>
          <a:p>
            <a:pPr indent="0" marL="0">
              <a:buNone/>
            </a:pPr>
            <a:r>
              <a:rPr lang="en-US" sz="1300" dirty="0">
                <a:solidFill>
                  <a:schemeClr val="tx1"/>
                </a:solidFill>
              </a:rPr>
              <a:t>x ni 0 va 1 orasida ushlab turadi: chegaraga yaqinlashganda o'sish to'xtaydi (Biolek oynasi).</a:t>
            </a:r>
            <a:endParaRPr lang="en-US" sz="1300" dirty="0"/>
          </a:p>
        </p:txBody>
      </p:sp>
      <p:sp>
        <p:nvSpPr>
          <p:cNvPr id="17" name="box_197"/>
          <p:cNvSpPr/>
          <p:nvPr/>
        </p:nvSpPr>
        <p:spPr>
          <a:xfrm>
            <a:off x="8983980" y="2606040"/>
            <a:ext cx="2606040" cy="3429000"/>
          </a:xfrm>
          <a:prstGeom prst="roundRect">
            <a:avLst>
              <a:gd name="adj" fmla="val 2807"/>
            </a:avLst>
          </a:prstGeom>
          <a:solidFill>
            <a:schemeClr val="bg2"/>
          </a:solidFill>
          <a:ln w="9525">
            <a:solidFill>
              <a:schemeClr val="bg2"/>
            </a:solidFill>
            <a:prstDash val="solid"/>
          </a:ln>
        </p:spPr>
      </p:sp>
      <p:sp>
        <p:nvSpPr>
          <p:cNvPr id="18" name="text_198"/>
          <p:cNvSpPr txBox="1"/>
          <p:nvPr/>
        </p:nvSpPr>
        <p:spPr>
          <a:xfrm>
            <a:off x="9166860" y="2743200"/>
            <a:ext cx="2286000" cy="457200"/>
          </a:xfrm>
          <a:prstGeom prst="rect">
            <a:avLst/>
          </a:prstGeom>
          <a:noFill/>
          <a:ln/>
        </p:spPr>
        <p:txBody>
          <a:bodyPr wrap="square" lIns="635" tIns="635" rIns="635" bIns="635"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 x/τ_rel</a:t>
            </a:r>
            <a:endParaRPr lang="en-US" sz="1500" dirty="0"/>
          </a:p>
        </p:txBody>
      </p:sp>
      <p:sp>
        <p:nvSpPr>
          <p:cNvPr id="19" name="text_199"/>
          <p:cNvSpPr txBox="1"/>
          <p:nvPr/>
        </p:nvSpPr>
        <p:spPr>
          <a:xfrm>
            <a:off x="9166860" y="3200400"/>
            <a:ext cx="2286000" cy="548640"/>
          </a:xfrm>
          <a:prstGeom prst="rect">
            <a:avLst/>
          </a:prstGeom>
          <a:noFill/>
          <a:ln/>
        </p:spPr>
        <p:txBody>
          <a:bodyPr wrap="square" lIns="635" tIns="635" rIns="635" bIns="635" rtlCol="0" anchor="t"/>
          <a:lstStyle/>
          <a:p>
            <a:pPr indent="0" marL="0">
              <a:buNone/>
            </a:pPr>
            <a:r>
              <a:rPr lang="en-US" sz="1600" b="1" dirty="0">
                <a:solidFill>
                  <a:schemeClr val="tx1"/>
                </a:solidFill>
              </a:rPr>
              <a:t>O'z-o'zidan so'nish</a:t>
            </a:r>
            <a:endParaRPr lang="en-US" sz="1600" dirty="0"/>
          </a:p>
        </p:txBody>
      </p:sp>
      <p:sp>
        <p:nvSpPr>
          <p:cNvPr id="20" name="text_200"/>
          <p:cNvSpPr txBox="1"/>
          <p:nvPr/>
        </p:nvSpPr>
        <p:spPr>
          <a:xfrm>
            <a:off x="9166860" y="3794760"/>
            <a:ext cx="2286000" cy="2194560"/>
          </a:xfrm>
          <a:prstGeom prst="rect">
            <a:avLst/>
          </a:prstGeom>
          <a:noFill/>
          <a:ln/>
        </p:spPr>
        <p:txBody>
          <a:bodyPr wrap="square" lIns="635" tIns="635" rIns="635" bIns="635" rtlCol="0" anchor="t"/>
          <a:lstStyle/>
          <a:p>
            <a:pPr indent="0" marL="0">
              <a:buNone/>
            </a:pPr>
            <a:r>
              <a:rPr lang="en-US" sz="1300" dirty="0">
                <a:solidFill>
                  <a:schemeClr val="tx1"/>
                </a:solidFill>
              </a:rPr>
              <a:t>Kuchlanish bo'lmasa filament qanchalik tez yo'qoladi. τ_rel katta: xotira; kichik: volatil.</a:t>
            </a:r>
            <a:endParaRPr lang="en-US" sz="1300" dirty="0"/>
          </a:p>
        </p:txBody>
      </p:sp>
      <p:sp>
        <p:nvSpPr>
          <p:cNvPr id="21" name="text_201"/>
          <p:cNvSpPr txBox="1"/>
          <p:nvPr/>
        </p:nvSpPr>
        <p:spPr>
          <a:xfrm>
            <a:off x="548640" y="6126480"/>
            <a:ext cx="11064240" cy="365760"/>
          </a:xfrm>
          <a:prstGeom prst="rect">
            <a:avLst/>
          </a:prstGeom>
          <a:noFill/>
          <a:ln/>
        </p:spPr>
        <p:txBody>
          <a:bodyPr wrap="square" lIns="635" tIns="635" rIns="635" bIns="635" rtlCol="0" anchor="t"/>
          <a:lstStyle/>
          <a:p>
            <a:pPr indent="0" marL="0">
              <a:buNone/>
            </a:pPr>
            <a:r>
              <a:rPr lang="en-US" sz="1300" i="1" dirty="0">
                <a:solidFill>
                  <a:schemeClr val="accent6"/>
                </a:solidFill>
              </a:rPr>
              <a:t>Bu ion sakrashi (Mott–Gurney tipidagi) kinetikasi: maydon to'siqni bir tomonga pasaytiradi, boshqa tomonga oshiradi.</a:t>
            </a:r>
            <a:endParaRPr lang="en-US" sz="13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Nega SET va RESET uchun parametrlar har xil</a:t>
            </a:r>
            <a:endParaRPr lang="en-US" sz="3000" dirty="0"/>
          </a:p>
        </p:txBody>
      </p:sp>
      <p:sp>
        <p:nvSpPr>
          <p:cNvPr id="3" name="box_202"/>
          <p:cNvSpPr/>
          <p:nvPr/>
        </p:nvSpPr>
        <p:spPr>
          <a:xfrm>
            <a:off x="548640" y="1417320"/>
            <a:ext cx="3291840" cy="3108960"/>
          </a:xfrm>
          <a:prstGeom prst="roundRect">
            <a:avLst>
              <a:gd name="adj" fmla="val 2353"/>
            </a:avLst>
          </a:prstGeom>
          <a:solidFill>
            <a:schemeClr val="bg2"/>
          </a:solidFill>
          <a:ln w="9525">
            <a:solidFill>
              <a:schemeClr val="bg2"/>
            </a:solidFill>
            <a:prstDash val="solid"/>
          </a:ln>
        </p:spPr>
      </p:sp>
      <p:sp>
        <p:nvSpPr>
          <p:cNvPr id="4" name="text_203"/>
          <p:cNvSpPr txBox="1"/>
          <p:nvPr/>
        </p:nvSpPr>
        <p:spPr>
          <a:xfrm>
            <a:off x="777240" y="1600200"/>
            <a:ext cx="2834640" cy="457200"/>
          </a:xfrm>
          <a:prstGeom prst="rect">
            <a:avLst/>
          </a:prstGeom>
          <a:noFill/>
          <a:ln/>
        </p:spPr>
        <p:txBody>
          <a:bodyPr wrap="square" lIns="635" tIns="635" rIns="635" bIns="635" rtlCol="0" anchor="t"/>
          <a:lstStyle/>
          <a:p>
            <a:pPr indent="0" marL="0">
              <a:buNone/>
            </a:pPr>
            <a:r>
              <a:rPr lang="en-US" sz="1800" b="1" dirty="0">
                <a:solidFill>
                  <a:schemeClr val="accent1"/>
                </a:solidFill>
              </a:rPr>
              <a:t>SET (OFF → ON)</a:t>
            </a:r>
            <a:endParaRPr lang="en-US" sz="1800" dirty="0"/>
          </a:p>
        </p:txBody>
      </p:sp>
      <p:sp>
        <p:nvSpPr>
          <p:cNvPr id="5" name="bul_204"/>
          <p:cNvSpPr txBox="1"/>
          <p:nvPr/>
        </p:nvSpPr>
        <p:spPr>
          <a:xfrm>
            <a:off x="777240" y="2194560"/>
            <a:ext cx="2926080" cy="2194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Eₐ_SET = </a:t>
            </a:r>
            <a:pPr indent="0" marL="0">
              <a:buNone/>
            </a:pPr>
            <a:r>
              <a:rPr lang="en-US" sz="1500" dirty="0">
                <a:solidFill>
                  <a:schemeClr val="tx1"/>
                </a:solidFill>
              </a:rPr>
              <a:t>0.9 eV</a:t>
            </a:r>
            <a:endParaRPr lang="en-US" sz="1500" dirty="0"/>
          </a:p>
          <a:p>
            <a:pPr marL="228600" indent="-228600">
              <a:spcAft>
                <a:spcPts val="800"/>
              </a:spcAft>
              <a:buSzPct val="100000"/>
              <a:buChar char="•"/>
            </a:pPr>
            <a:r>
              <a:rPr lang="en-US" sz="1500" b="1" dirty="0">
                <a:solidFill>
                  <a:schemeClr val="tx1"/>
                </a:solidFill>
              </a:rPr>
              <a:t>a_SET = </a:t>
            </a:r>
            <a:pPr indent="0" marL="0">
              <a:buNone/>
            </a:pPr>
            <a:r>
              <a:rPr lang="en-US" sz="1500" dirty="0">
                <a:solidFill>
                  <a:schemeClr val="tx1"/>
                </a:solidFill>
              </a:rPr>
              <a:t>0.3 nm</a:t>
            </a:r>
            <a:endParaRPr lang="en-US" sz="1500" dirty="0"/>
          </a:p>
          <a:p>
            <a:pPr marL="228600" indent="-228600">
              <a:spcAft>
                <a:spcPts val="800"/>
              </a:spcAft>
              <a:buSzPct val="100000"/>
              <a:buChar char="•"/>
            </a:pPr>
            <a:r>
              <a:rPr lang="en-US" sz="1500" b="1" dirty="0">
                <a:solidFill>
                  <a:schemeClr val="tx1"/>
                </a:solidFill>
              </a:rPr>
              <a:t>Natija: </a:t>
            </a:r>
            <a:pPr indent="0" marL="0">
              <a:buNone/>
            </a:pPr>
            <a:r>
              <a:rPr lang="en-US" sz="1500" dirty="0">
                <a:solidFill>
                  <a:schemeClr val="tx1"/>
                </a:solidFill>
              </a:rPr>
              <a:t>V_SET ≈ +3.65 V (maqola: +3.5 V)</a:t>
            </a:r>
            <a:endParaRPr lang="en-US" sz="1500" dirty="0"/>
          </a:p>
        </p:txBody>
      </p:sp>
      <p:sp>
        <p:nvSpPr>
          <p:cNvPr id="6" name="box_205"/>
          <p:cNvSpPr/>
          <p:nvPr/>
        </p:nvSpPr>
        <p:spPr>
          <a:xfrm>
            <a:off x="4114800" y="1417320"/>
            <a:ext cx="3291840" cy="3108960"/>
          </a:xfrm>
          <a:prstGeom prst="roundRect">
            <a:avLst>
              <a:gd name="adj" fmla="val 2353"/>
            </a:avLst>
          </a:prstGeom>
          <a:solidFill>
            <a:schemeClr val="bg2"/>
          </a:solidFill>
          <a:ln w="9525">
            <a:solidFill>
              <a:schemeClr val="bg2"/>
            </a:solidFill>
            <a:prstDash val="solid"/>
          </a:ln>
        </p:spPr>
      </p:sp>
      <p:sp>
        <p:nvSpPr>
          <p:cNvPr id="7" name="text_206"/>
          <p:cNvSpPr txBox="1"/>
          <p:nvPr/>
        </p:nvSpPr>
        <p:spPr>
          <a:xfrm>
            <a:off x="4343400" y="1600200"/>
            <a:ext cx="2834640" cy="457200"/>
          </a:xfrm>
          <a:prstGeom prst="rect">
            <a:avLst/>
          </a:prstGeom>
          <a:noFill/>
          <a:ln/>
        </p:spPr>
        <p:txBody>
          <a:bodyPr wrap="square" lIns="635" tIns="635" rIns="635" bIns="635" rtlCol="0" anchor="t"/>
          <a:lstStyle/>
          <a:p>
            <a:pPr indent="0" marL="0">
              <a:buNone/>
            </a:pPr>
            <a:r>
              <a:rPr lang="en-US" sz="1800" b="1" dirty="0">
                <a:solidFill>
                  <a:schemeClr val="accent2"/>
                </a:solidFill>
              </a:rPr>
              <a:t>RESET (ON → OFF)</a:t>
            </a:r>
            <a:endParaRPr lang="en-US" sz="1800" dirty="0"/>
          </a:p>
        </p:txBody>
      </p:sp>
      <p:sp>
        <p:nvSpPr>
          <p:cNvPr id="8" name="bul_207"/>
          <p:cNvSpPr txBox="1"/>
          <p:nvPr/>
        </p:nvSpPr>
        <p:spPr>
          <a:xfrm>
            <a:off x="4343400" y="2194560"/>
            <a:ext cx="2926080" cy="2194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Eₐ_RESET = </a:t>
            </a:r>
            <a:pPr indent="0" marL="0">
              <a:buNone/>
            </a:pPr>
            <a:r>
              <a:rPr lang="en-US" sz="1500" dirty="0">
                <a:solidFill>
                  <a:schemeClr val="tx1"/>
                </a:solidFill>
              </a:rPr>
              <a:t>1.4 eV</a:t>
            </a:r>
            <a:endParaRPr lang="en-US" sz="1500" dirty="0"/>
          </a:p>
          <a:p>
            <a:pPr marL="228600" indent="-228600">
              <a:spcAft>
                <a:spcPts val="800"/>
              </a:spcAft>
              <a:buSzPct val="100000"/>
              <a:buChar char="•"/>
            </a:pPr>
            <a:r>
              <a:rPr lang="en-US" sz="1500" b="1" dirty="0">
                <a:solidFill>
                  <a:schemeClr val="tx1"/>
                </a:solidFill>
              </a:rPr>
              <a:t>z_eff · a_RESET = </a:t>
            </a:r>
            <a:pPr indent="0" marL="0">
              <a:buNone/>
            </a:pPr>
            <a:r>
              <a:rPr lang="en-US" sz="1500" dirty="0">
                <a:solidFill>
                  <a:schemeClr val="tx1"/>
                </a:solidFill>
              </a:rPr>
              <a:t>2.42 · 0.3 = 0.73 nm</a:t>
            </a:r>
            <a:endParaRPr lang="en-US" sz="1500" dirty="0"/>
          </a:p>
          <a:p>
            <a:pPr marL="228600" indent="-228600">
              <a:spcAft>
                <a:spcPts val="800"/>
              </a:spcAft>
              <a:buSzPct val="100000"/>
              <a:buChar char="•"/>
            </a:pPr>
            <a:r>
              <a:rPr lang="en-US" sz="1500" b="1" dirty="0">
                <a:solidFill>
                  <a:schemeClr val="tx1"/>
                </a:solidFill>
              </a:rPr>
              <a:t>Natija: </a:t>
            </a:r>
            <a:pPr indent="0" marL="0">
              <a:buNone/>
            </a:pPr>
            <a:r>
              <a:rPr lang="en-US" sz="1500" dirty="0">
                <a:solidFill>
                  <a:schemeClr val="tx1"/>
                </a:solidFill>
              </a:rPr>
              <a:t>RESET keskin, kengligi ≈ 0.3 V</a:t>
            </a:r>
            <a:endParaRPr lang="en-US" sz="1500" dirty="0"/>
          </a:p>
        </p:txBody>
      </p:sp>
      <p:sp>
        <p:nvSpPr>
          <p:cNvPr id="9" name="box_208"/>
          <p:cNvSpPr/>
          <p:nvPr/>
        </p:nvSpPr>
        <p:spPr>
          <a:xfrm>
            <a:off x="548640" y="4800600"/>
            <a:ext cx="6858000" cy="777240"/>
          </a:xfrm>
          <a:prstGeom prst="roundRect">
            <a:avLst>
              <a:gd name="adj" fmla="val 7059"/>
            </a:avLst>
          </a:prstGeom>
          <a:solidFill>
            <a:schemeClr val="bg2"/>
          </a:solidFill>
          <a:ln w="9525">
            <a:solidFill>
              <a:schemeClr val="bg2"/>
            </a:solidFill>
            <a:prstDash val="solid"/>
          </a:ln>
        </p:spPr>
      </p:sp>
      <p:sp>
        <p:nvSpPr>
          <p:cNvPr id="10" name="eq_209"/>
          <p:cNvSpPr txBox="1"/>
          <p:nvPr/>
        </p:nvSpPr>
        <p:spPr>
          <a:xfrm>
            <a:off x="731520" y="4800600"/>
            <a:ext cx="6492240" cy="777240"/>
          </a:xfrm>
          <a:prstGeom prst="rect">
            <a:avLst/>
          </a:prstGeom>
          <a:noFill/>
          <a:ln/>
        </p:spPr>
        <p:txBody>
          <a:bodyPr wrap="square" lIns="0" tIns="0" rIns="0" bIns="0" rtlCol="0" anchor="ctr"/>
          <a:lstStyle/>
          <a:p>
            <a:pPr algn="ctr" indent="0" marL="0">
              <a:buNone/>
            </a:pPr>
            <a:r>
              <a:rPr lang="en-US" sz="2000" dirty="0">
                <a:solidFill>
                  <a:schemeClr val="tx1"/>
                </a:solidFill>
                <a:latin typeface="Cambria" pitchFamily="34" charset="0"/>
                <a:ea typeface="Cambria" pitchFamily="34" charset="-122"/>
                <a:cs typeface="Cambria" pitchFamily="34" charset="-120"/>
              </a:rPr>
              <a:t>dir = ½·(1 + tanh(E/E</a:t>
            </a:r>
            <a:pPr algn="ctr" indent="0" marL="0">
              <a:buNone/>
            </a:pPr>
            <a:r>
              <a:rPr lang="en-US" sz="2000" baseline="-40000" dirty="0">
                <a:solidFill>
                  <a:schemeClr val="tx1"/>
                </a:solidFill>
                <a:latin typeface="Cambria" pitchFamily="34" charset="0"/>
                <a:ea typeface="Cambria" pitchFamily="34" charset="-122"/>
                <a:cs typeface="Cambria" pitchFamily="34" charset="-120"/>
              </a:rPr>
              <a:t>s</a:t>
            </a:r>
            <a:pPr algn="ctr" indent="0" marL="0">
              <a:buNone/>
            </a:pPr>
            <a:r>
              <a:rPr lang="en-US" sz="2000" dirty="0">
                <a:solidFill>
                  <a:schemeClr val="tx1"/>
                </a:solidFill>
                <a:latin typeface="Cambria" pitchFamily="34" charset="0"/>
                <a:ea typeface="Cambria" pitchFamily="34" charset="-122"/>
                <a:cs typeface="Cambria" pitchFamily="34" charset="-120"/>
              </a:rPr>
              <a:t>))</a:t>
            </a:r>
            <a:endParaRPr lang="en-US" sz="2000" dirty="0"/>
          </a:p>
        </p:txBody>
      </p:sp>
      <p:sp>
        <p:nvSpPr>
          <p:cNvPr id="11" name="text_210"/>
          <p:cNvSpPr txBox="1"/>
          <p:nvPr/>
        </p:nvSpPr>
        <p:spPr>
          <a:xfrm>
            <a:off x="548640" y="5669280"/>
            <a:ext cx="6858000" cy="548640"/>
          </a:xfrm>
          <a:prstGeom prst="rect">
            <a:avLst/>
          </a:prstGeom>
          <a:noFill/>
          <a:ln/>
        </p:spPr>
        <p:txBody>
          <a:bodyPr wrap="square" lIns="635" tIns="635" rIns="635" bIns="635" rtlCol="0" anchor="t"/>
          <a:lstStyle/>
          <a:p>
            <a:pPr indent="0" marL="0">
              <a:buNone/>
            </a:pPr>
            <a:r>
              <a:rPr lang="en-US" sz="1300" dirty="0">
                <a:solidFill>
                  <a:schemeClr val="accent6"/>
                </a:solidFill>
              </a:rPr>
              <a:t>dir ≈ 1 bo'lsa SET parametrlari, dir ≈ 0 bo'lsa RESET parametrlari ishlaydi (silliq almashadi).</a:t>
            </a:r>
            <a:endParaRPr lang="en-US" sz="1300" dirty="0"/>
          </a:p>
        </p:txBody>
      </p:sp>
      <p:sp>
        <p:nvSpPr>
          <p:cNvPr id="12" name="bul_211"/>
          <p:cNvSpPr txBox="1"/>
          <p:nvPr/>
        </p:nvSpPr>
        <p:spPr>
          <a:xfrm>
            <a:off x="7680960" y="1417320"/>
            <a:ext cx="4023360" cy="484632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Sabab — maqolaning o'zi: </a:t>
            </a:r>
            <a:pPr indent="0" marL="0">
              <a:buNone/>
            </a:pPr>
            <a:r>
              <a:rPr lang="en-US" sz="1500" dirty="0">
                <a:solidFill>
                  <a:schemeClr val="tx1"/>
                </a:solidFill>
              </a:rPr>
              <a:t>SET va RESET har xil qutbda, har xil kuchlanishda bo'ladi.</a:t>
            </a:r>
            <a:endParaRPr lang="en-US" sz="1500" dirty="0"/>
          </a:p>
          <a:p>
            <a:pPr marL="228600" indent="-228600">
              <a:spcAft>
                <a:spcPts val="800"/>
              </a:spcAft>
              <a:buSzPct val="100000"/>
              <a:buChar char="•"/>
            </a:pPr>
            <a:r>
              <a:rPr lang="en-US" sz="1500" b="1" dirty="0">
                <a:solidFill>
                  <a:schemeClr val="tx1"/>
                </a:solidFill>
              </a:rPr>
              <a:t>tanh nega? </a:t>
            </a:r>
            <a:pPr indent="0" marL="0">
              <a:buNone/>
            </a:pPr>
            <a:r>
              <a:rPr lang="en-US" sz="1500" dirty="0">
                <a:solidFill>
                  <a:schemeClr val="tx1"/>
                </a:solidFill>
              </a:rPr>
              <a:t>Keskin “if E&gt;0” COMSOL yechuvchisini to'xtatib qo'yadi. tanh xuddi shu ishni silliq bajaradi.</a:t>
            </a:r>
            <a:endParaRPr lang="en-US" sz="1500" dirty="0"/>
          </a:p>
          <a:p>
            <a:pPr marL="228600" indent="-228600">
              <a:spcAft>
                <a:spcPts val="800"/>
              </a:spcAft>
              <a:buSzPct val="100000"/>
              <a:buChar char="•"/>
            </a:pPr>
            <a:r>
              <a:rPr lang="en-US" sz="1500" b="1" dirty="0">
                <a:solidFill>
                  <a:schemeClr val="tx1"/>
                </a:solidFill>
              </a:rPr>
              <a:t>z_eff nima? </a:t>
            </a:r>
            <a:pPr indent="0" marL="0">
              <a:buNone/>
            </a:pPr>
            <a:r>
              <a:rPr lang="en-US" sz="1500" dirty="0">
                <a:solidFill>
                  <a:schemeClr val="tx1"/>
                </a:solidFill>
              </a:rPr>
              <a:t>RESET ni keskinroq qilish uchun kiritilgan ko'paytiruvchi (“ko'p zaryadli ion” farazi). Bu mexanizm o'rganilmagan, sof fitting vositasi.</a:t>
            </a:r>
            <a:endParaRPr lang="en-US" sz="15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3-tenglama: gate “xotirasi” P</a:t>
            </a:r>
            <a:endParaRPr lang="en-US" sz="3000" dirty="0"/>
          </a:p>
        </p:txBody>
      </p:sp>
      <p:sp>
        <p:nvSpPr>
          <p:cNvPr id="3" name="box_212"/>
          <p:cNvSpPr/>
          <p:nvPr/>
        </p:nvSpPr>
        <p:spPr>
          <a:xfrm>
            <a:off x="548640" y="1371600"/>
            <a:ext cx="6035040" cy="868680"/>
          </a:xfrm>
          <a:prstGeom prst="roundRect">
            <a:avLst>
              <a:gd name="adj" fmla="val 6316"/>
            </a:avLst>
          </a:prstGeom>
          <a:solidFill>
            <a:schemeClr val="bg2"/>
          </a:solidFill>
          <a:ln w="9525">
            <a:solidFill>
              <a:schemeClr val="bg2"/>
            </a:solidFill>
            <a:prstDash val="solid"/>
          </a:ln>
        </p:spPr>
      </p:sp>
      <p:sp>
        <p:nvSpPr>
          <p:cNvPr id="4" name="eq_213"/>
          <p:cNvSpPr txBox="1"/>
          <p:nvPr/>
        </p:nvSpPr>
        <p:spPr>
          <a:xfrm>
            <a:off x="731520" y="1371600"/>
            <a:ext cx="5669280" cy="868680"/>
          </a:xfrm>
          <a:prstGeom prst="rect">
            <a:avLst/>
          </a:prstGeom>
          <a:noFill/>
          <a:ln/>
        </p:spPr>
        <p:txBody>
          <a:bodyPr wrap="square" lIns="0" tIns="0" rIns="0" bIns="0" rtlCol="0" anchor="ctr"/>
          <a:lstStyle/>
          <a:p>
            <a:pPr algn="ctr" indent="0" marL="0">
              <a:buNone/>
            </a:pPr>
            <a:r>
              <a:rPr lang="en-US" sz="2100" dirty="0">
                <a:solidFill>
                  <a:schemeClr val="tx1"/>
                </a:solidFill>
                <a:latin typeface="Cambria" pitchFamily="34" charset="0"/>
                <a:ea typeface="Cambria" pitchFamily="34" charset="-122"/>
                <a:cs typeface="Cambria" pitchFamily="34" charset="-120"/>
              </a:rPr>
              <a:t>f</a:t>
            </a:r>
            <a:pPr algn="ctr" indent="0" marL="0">
              <a:buNone/>
            </a:pPr>
            <a:r>
              <a:rPr lang="en-US" sz="2100" baseline="-40000" dirty="0">
                <a:solidFill>
                  <a:schemeClr val="tx1"/>
                </a:solidFill>
                <a:latin typeface="Cambria" pitchFamily="34" charset="0"/>
                <a:ea typeface="Cambria" pitchFamily="34" charset="-122"/>
                <a:cs typeface="Cambria" pitchFamily="34" charset="-120"/>
              </a:rPr>
              <a:t>gate</a:t>
            </a:r>
            <a:pPr algn="ctr" indent="0" marL="0">
              <a:buNone/>
            </a:pPr>
            <a:r>
              <a:rPr lang="en-US" sz="2100" dirty="0">
                <a:solidFill>
                  <a:schemeClr val="tx1"/>
                </a:solidFill>
                <a:latin typeface="Cambria" pitchFamily="34" charset="0"/>
                <a:ea typeface="Cambria" pitchFamily="34" charset="-122"/>
                <a:cs typeface="Cambria" pitchFamily="34" charset="-120"/>
              </a:rPr>
              <a:t> = 1 / (1 + exp(−(U</a:t>
            </a:r>
            <a:pPr algn="ctr" indent="0" marL="0">
              <a:buNone/>
            </a:pPr>
            <a:r>
              <a:rPr lang="en-US" sz="2100" baseline="-40000" dirty="0">
                <a:solidFill>
                  <a:schemeClr val="tx1"/>
                </a:solidFill>
                <a:latin typeface="Cambria" pitchFamily="34" charset="0"/>
                <a:ea typeface="Cambria" pitchFamily="34" charset="-122"/>
                <a:cs typeface="Cambria" pitchFamily="34" charset="-120"/>
              </a:rPr>
              <a:t>gate</a:t>
            </a:r>
            <a:pPr algn="ctr" indent="0" marL="0">
              <a:buNone/>
            </a:pPr>
            <a:r>
              <a:rPr lang="en-US" sz="2100" dirty="0">
                <a:solidFill>
                  <a:schemeClr val="tx1"/>
                </a:solidFill>
                <a:latin typeface="Cambria" pitchFamily="34" charset="0"/>
                <a:ea typeface="Cambria" pitchFamily="34" charset="-122"/>
                <a:cs typeface="Cambria" pitchFamily="34" charset="-120"/>
              </a:rPr>
              <a:t> − U</a:t>
            </a:r>
            <a:pPr algn="ctr" indent="0" marL="0">
              <a:buNone/>
            </a:pPr>
            <a:r>
              <a:rPr lang="en-US" sz="2100" baseline="-40000" dirty="0">
                <a:solidFill>
                  <a:schemeClr val="tx1"/>
                </a:solidFill>
                <a:latin typeface="Cambria" pitchFamily="34" charset="0"/>
                <a:ea typeface="Cambria" pitchFamily="34" charset="-122"/>
                <a:cs typeface="Cambria" pitchFamily="34" charset="-120"/>
              </a:rPr>
              <a:t>0</a:t>
            </a:r>
            <a:pPr algn="ctr" indent="0" marL="0">
              <a:buNone/>
            </a:pPr>
            <a:r>
              <a:rPr lang="en-US" sz="2100" dirty="0">
                <a:solidFill>
                  <a:schemeClr val="tx1"/>
                </a:solidFill>
                <a:latin typeface="Cambria" pitchFamily="34" charset="0"/>
                <a:ea typeface="Cambria" pitchFamily="34" charset="-122"/>
                <a:cs typeface="Cambria" pitchFamily="34" charset="-120"/>
              </a:rPr>
              <a:t>) / w))</a:t>
            </a:r>
            <a:endParaRPr lang="en-US" sz="2100" dirty="0"/>
          </a:p>
        </p:txBody>
      </p:sp>
      <p:sp>
        <p:nvSpPr>
          <p:cNvPr id="5" name="box_214"/>
          <p:cNvSpPr/>
          <p:nvPr/>
        </p:nvSpPr>
        <p:spPr>
          <a:xfrm>
            <a:off x="548640" y="2423160"/>
            <a:ext cx="6035040" cy="868680"/>
          </a:xfrm>
          <a:prstGeom prst="roundRect">
            <a:avLst>
              <a:gd name="adj" fmla="val 6316"/>
            </a:avLst>
          </a:prstGeom>
          <a:solidFill>
            <a:schemeClr val="bg2"/>
          </a:solidFill>
          <a:ln w="9525">
            <a:solidFill>
              <a:schemeClr val="bg2"/>
            </a:solidFill>
            <a:prstDash val="solid"/>
          </a:ln>
        </p:spPr>
      </p:sp>
      <p:sp>
        <p:nvSpPr>
          <p:cNvPr id="6" name="eq_215"/>
          <p:cNvSpPr txBox="1"/>
          <p:nvPr/>
        </p:nvSpPr>
        <p:spPr>
          <a:xfrm>
            <a:off x="731520" y="2423160"/>
            <a:ext cx="5669280" cy="868680"/>
          </a:xfrm>
          <a:prstGeom prst="rect">
            <a:avLst/>
          </a:prstGeom>
          <a:noFill/>
          <a:ln/>
        </p:spPr>
        <p:txBody>
          <a:bodyPr wrap="square" lIns="0" tIns="0" rIns="0" bIns="0" rtlCol="0" anchor="ctr"/>
          <a:lstStyle/>
          <a:p>
            <a:pPr algn="ctr" indent="0" marL="0">
              <a:buNone/>
            </a:pPr>
            <a:r>
              <a:rPr lang="en-US" sz="2100" dirty="0">
                <a:solidFill>
                  <a:schemeClr val="tx1"/>
                </a:solidFill>
                <a:latin typeface="Cambria" pitchFamily="34" charset="0"/>
                <a:ea typeface="Cambria" pitchFamily="34" charset="-122"/>
                <a:cs typeface="Cambria" pitchFamily="34" charset="-120"/>
              </a:rPr>
              <a:t>dP/dt = (f</a:t>
            </a:r>
            <a:pPr algn="ctr" indent="0" marL="0">
              <a:buNone/>
            </a:pPr>
            <a:r>
              <a:rPr lang="en-US" sz="2100" baseline="-40000" dirty="0">
                <a:solidFill>
                  <a:schemeClr val="tx1"/>
                </a:solidFill>
                <a:latin typeface="Cambria" pitchFamily="34" charset="0"/>
                <a:ea typeface="Cambria" pitchFamily="34" charset="-122"/>
                <a:cs typeface="Cambria" pitchFamily="34" charset="-120"/>
              </a:rPr>
              <a:t>gate</a:t>
            </a:r>
            <a:pPr algn="ctr" indent="0" marL="0">
              <a:buNone/>
            </a:pPr>
            <a:r>
              <a:rPr lang="en-US" sz="2100" dirty="0">
                <a:solidFill>
                  <a:schemeClr val="tx1"/>
                </a:solidFill>
                <a:latin typeface="Cambria" pitchFamily="34" charset="0"/>
                <a:ea typeface="Cambria" pitchFamily="34" charset="-122"/>
                <a:cs typeface="Cambria" pitchFamily="34" charset="-120"/>
              </a:rPr>
              <a:t> − P) / τ</a:t>
            </a:r>
            <a:pPr algn="ctr" indent="0" marL="0">
              <a:buNone/>
            </a:pPr>
            <a:r>
              <a:rPr lang="en-US" sz="2100" baseline="-40000" dirty="0">
                <a:solidFill>
                  <a:schemeClr val="tx1"/>
                </a:solidFill>
                <a:latin typeface="Cambria" pitchFamily="34" charset="0"/>
                <a:ea typeface="Cambria" pitchFamily="34" charset="-122"/>
                <a:cs typeface="Cambria" pitchFamily="34" charset="-120"/>
              </a:rPr>
              <a:t>P</a:t>
            </a:r>
            <a:endParaRPr lang="en-US" sz="2100" dirty="0"/>
          </a:p>
        </p:txBody>
      </p:sp>
      <p:graphicFrame>
        <p:nvGraphicFramePr>
          <p:cNvPr id="18" name="tbl_216"/>
          <p:cNvGraphicFramePr>
            <a:graphicFrameLocks noGrp="1"/>
          </p:cNvGraphicFramePr>
          <p:nvPr>
            <p:extLst>
              <p:ext uri="{D42A27DB-BD31-4B8C-83A1-F6EECF244321}">
                <p14:modId xmlns:p14="http://schemas.microsoft.com/office/powerpoint/2010/main" val="1579011935"/>
              </p:ext>
            </p:extLst>
          </p:nvPr>
        </p:nvGraphicFramePr>
        <p:xfrm>
          <a:off x="548640" y="3566160"/>
          <a:ext cx="6035040" cy="914400"/>
        </p:xfrm>
        <a:graphic>
          <a:graphicData uri="http://schemas.openxmlformats.org/drawingml/2006/table">
            <a:tbl>
              <a:tblPr/>
              <a:tblGrid>
                <a:gridCol w="1280160"/>
                <a:gridCol w="1280160"/>
                <a:gridCol w="3474720"/>
              </a:tblGrid>
              <a:tr h="384048">
                <a:tc>
                  <a:txBody>
                    <a:bodyPr/>
                    <a:lstStyle/>
                    <a:p>
                      <a:pPr indent="0" marL="0">
                        <a:buNone/>
                      </a:pPr>
                      <a:r>
                        <a:rPr lang="en-US" sz="1400" b="1" dirty="0">
                          <a:solidFill>
                            <a:schemeClr val="bg1"/>
                          </a:solidFill>
                        </a:rPr>
                        <a:t>U_gate</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f_gate</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Ma'nosi</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chemeClr val="tx1"/>
                    </a:solidFill>
                  </a:tcPr>
                </a:tc>
              </a:tr>
              <a:tr h="384048">
                <a:tc>
                  <a:txBody>
                    <a:bodyPr/>
                    <a:lstStyle/>
                    <a:p>
                      <a:pPr indent="0" marL="0">
                        <a:buNone/>
                      </a:pPr>
                      <a:r>
                        <a:rPr lang="en-US" sz="1400" dirty="0">
                          <a:solidFill>
                            <a:schemeClr val="tx1"/>
                          </a:solidFill>
                        </a:rPr>
                        <a:t>0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 1.00</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Gate ta'sir qilmaydi, xotira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384048">
                <a:tc>
                  <a:txBody>
                    <a:bodyPr/>
                    <a:lstStyle/>
                    <a:p>
                      <a:pPr indent="0" marL="0">
                        <a:buNone/>
                      </a:pPr>
                      <a:r>
                        <a:rPr lang="en-US" sz="1400" dirty="0">
                          <a:solidFill>
                            <a:schemeClr val="tx1"/>
                          </a:solidFill>
                        </a:rPr>
                        <a:t>−0.9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 0.88</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Xotira biroz kuchsiz</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384048">
                <a:tc>
                  <a:txBody>
                    <a:bodyPr/>
                    <a:lstStyle/>
                    <a:p>
                      <a:pPr indent="0" marL="0">
                        <a:buNone/>
                      </a:pPr>
                      <a:r>
                        <a:rPr lang="en-US" sz="1400" dirty="0">
                          <a:solidFill>
                            <a:schemeClr val="tx1"/>
                          </a:solidFill>
                        </a:rPr>
                        <a:t>−1.1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 0.12</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Kuchli bostirish, volatil</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bl>
          </a:graphicData>
        </a:graphic>
      </p:graphicFrame>
      <p:sp>
        <p:nvSpPr>
          <p:cNvPr id="8" name="bul_217"/>
          <p:cNvSpPr txBox="1"/>
          <p:nvPr/>
        </p:nvSpPr>
        <p:spPr>
          <a:xfrm>
            <a:off x="6949440" y="1371600"/>
            <a:ext cx="4754880" cy="4846320"/>
          </a:xfrm>
          <a:prstGeom prst="rect">
            <a:avLst/>
          </a:prstGeom>
          <a:noFill/>
          <a:ln/>
        </p:spPr>
        <p:txBody>
          <a:bodyPr wrap="square" lIns="635" tIns="635" rIns="635" bIns="635" rtlCol="0" anchor="t"/>
          <a:lstStyle/>
          <a:p>
            <a:pPr marL="228600" indent="-228600">
              <a:spcAft>
                <a:spcPts val="800"/>
              </a:spcAft>
              <a:buSzPct val="100000"/>
              <a:buChar char="•"/>
            </a:pPr>
            <a:r>
              <a:rPr lang="en-US" sz="1400" b="1" dirty="0">
                <a:solidFill>
                  <a:schemeClr val="tx1"/>
                </a:solidFill>
              </a:rPr>
              <a:t>f_gate — “gate nimani xohlaydi”. </a:t>
            </a:r>
            <a:pPr indent="0" marL="0">
              <a:buNone/>
            </a:pPr>
            <a:r>
              <a:rPr lang="en-US" sz="1400" dirty="0">
                <a:solidFill>
                  <a:schemeClr val="tx1"/>
                </a:solidFill>
              </a:rPr>
              <a:t>Sigmoid (S-shakl) funksiya, U₀ = −1.0 V atrofida 1 dan 0 ga o'tadi (kenglik w = 0.05 V).</a:t>
            </a:r>
            <a:endParaRPr lang="en-US" sz="1400" dirty="0"/>
          </a:p>
          <a:p>
            <a:pPr marL="228600" indent="-228600">
              <a:spcAft>
                <a:spcPts val="800"/>
              </a:spcAft>
              <a:buSzPct val="100000"/>
              <a:buChar char="•"/>
            </a:pPr>
            <a:r>
              <a:rPr lang="en-US" sz="1400" b="1" dirty="0">
                <a:solidFill>
                  <a:schemeClr val="tx1"/>
                </a:solidFill>
              </a:rPr>
              <a:t>P — “element hozir qayerda”. </a:t>
            </a:r>
            <a:pPr indent="0" marL="0">
              <a:buNone/>
            </a:pPr>
            <a:r>
              <a:rPr lang="en-US" sz="1400" dirty="0">
                <a:solidFill>
                  <a:schemeClr val="tx1"/>
                </a:solidFill>
              </a:rPr>
              <a:t>P darhol f_gate ga sakramaydi, vaqt bilan yaqinlashadi.</a:t>
            </a:r>
            <a:endParaRPr lang="en-US" sz="1400" dirty="0"/>
          </a:p>
          <a:p>
            <a:pPr marL="228600" indent="-228600">
              <a:spcAft>
                <a:spcPts val="800"/>
              </a:spcAft>
              <a:buSzPct val="100000"/>
              <a:buChar char="•"/>
            </a:pPr>
            <a:r>
              <a:rPr lang="en-US" sz="1400" b="1" dirty="0">
                <a:solidFill>
                  <a:schemeClr val="tx1"/>
                </a:solidFill>
              </a:rPr>
              <a:t>Asimmetrik vaqt: </a:t>
            </a:r>
            <a:pPr indent="0" marL="0">
              <a:buNone/>
            </a:pPr>
            <a:r>
              <a:rPr lang="en-US" sz="1400" dirty="0">
                <a:solidFill>
                  <a:schemeClr val="tx1"/>
                </a:solidFill>
              </a:rPr>
              <a:t>pasayish tez (τ = 1 ms), tiklanish sekin (τ = 75 ms).</a:t>
            </a:r>
            <a:endParaRPr lang="en-US" sz="1400" dirty="0"/>
          </a:p>
          <a:p>
            <a:pPr marL="228600" indent="-228600">
              <a:spcAft>
                <a:spcPts val="800"/>
              </a:spcAft>
              <a:buSzPct val="100000"/>
              <a:buChar char="•"/>
            </a:pPr>
            <a:r>
              <a:rPr lang="en-US" sz="1400" b="1" dirty="0">
                <a:solidFill>
                  <a:schemeClr val="tx1"/>
                </a:solidFill>
              </a:rPr>
              <a:t>Nega kerak? </a:t>
            </a:r>
            <a:pPr indent="0" marL="0">
              <a:buNone/>
            </a:pPr>
            <a:r>
              <a:rPr lang="en-US" sz="1400" dirty="0">
                <a:solidFill>
                  <a:schemeClr val="tx1"/>
                </a:solidFill>
              </a:rPr>
              <a:t>(d) panelda gate 0 V ga qaytdi, lekin natija (a) bilan bir xil emas: element oldingi gate holatini “eslaydi”. P aynan shu xotirani beradi.</a:t>
            </a:r>
            <a:endParaRPr lang="en-US" sz="14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4-tenglama: xotira yoki volatil? τ_rel(P) hal qiladi</a:t>
            </a:r>
            <a:endParaRPr lang="en-US" sz="3000" dirty="0"/>
          </a:p>
        </p:txBody>
      </p:sp>
      <p:sp>
        <p:nvSpPr>
          <p:cNvPr id="3" name="box_218"/>
          <p:cNvSpPr/>
          <p:nvPr/>
        </p:nvSpPr>
        <p:spPr>
          <a:xfrm>
            <a:off x="548640" y="1371600"/>
            <a:ext cx="11064240" cy="914400"/>
          </a:xfrm>
          <a:prstGeom prst="roundRect">
            <a:avLst>
              <a:gd name="adj" fmla="val 6000"/>
            </a:avLst>
          </a:prstGeom>
          <a:solidFill>
            <a:schemeClr val="bg2"/>
          </a:solidFill>
          <a:ln w="9525">
            <a:solidFill>
              <a:schemeClr val="bg2"/>
            </a:solidFill>
            <a:prstDash val="solid"/>
          </a:ln>
        </p:spPr>
      </p:sp>
      <p:sp>
        <p:nvSpPr>
          <p:cNvPr id="4" name="eq_219"/>
          <p:cNvSpPr txBox="1"/>
          <p:nvPr/>
        </p:nvSpPr>
        <p:spPr>
          <a:xfrm>
            <a:off x="731520" y="1371600"/>
            <a:ext cx="10698480" cy="914400"/>
          </a:xfrm>
          <a:prstGeom prst="rect">
            <a:avLst/>
          </a:prstGeom>
          <a:noFill/>
          <a:ln/>
        </p:spPr>
        <p:txBody>
          <a:bodyPr wrap="square" lIns="0" tIns="0" rIns="0" bIns="0" rtlCol="0" anchor="ctr"/>
          <a:lstStyle/>
          <a:p>
            <a:pPr algn="ctr" indent="0" marL="0">
              <a:buNone/>
            </a:pPr>
            <a:r>
              <a:rPr lang="en-US" sz="2100" dirty="0">
                <a:solidFill>
                  <a:schemeClr val="tx1"/>
                </a:solidFill>
                <a:latin typeface="Cambria" pitchFamily="34" charset="0"/>
                <a:ea typeface="Cambria" pitchFamily="34" charset="-122"/>
                <a:cs typeface="Cambria" pitchFamily="34" charset="-120"/>
              </a:rPr>
              <a:t>τ</a:t>
            </a:r>
            <a:pPr algn="ctr" indent="0" marL="0">
              <a:buNone/>
            </a:pPr>
            <a:r>
              <a:rPr lang="en-US" sz="2100" baseline="-40000" dirty="0">
                <a:solidFill>
                  <a:schemeClr val="tx1"/>
                </a:solidFill>
                <a:latin typeface="Cambria" pitchFamily="34" charset="0"/>
                <a:ea typeface="Cambria" pitchFamily="34" charset="-122"/>
                <a:cs typeface="Cambria" pitchFamily="34" charset="-120"/>
              </a:rPr>
              <a:t>rel</a:t>
            </a:r>
            <a:pPr algn="ctr" indent="0" marL="0">
              <a:buNone/>
            </a:pPr>
            <a:r>
              <a:rPr lang="en-US" sz="2100" dirty="0">
                <a:solidFill>
                  <a:schemeClr val="tx1"/>
                </a:solidFill>
                <a:latin typeface="Cambria" pitchFamily="34" charset="0"/>
                <a:ea typeface="Cambria" pitchFamily="34" charset="-122"/>
                <a:cs typeface="Cambria" pitchFamily="34" charset="-120"/>
              </a:rPr>
              <a:t> = τ</a:t>
            </a:r>
            <a:pPr algn="ctr" indent="0" marL="0">
              <a:buNone/>
            </a:pPr>
            <a:r>
              <a:rPr lang="en-US" sz="2100" baseline="-40000" dirty="0">
                <a:solidFill>
                  <a:schemeClr val="tx1"/>
                </a:solidFill>
                <a:latin typeface="Cambria" pitchFamily="34" charset="0"/>
                <a:ea typeface="Cambria" pitchFamily="34" charset="-122"/>
                <a:cs typeface="Cambria" pitchFamily="34" charset="-120"/>
              </a:rPr>
              <a:t>v</a:t>
            </a:r>
            <a:pPr algn="ctr" indent="0" marL="0">
              <a:buNone/>
            </a:pPr>
            <a:r>
              <a:rPr lang="en-US" sz="2100" dirty="0">
                <a:solidFill>
                  <a:schemeClr val="tx1"/>
                </a:solidFill>
                <a:latin typeface="Cambria" pitchFamily="34" charset="0"/>
                <a:ea typeface="Cambria" pitchFamily="34" charset="-122"/>
                <a:cs typeface="Cambria" pitchFamily="34" charset="-120"/>
              </a:rPr>
              <a:t> + (τ</a:t>
            </a:r>
            <a:pPr algn="ctr" indent="0" marL="0">
              <a:buNone/>
            </a:pPr>
            <a:r>
              <a:rPr lang="en-US" sz="2100" baseline="-40000" dirty="0">
                <a:solidFill>
                  <a:schemeClr val="tx1"/>
                </a:solidFill>
                <a:latin typeface="Cambria" pitchFamily="34" charset="0"/>
                <a:ea typeface="Cambria" pitchFamily="34" charset="-122"/>
                <a:cs typeface="Cambria" pitchFamily="34" charset="-120"/>
              </a:rPr>
              <a:t>nv</a:t>
            </a:r>
            <a:pPr algn="ctr" indent="0" marL="0">
              <a:buNone/>
            </a:pPr>
            <a:r>
              <a:rPr lang="en-US" sz="2100" dirty="0">
                <a:solidFill>
                  <a:schemeClr val="tx1"/>
                </a:solidFill>
                <a:latin typeface="Cambria" pitchFamily="34" charset="0"/>
                <a:ea typeface="Cambria" pitchFamily="34" charset="-122"/>
                <a:cs typeface="Cambria" pitchFamily="34" charset="-120"/>
              </a:rPr>
              <a:t> − τ</a:t>
            </a:r>
            <a:pPr algn="ctr" indent="0" marL="0">
              <a:buNone/>
            </a:pPr>
            <a:r>
              <a:rPr lang="en-US" sz="2100" baseline="-40000" dirty="0">
                <a:solidFill>
                  <a:schemeClr val="tx1"/>
                </a:solidFill>
                <a:latin typeface="Cambria" pitchFamily="34" charset="0"/>
                <a:ea typeface="Cambria" pitchFamily="34" charset="-122"/>
                <a:cs typeface="Cambria" pitchFamily="34" charset="-120"/>
              </a:rPr>
              <a:t>v</a:t>
            </a:r>
            <a:pPr algn="ctr" indent="0" marL="0">
              <a:buNone/>
            </a:pPr>
            <a:r>
              <a:rPr lang="en-US" sz="2100" dirty="0">
                <a:solidFill>
                  <a:schemeClr val="tx1"/>
                </a:solidFill>
                <a:latin typeface="Cambria" pitchFamily="34" charset="0"/>
                <a:ea typeface="Cambria" pitchFamily="34" charset="-122"/>
                <a:cs typeface="Cambria" pitchFamily="34" charset="-120"/>
              </a:rPr>
              <a:t>) · S,     S = 1 / (1 + exp(−(P − P</a:t>
            </a:r>
            <a:pPr algn="ctr" indent="0" marL="0">
              <a:buNone/>
            </a:pPr>
            <a:r>
              <a:rPr lang="en-US" sz="2100" baseline="-40000" dirty="0">
                <a:solidFill>
                  <a:schemeClr val="tx1"/>
                </a:solidFill>
                <a:latin typeface="Cambria" pitchFamily="34" charset="0"/>
                <a:ea typeface="Cambria" pitchFamily="34" charset="-122"/>
                <a:cs typeface="Cambria" pitchFamily="34" charset="-120"/>
              </a:rPr>
              <a:t>c</a:t>
            </a:r>
            <a:pPr algn="ctr" indent="0" marL="0">
              <a:buNone/>
            </a:pPr>
            <a:r>
              <a:rPr lang="en-US" sz="2100" dirty="0">
                <a:solidFill>
                  <a:schemeClr val="tx1"/>
                </a:solidFill>
                <a:latin typeface="Cambria" pitchFamily="34" charset="0"/>
                <a:ea typeface="Cambria" pitchFamily="34" charset="-122"/>
                <a:cs typeface="Cambria" pitchFamily="34" charset="-120"/>
              </a:rPr>
              <a:t>) / w</a:t>
            </a:r>
            <a:pPr algn="ctr" indent="0" marL="0">
              <a:buNone/>
            </a:pPr>
            <a:r>
              <a:rPr lang="en-US" sz="2100" baseline="-40000" dirty="0">
                <a:solidFill>
                  <a:schemeClr val="tx1"/>
                </a:solidFill>
                <a:latin typeface="Cambria" pitchFamily="34" charset="0"/>
                <a:ea typeface="Cambria" pitchFamily="34" charset="-122"/>
                <a:cs typeface="Cambria" pitchFamily="34" charset="-120"/>
              </a:rPr>
              <a:t>P</a:t>
            </a:r>
            <a:pPr algn="ctr" indent="0" marL="0">
              <a:buNone/>
            </a:pPr>
            <a:r>
              <a:rPr lang="en-US" sz="2100" dirty="0">
                <a:solidFill>
                  <a:schemeClr val="tx1"/>
                </a:solidFill>
                <a:latin typeface="Cambria" pitchFamily="34" charset="0"/>
                <a:ea typeface="Cambria" pitchFamily="34" charset="-122"/>
                <a:cs typeface="Cambria" pitchFamily="34" charset="-120"/>
              </a:rPr>
              <a:t>))</a:t>
            </a:r>
            <a:endParaRPr lang="en-US" sz="2100" dirty="0"/>
          </a:p>
        </p:txBody>
      </p:sp>
      <p:sp>
        <p:nvSpPr>
          <p:cNvPr id="5" name="box_220"/>
          <p:cNvSpPr/>
          <p:nvPr/>
        </p:nvSpPr>
        <p:spPr>
          <a:xfrm>
            <a:off x="548640" y="2560320"/>
            <a:ext cx="5394960" cy="2651760"/>
          </a:xfrm>
          <a:prstGeom prst="roundRect">
            <a:avLst>
              <a:gd name="adj" fmla="val 2759"/>
            </a:avLst>
          </a:prstGeom>
          <a:solidFill>
            <a:schemeClr val="bg2"/>
          </a:solidFill>
          <a:ln w="9525">
            <a:solidFill>
              <a:schemeClr val="bg2"/>
            </a:solidFill>
            <a:prstDash val="solid"/>
          </a:ln>
        </p:spPr>
      </p:sp>
      <p:sp>
        <p:nvSpPr>
          <p:cNvPr id="6" name="text_221"/>
          <p:cNvSpPr txBox="1"/>
          <p:nvPr/>
        </p:nvSpPr>
        <p:spPr>
          <a:xfrm>
            <a:off x="822960" y="2743200"/>
            <a:ext cx="4846320" cy="502920"/>
          </a:xfrm>
          <a:prstGeom prst="rect">
            <a:avLst/>
          </a:prstGeom>
          <a:noFill/>
          <a:ln/>
        </p:spPr>
        <p:txBody>
          <a:bodyPr wrap="square" lIns="635" tIns="635" rIns="635" bIns="635"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P &gt; 0.17</a:t>
            </a:r>
            <a:endParaRPr lang="en-US" sz="2400" dirty="0"/>
          </a:p>
        </p:txBody>
      </p:sp>
      <p:sp>
        <p:nvSpPr>
          <p:cNvPr id="7" name="text_222"/>
          <p:cNvSpPr txBox="1"/>
          <p:nvPr/>
        </p:nvSpPr>
        <p:spPr>
          <a:xfrm>
            <a:off x="822960" y="3291840"/>
            <a:ext cx="4846320" cy="411480"/>
          </a:xfrm>
          <a:prstGeom prst="rect">
            <a:avLst/>
          </a:prstGeom>
          <a:noFill/>
          <a:ln/>
        </p:spPr>
        <p:txBody>
          <a:bodyPr wrap="square" lIns="635" tIns="635" rIns="635" bIns="635" rtlCol="0" anchor="t"/>
          <a:lstStyle/>
          <a:p>
            <a:pPr indent="0" marL="0">
              <a:buNone/>
            </a:pPr>
            <a:r>
              <a:rPr lang="en-US" sz="1700" b="1" dirty="0">
                <a:solidFill>
                  <a:schemeClr val="tx1"/>
                </a:solidFill>
              </a:rPr>
              <a:t>S ≈ 1  →  τ_rel ≈ 1000 s</a:t>
            </a:r>
            <a:endParaRPr lang="en-US" sz="1700" dirty="0"/>
          </a:p>
        </p:txBody>
      </p:sp>
      <p:sp>
        <p:nvSpPr>
          <p:cNvPr id="8" name="text_223"/>
          <p:cNvSpPr txBox="1"/>
          <p:nvPr/>
        </p:nvSpPr>
        <p:spPr>
          <a:xfrm>
            <a:off x="822960" y="3749040"/>
            <a:ext cx="4846320" cy="731520"/>
          </a:xfrm>
          <a:prstGeom prst="rect">
            <a:avLst/>
          </a:prstGeom>
          <a:noFill/>
          <a:ln/>
        </p:spPr>
        <p:txBody>
          <a:bodyPr wrap="square" lIns="635" tIns="635" rIns="635" bIns="635" rtlCol="0" anchor="t"/>
          <a:lstStyle/>
          <a:p>
            <a:pPr indent="0" marL="0">
              <a:buNone/>
            </a:pPr>
            <a:r>
              <a:rPr lang="en-US" sz="1500" dirty="0">
                <a:solidFill>
                  <a:schemeClr val="tx1"/>
                </a:solidFill>
              </a:rPr>
              <a:t>x amalda “muzlaydi”. Kuchlanish olib tashlansa ham ON qoladi.</a:t>
            </a:r>
            <a:endParaRPr lang="en-US" sz="1500" dirty="0"/>
          </a:p>
        </p:txBody>
      </p:sp>
      <p:sp>
        <p:nvSpPr>
          <p:cNvPr id="9" name="text_224"/>
          <p:cNvSpPr txBox="1"/>
          <p:nvPr/>
        </p:nvSpPr>
        <p:spPr>
          <a:xfrm>
            <a:off x="822960" y="4617720"/>
            <a:ext cx="4846320" cy="411480"/>
          </a:xfrm>
          <a:prstGeom prst="rect">
            <a:avLst/>
          </a:prstGeom>
          <a:noFill/>
          <a:ln/>
        </p:spPr>
        <p:txBody>
          <a:bodyPr wrap="square" lIns="635" tIns="635" rIns="635" bIns="635" rtlCol="0" anchor="t"/>
          <a:lstStyle/>
          <a:p>
            <a:pPr indent="0" marL="0">
              <a:buNone/>
            </a:pPr>
            <a:r>
              <a:rPr lang="en-US" sz="1600" b="1" dirty="0">
                <a:solidFill>
                  <a:schemeClr val="accent1"/>
                </a:solidFill>
              </a:rPr>
              <a:t>XOTIRA: panel (a), (b), (d)</a:t>
            </a:r>
            <a:endParaRPr lang="en-US" sz="1600" dirty="0"/>
          </a:p>
        </p:txBody>
      </p:sp>
      <p:sp>
        <p:nvSpPr>
          <p:cNvPr id="10" name="box_225"/>
          <p:cNvSpPr/>
          <p:nvPr/>
        </p:nvSpPr>
        <p:spPr>
          <a:xfrm>
            <a:off x="6217920" y="2560320"/>
            <a:ext cx="5394960" cy="2651760"/>
          </a:xfrm>
          <a:prstGeom prst="roundRect">
            <a:avLst>
              <a:gd name="adj" fmla="val 2759"/>
            </a:avLst>
          </a:prstGeom>
          <a:solidFill>
            <a:schemeClr val="bg2"/>
          </a:solidFill>
          <a:ln w="9525">
            <a:solidFill>
              <a:schemeClr val="bg2"/>
            </a:solidFill>
            <a:prstDash val="solid"/>
          </a:ln>
        </p:spPr>
      </p:sp>
      <p:sp>
        <p:nvSpPr>
          <p:cNvPr id="11" name="text_226"/>
          <p:cNvSpPr txBox="1"/>
          <p:nvPr/>
        </p:nvSpPr>
        <p:spPr>
          <a:xfrm>
            <a:off x="6492240" y="2743200"/>
            <a:ext cx="4846320" cy="502920"/>
          </a:xfrm>
          <a:prstGeom prst="rect">
            <a:avLst/>
          </a:prstGeom>
          <a:noFill/>
          <a:ln/>
        </p:spPr>
        <p:txBody>
          <a:bodyPr wrap="square" lIns="635" tIns="635" rIns="635" bIns="635"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P &lt; 0.17</a:t>
            </a:r>
            <a:endParaRPr lang="en-US" sz="2400" dirty="0"/>
          </a:p>
        </p:txBody>
      </p:sp>
      <p:sp>
        <p:nvSpPr>
          <p:cNvPr id="12" name="text_227"/>
          <p:cNvSpPr txBox="1"/>
          <p:nvPr/>
        </p:nvSpPr>
        <p:spPr>
          <a:xfrm>
            <a:off x="6492240" y="3291840"/>
            <a:ext cx="4846320" cy="411480"/>
          </a:xfrm>
          <a:prstGeom prst="rect">
            <a:avLst/>
          </a:prstGeom>
          <a:noFill/>
          <a:ln/>
        </p:spPr>
        <p:txBody>
          <a:bodyPr wrap="square" lIns="635" tIns="635" rIns="635" bIns="635" rtlCol="0" anchor="t"/>
          <a:lstStyle/>
          <a:p>
            <a:pPr indent="0" marL="0">
              <a:buNone/>
            </a:pPr>
            <a:r>
              <a:rPr lang="en-US" sz="1700" b="1" dirty="0">
                <a:solidFill>
                  <a:schemeClr val="tx1"/>
                </a:solidFill>
              </a:rPr>
              <a:t>S ≈ 0  →  τ_rel ≈ 0.15 ms</a:t>
            </a:r>
            <a:endParaRPr lang="en-US" sz="1700" dirty="0"/>
          </a:p>
        </p:txBody>
      </p:sp>
      <p:sp>
        <p:nvSpPr>
          <p:cNvPr id="13" name="text_228"/>
          <p:cNvSpPr txBox="1"/>
          <p:nvPr/>
        </p:nvSpPr>
        <p:spPr>
          <a:xfrm>
            <a:off x="6492240" y="3749040"/>
            <a:ext cx="4846320" cy="731520"/>
          </a:xfrm>
          <a:prstGeom prst="rect">
            <a:avLst/>
          </a:prstGeom>
          <a:noFill/>
          <a:ln/>
        </p:spPr>
        <p:txBody>
          <a:bodyPr wrap="square" lIns="635" tIns="635" rIns="635" bIns="635" rtlCol="0" anchor="t"/>
          <a:lstStyle/>
          <a:p>
            <a:pPr indent="0" marL="0">
              <a:buNone/>
            </a:pPr>
            <a:r>
              <a:rPr lang="en-US" sz="1500" dirty="0">
                <a:solidFill>
                  <a:schemeClr val="tx1"/>
                </a:solidFill>
              </a:rPr>
              <a:t>x tez so'nadi. Kuchlanish tushishi bilan element OFF ga qaytadi.</a:t>
            </a:r>
            <a:endParaRPr lang="en-US" sz="1500" dirty="0"/>
          </a:p>
        </p:txBody>
      </p:sp>
      <p:sp>
        <p:nvSpPr>
          <p:cNvPr id="14" name="text_229"/>
          <p:cNvSpPr txBox="1"/>
          <p:nvPr/>
        </p:nvSpPr>
        <p:spPr>
          <a:xfrm>
            <a:off x="6492240" y="4617720"/>
            <a:ext cx="4846320" cy="411480"/>
          </a:xfrm>
          <a:prstGeom prst="rect">
            <a:avLst/>
          </a:prstGeom>
          <a:noFill/>
          <a:ln/>
        </p:spPr>
        <p:txBody>
          <a:bodyPr wrap="square" lIns="635" tIns="635" rIns="635" bIns="635" rtlCol="0" anchor="t"/>
          <a:lstStyle/>
          <a:p>
            <a:pPr indent="0" marL="0">
              <a:buNone/>
            </a:pPr>
            <a:r>
              <a:rPr lang="en-US" sz="1600" b="1" dirty="0">
                <a:solidFill>
                  <a:schemeClr val="accent2"/>
                </a:solidFill>
              </a:rPr>
              <a:t>KALITLASH: panel (c)</a:t>
            </a:r>
            <a:endParaRPr lang="en-US" sz="1600" dirty="0"/>
          </a:p>
        </p:txBody>
      </p:sp>
      <p:sp>
        <p:nvSpPr>
          <p:cNvPr id="15" name="text_230"/>
          <p:cNvSpPr txBox="1"/>
          <p:nvPr/>
        </p:nvSpPr>
        <p:spPr>
          <a:xfrm>
            <a:off x="548640" y="5440680"/>
            <a:ext cx="11064240" cy="822960"/>
          </a:xfrm>
          <a:prstGeom prst="rect">
            <a:avLst/>
          </a:prstGeom>
          <a:noFill/>
          <a:ln/>
        </p:spPr>
        <p:txBody>
          <a:bodyPr wrap="square" lIns="635" tIns="635" rIns="635" bIns="635" rtlCol="0" anchor="t"/>
          <a:lstStyle/>
          <a:p>
            <a:pPr indent="0" marL="0">
              <a:buNone/>
            </a:pPr>
            <a:r>
              <a:rPr lang="en-US" sz="1400" b="1" dirty="0">
                <a:solidFill>
                  <a:schemeClr val="tx1"/>
                </a:solidFill>
              </a:rPr>
              <a:t>Nega keskin (w_P = 0.0015)? </a:t>
            </a:r>
            <a:pPr indent="0" marL="0">
              <a:buNone/>
            </a:pPr>
            <a:r>
              <a:rPr lang="en-US" sz="1400" dirty="0">
                <a:solidFill>
                  <a:schemeClr val="tx1"/>
                </a:solidFill>
              </a:rPr>
              <a:t>Avval silliq versiya sinaldi: (d) panel xotira o'rniga volatil chiqdi. Keskin chegara P_c = 0.17 tanlandi, chunki (c) va (d) panellardagi haqiqiy P qiymatlari aynan shu son atrofida ajraladi.</a:t>
            </a:r>
            <a:endParaRPr lang="en-US" sz="14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5-tenglama: OFF va ON o'tkazuvchanliklar</a:t>
            </a:r>
            <a:endParaRPr lang="en-US" sz="3000" dirty="0"/>
          </a:p>
        </p:txBody>
      </p:sp>
      <p:sp>
        <p:nvSpPr>
          <p:cNvPr id="3" name="box_231"/>
          <p:cNvSpPr/>
          <p:nvPr/>
        </p:nvSpPr>
        <p:spPr>
          <a:xfrm>
            <a:off x="548640" y="1371600"/>
            <a:ext cx="6675120" cy="914400"/>
          </a:xfrm>
          <a:prstGeom prst="roundRect">
            <a:avLst>
              <a:gd name="adj" fmla="val 6000"/>
            </a:avLst>
          </a:prstGeom>
          <a:solidFill>
            <a:schemeClr val="bg2"/>
          </a:solidFill>
          <a:ln w="9525">
            <a:solidFill>
              <a:schemeClr val="bg2"/>
            </a:solidFill>
            <a:prstDash val="solid"/>
          </a:ln>
        </p:spPr>
      </p:sp>
      <p:sp>
        <p:nvSpPr>
          <p:cNvPr id="4" name="eq_232"/>
          <p:cNvSpPr txBox="1"/>
          <p:nvPr/>
        </p:nvSpPr>
        <p:spPr>
          <a:xfrm>
            <a:off x="731520" y="1371600"/>
            <a:ext cx="6309360" cy="914400"/>
          </a:xfrm>
          <a:prstGeom prst="rect">
            <a:avLst/>
          </a:prstGeom>
          <a:noFill/>
          <a:ln/>
        </p:spPr>
        <p:txBody>
          <a:bodyPr wrap="square" lIns="0" tIns="0" rIns="0" bIns="0" rtlCol="0" anchor="ctr"/>
          <a:lstStyle/>
          <a:p>
            <a:pPr algn="ctr" indent="0" marL="0">
              <a:buNone/>
            </a:pPr>
            <a:r>
              <a:rPr lang="en-US" sz="2100" dirty="0">
                <a:solidFill>
                  <a:schemeClr val="tx1"/>
                </a:solidFill>
                <a:latin typeface="Cambria" pitchFamily="34" charset="0"/>
                <a:ea typeface="Cambria" pitchFamily="34" charset="-122"/>
                <a:cs typeface="Cambria" pitchFamily="34" charset="-120"/>
              </a:rPr>
              <a:t>σ</a:t>
            </a:r>
            <a:pPr algn="ctr" indent="0" marL="0">
              <a:buNone/>
            </a:pPr>
            <a:r>
              <a:rPr lang="en-US" sz="2100" baseline="-40000" dirty="0">
                <a:solidFill>
                  <a:schemeClr val="tx1"/>
                </a:solidFill>
                <a:latin typeface="Cambria" pitchFamily="34" charset="0"/>
                <a:ea typeface="Cambria" pitchFamily="34" charset="-122"/>
                <a:cs typeface="Cambria" pitchFamily="34" charset="-120"/>
              </a:rPr>
              <a:t>off,eff</a:t>
            </a:r>
            <a:pPr algn="ctr" indent="0" marL="0">
              <a:buNone/>
            </a:pPr>
            <a:r>
              <a:rPr lang="en-US" sz="2100" dirty="0">
                <a:solidFill>
                  <a:schemeClr val="tx1"/>
                </a:solidFill>
                <a:latin typeface="Cambria" pitchFamily="34" charset="0"/>
                <a:ea typeface="Cambria" pitchFamily="34" charset="-122"/>
                <a:cs typeface="Cambria" pitchFamily="34" charset="-120"/>
              </a:rPr>
              <a:t> = σ</a:t>
            </a:r>
            <a:pPr algn="ctr" indent="0" marL="0">
              <a:buNone/>
            </a:pPr>
            <a:r>
              <a:rPr lang="en-US" sz="2100" baseline="-40000" dirty="0">
                <a:solidFill>
                  <a:schemeClr val="tx1"/>
                </a:solidFill>
                <a:latin typeface="Cambria" pitchFamily="34" charset="0"/>
                <a:ea typeface="Cambria" pitchFamily="34" charset="-122"/>
                <a:cs typeface="Cambria" pitchFamily="34" charset="-120"/>
              </a:rPr>
              <a:t>off0</a:t>
            </a:r>
            <a:pPr algn="ctr" indent="0" marL="0">
              <a:buNone/>
            </a:pPr>
            <a:r>
              <a:rPr lang="en-US" sz="2100" dirty="0">
                <a:solidFill>
                  <a:schemeClr val="tx1"/>
                </a:solidFill>
                <a:latin typeface="Cambria" pitchFamily="34" charset="0"/>
                <a:ea typeface="Cambria" pitchFamily="34" charset="-122"/>
                <a:cs typeface="Cambria" pitchFamily="34" charset="-120"/>
              </a:rPr>
              <a:t> · cosh(E / E</a:t>
            </a:r>
            <a:pPr algn="ctr" indent="0" marL="0">
              <a:buNone/>
            </a:pPr>
            <a:r>
              <a:rPr lang="en-US" sz="2100" baseline="-40000" dirty="0">
                <a:solidFill>
                  <a:schemeClr val="tx1"/>
                </a:solidFill>
                <a:latin typeface="Cambria" pitchFamily="34" charset="0"/>
                <a:ea typeface="Cambria" pitchFamily="34" charset="-122"/>
                <a:cs typeface="Cambria" pitchFamily="34" charset="-120"/>
              </a:rPr>
              <a:t>0</a:t>
            </a:r>
            <a:pPr algn="ctr" indent="0" marL="0">
              <a:buNone/>
            </a:pPr>
            <a:r>
              <a:rPr lang="en-US" sz="2100" dirty="0">
                <a:solidFill>
                  <a:schemeClr val="tx1"/>
                </a:solidFill>
                <a:latin typeface="Cambria" pitchFamily="34" charset="0"/>
                <a:ea typeface="Cambria" pitchFamily="34" charset="-122"/>
                <a:cs typeface="Cambria" pitchFamily="34" charset="-120"/>
              </a:rPr>
              <a:t>) · r</a:t>
            </a:r>
            <a:pPr algn="ctr" indent="0" marL="0">
              <a:buNone/>
            </a:pPr>
            <a:r>
              <a:rPr lang="en-US" sz="2100" baseline="-40000" dirty="0">
                <a:solidFill>
                  <a:schemeClr val="tx1"/>
                </a:solidFill>
                <a:latin typeface="Cambria" pitchFamily="34" charset="0"/>
                <a:ea typeface="Cambria" pitchFamily="34" charset="-122"/>
                <a:cs typeface="Cambria" pitchFamily="34" charset="-120"/>
              </a:rPr>
              <a:t>off</a:t>
            </a:r>
            <a:pPr algn="ctr" indent="0" marL="0">
              <a:buNone/>
            </a:pPr>
            <a:r>
              <a:rPr lang="en-US" sz="2100" baseline="30000" dirty="0">
                <a:solidFill>
                  <a:schemeClr val="tx1"/>
                </a:solidFill>
                <a:latin typeface="Cambria" pitchFamily="34" charset="0"/>
                <a:ea typeface="Cambria" pitchFamily="34" charset="-122"/>
                <a:cs typeface="Cambria" pitchFamily="34" charset="-120"/>
              </a:rPr>
              <a:t> (1 − P)</a:t>
            </a:r>
            <a:endParaRPr lang="en-US" sz="2100" dirty="0"/>
          </a:p>
        </p:txBody>
      </p:sp>
      <p:sp>
        <p:nvSpPr>
          <p:cNvPr id="5" name="box_233"/>
          <p:cNvSpPr/>
          <p:nvPr/>
        </p:nvSpPr>
        <p:spPr>
          <a:xfrm>
            <a:off x="548640" y="2514600"/>
            <a:ext cx="6675120" cy="914400"/>
          </a:xfrm>
          <a:prstGeom prst="roundRect">
            <a:avLst>
              <a:gd name="adj" fmla="val 6000"/>
            </a:avLst>
          </a:prstGeom>
          <a:solidFill>
            <a:schemeClr val="bg2"/>
          </a:solidFill>
          <a:ln w="9525">
            <a:solidFill>
              <a:schemeClr val="bg2"/>
            </a:solidFill>
            <a:prstDash val="solid"/>
          </a:ln>
        </p:spPr>
      </p:sp>
      <p:sp>
        <p:nvSpPr>
          <p:cNvPr id="6" name="eq_234"/>
          <p:cNvSpPr txBox="1"/>
          <p:nvPr/>
        </p:nvSpPr>
        <p:spPr>
          <a:xfrm>
            <a:off x="731520" y="2514600"/>
            <a:ext cx="6309360" cy="914400"/>
          </a:xfrm>
          <a:prstGeom prst="rect">
            <a:avLst/>
          </a:prstGeom>
          <a:noFill/>
          <a:ln/>
        </p:spPr>
        <p:txBody>
          <a:bodyPr wrap="square" lIns="0" tIns="0" rIns="0" bIns="0" rtlCol="0" anchor="ctr"/>
          <a:lstStyle/>
          <a:p>
            <a:pPr algn="ctr" indent="0" marL="0">
              <a:buNone/>
            </a:pPr>
            <a:r>
              <a:rPr lang="en-US" sz="2100" dirty="0">
                <a:solidFill>
                  <a:schemeClr val="tx1"/>
                </a:solidFill>
                <a:latin typeface="Cambria" pitchFamily="34" charset="0"/>
                <a:ea typeface="Cambria" pitchFamily="34" charset="-122"/>
                <a:cs typeface="Cambria" pitchFamily="34" charset="-120"/>
              </a:rPr>
              <a:t>σ</a:t>
            </a:r>
            <a:pPr algn="ctr" indent="0" marL="0">
              <a:buNone/>
            </a:pPr>
            <a:r>
              <a:rPr lang="en-US" sz="2100" baseline="-40000" dirty="0">
                <a:solidFill>
                  <a:schemeClr val="tx1"/>
                </a:solidFill>
                <a:latin typeface="Cambria" pitchFamily="34" charset="0"/>
                <a:ea typeface="Cambria" pitchFamily="34" charset="-122"/>
                <a:cs typeface="Cambria" pitchFamily="34" charset="-120"/>
              </a:rPr>
              <a:t>on,eff</a:t>
            </a:r>
            <a:pPr algn="ctr" indent="0" marL="0">
              <a:buNone/>
            </a:pPr>
            <a:r>
              <a:rPr lang="en-US" sz="2100" dirty="0">
                <a:solidFill>
                  <a:schemeClr val="tx1"/>
                </a:solidFill>
                <a:latin typeface="Cambria" pitchFamily="34" charset="0"/>
                <a:ea typeface="Cambria" pitchFamily="34" charset="-122"/>
                <a:cs typeface="Cambria" pitchFamily="34" charset="-120"/>
              </a:rPr>
              <a:t> = σ</a:t>
            </a:r>
            <a:pPr algn="ctr" indent="0" marL="0">
              <a:buNone/>
            </a:pPr>
            <a:r>
              <a:rPr lang="en-US" sz="2100" baseline="-40000" dirty="0">
                <a:solidFill>
                  <a:schemeClr val="tx1"/>
                </a:solidFill>
                <a:latin typeface="Cambria" pitchFamily="34" charset="0"/>
                <a:ea typeface="Cambria" pitchFamily="34" charset="-122"/>
                <a:cs typeface="Cambria" pitchFamily="34" charset="-120"/>
              </a:rPr>
              <a:t>on,v</a:t>
            </a:r>
            <a:pPr algn="ctr" indent="0" marL="0">
              <a:buNone/>
            </a:pPr>
            <a:r>
              <a:rPr lang="en-US" sz="2100" dirty="0">
                <a:solidFill>
                  <a:schemeClr val="tx1"/>
                </a:solidFill>
                <a:latin typeface="Cambria" pitchFamily="34" charset="0"/>
                <a:ea typeface="Cambria" pitchFamily="34" charset="-122"/>
                <a:cs typeface="Cambria" pitchFamily="34" charset="-120"/>
              </a:rPr>
              <a:t> · (σ</a:t>
            </a:r>
            <a:pPr algn="ctr" indent="0" marL="0">
              <a:buNone/>
            </a:pPr>
            <a:r>
              <a:rPr lang="en-US" sz="2100" baseline="-40000" dirty="0">
                <a:solidFill>
                  <a:schemeClr val="tx1"/>
                </a:solidFill>
                <a:latin typeface="Cambria" pitchFamily="34" charset="0"/>
                <a:ea typeface="Cambria" pitchFamily="34" charset="-122"/>
                <a:cs typeface="Cambria" pitchFamily="34" charset="-120"/>
              </a:rPr>
              <a:t>on0</a:t>
            </a:r>
            <a:pPr algn="ctr" indent="0" marL="0">
              <a:buNone/>
            </a:pPr>
            <a:r>
              <a:rPr lang="en-US" sz="2100" dirty="0">
                <a:solidFill>
                  <a:schemeClr val="tx1"/>
                </a:solidFill>
                <a:latin typeface="Cambria" pitchFamily="34" charset="0"/>
                <a:ea typeface="Cambria" pitchFamily="34" charset="-122"/>
                <a:cs typeface="Cambria" pitchFamily="34" charset="-120"/>
              </a:rPr>
              <a:t> / σ</a:t>
            </a:r>
            <a:pPr algn="ctr" indent="0" marL="0">
              <a:buNone/>
            </a:pPr>
            <a:r>
              <a:rPr lang="en-US" sz="2100" baseline="-40000" dirty="0">
                <a:solidFill>
                  <a:schemeClr val="tx1"/>
                </a:solidFill>
                <a:latin typeface="Cambria" pitchFamily="34" charset="0"/>
                <a:ea typeface="Cambria" pitchFamily="34" charset="-122"/>
                <a:cs typeface="Cambria" pitchFamily="34" charset="-120"/>
              </a:rPr>
              <a:t>on,v</a:t>
            </a:r>
            <a:pPr algn="ctr" indent="0" marL="0">
              <a:buNone/>
            </a:pPr>
            <a:r>
              <a:rPr lang="en-US" sz="2100" dirty="0">
                <a:solidFill>
                  <a:schemeClr val="tx1"/>
                </a:solidFill>
                <a:latin typeface="Cambria" pitchFamily="34" charset="0"/>
                <a:ea typeface="Cambria" pitchFamily="34" charset="-122"/>
                <a:cs typeface="Cambria" pitchFamily="34" charset="-120"/>
              </a:rPr>
              <a:t>)</a:t>
            </a:r>
            <a:pPr algn="ctr" indent="0" marL="0">
              <a:buNone/>
            </a:pPr>
            <a:r>
              <a:rPr lang="en-US" sz="2100" baseline="30000" dirty="0">
                <a:solidFill>
                  <a:schemeClr val="tx1"/>
                </a:solidFill>
                <a:latin typeface="Cambria" pitchFamily="34" charset="0"/>
                <a:ea typeface="Cambria" pitchFamily="34" charset="-122"/>
                <a:cs typeface="Cambria" pitchFamily="34" charset="-120"/>
              </a:rPr>
              <a:t> P</a:t>
            </a:r>
            <a:endParaRPr lang="en-US" sz="2100" dirty="0"/>
          </a:p>
        </p:txBody>
      </p:sp>
      <p:sp>
        <p:nvSpPr>
          <p:cNvPr id="7" name="bul_235"/>
          <p:cNvSpPr txBox="1"/>
          <p:nvPr/>
        </p:nvSpPr>
        <p:spPr>
          <a:xfrm>
            <a:off x="7498080" y="1371600"/>
            <a:ext cx="4206240" cy="4846320"/>
          </a:xfrm>
          <a:prstGeom prst="rect">
            <a:avLst/>
          </a:prstGeom>
          <a:noFill/>
          <a:ln/>
        </p:spPr>
        <p:txBody>
          <a:bodyPr wrap="square" lIns="635" tIns="635" rIns="635" bIns="635" rtlCol="0" anchor="t"/>
          <a:lstStyle/>
          <a:p>
            <a:pPr marL="228600" indent="-228600">
              <a:spcAft>
                <a:spcPts val="800"/>
              </a:spcAft>
              <a:buSzPct val="100000"/>
              <a:buChar char="•"/>
            </a:pPr>
            <a:r>
              <a:rPr lang="en-US" sz="1400" b="1" dirty="0">
                <a:solidFill>
                  <a:schemeClr val="tx1"/>
                </a:solidFill>
              </a:rPr>
              <a:t>cosh(E/E₀): </a:t>
            </a:r>
            <a:pPr indent="0" marL="0">
              <a:buNone/>
            </a:pPr>
            <a:r>
              <a:rPr lang="en-US" sz="1400" dirty="0">
                <a:solidFill>
                  <a:schemeClr val="tx1"/>
                </a:solidFill>
              </a:rPr>
              <a:t>OFF holatda ham tok kuchlanish bilan nochiziqli o'sadi (tajribada shunday). E₀ = 0.8 V / 1.5 nm.</a:t>
            </a:r>
            <a:endParaRPr lang="en-US" sz="1400" dirty="0"/>
          </a:p>
          <a:p>
            <a:pPr marL="228600" indent="-228600">
              <a:spcAft>
                <a:spcPts val="800"/>
              </a:spcAft>
              <a:buSzPct val="100000"/>
              <a:buChar char="•"/>
            </a:pPr>
            <a:r>
              <a:rPr lang="en-US" sz="1400" b="1" dirty="0">
                <a:solidFill>
                  <a:schemeClr val="tx1"/>
                </a:solidFill>
              </a:rPr>
              <a:t>Nega cosh, sinh(x)/x emas? </a:t>
            </a:r>
            <a:pPr indent="0" marL="0">
              <a:buNone/>
            </a:pPr>
            <a:r>
              <a:rPr lang="en-US" sz="1400" dirty="0">
                <a:solidFill>
                  <a:schemeClr val="tx1"/>
                </a:solidFill>
              </a:rPr>
              <a:t>Shakli bir xil, lekin bo'lish yo'q. Bo'lish yechuvchini juda sekinlashtirgan edi.</a:t>
            </a:r>
            <a:endParaRPr lang="en-US" sz="1400" dirty="0"/>
          </a:p>
          <a:p>
            <a:pPr marL="228600" indent="-228600">
              <a:spcAft>
                <a:spcPts val="800"/>
              </a:spcAft>
              <a:buSzPct val="100000"/>
              <a:buChar char="•"/>
            </a:pPr>
            <a:r>
              <a:rPr lang="en-US" sz="1400" b="1" dirty="0">
                <a:solidFill>
                  <a:schemeClr val="tx1"/>
                </a:solidFill>
              </a:rPr>
              <a:t>r_off^(1−P): </a:t>
            </a:r>
            <a:pPr indent="0" marL="0">
              <a:buNone/>
            </a:pPr>
            <a:r>
              <a:rPr lang="en-US" sz="1400" dirty="0">
                <a:solidFill>
                  <a:schemeClr val="tx1"/>
                </a:solidFill>
              </a:rPr>
              <a:t>manfiy gate OFF tokini ham kamaytiradi (r_off = 0.05). Bu (c), (d) panellardagi OFF tokini to'g'riladi.</a:t>
            </a:r>
            <a:endParaRPr lang="en-US" sz="1400" dirty="0"/>
          </a:p>
          <a:p>
            <a:pPr marL="228600" indent="-228600">
              <a:spcAft>
                <a:spcPts val="800"/>
              </a:spcAft>
              <a:buSzPct val="100000"/>
              <a:buChar char="•"/>
            </a:pPr>
            <a:r>
              <a:rPr lang="en-US" sz="1400" b="1" dirty="0">
                <a:solidFill>
                  <a:schemeClr val="tx1"/>
                </a:solidFill>
              </a:rPr>
              <a:t>σ_on,eff: </a:t>
            </a:r>
            <a:pPr indent="0" marL="0">
              <a:buNone/>
            </a:pPr>
            <a:r>
              <a:rPr lang="en-US" sz="1400" dirty="0">
                <a:solidFill>
                  <a:schemeClr val="tx1"/>
                </a:solidFill>
              </a:rPr>
              <a:t>P = 1 da σ_on0 (R_ON ≈ 7 kΩ), P kichik bo'lsa σ_on,v gacha kamayadi. Gate ON holatni ham zaiflashtiradi.</a:t>
            </a:r>
            <a:endParaRPr lang="en-US" sz="1400" dirty="0"/>
          </a:p>
        </p:txBody>
      </p:sp>
      <p:graphicFrame>
        <p:nvGraphicFramePr>
          <p:cNvPr id="20" name="tbl_236"/>
          <p:cNvGraphicFramePr>
            <a:graphicFrameLocks noGrp="1"/>
          </p:cNvGraphicFramePr>
          <p:nvPr>
            <p:extLst>
              <p:ext uri="{D42A27DB-BD31-4B8C-83A1-F6EECF244321}">
                <p14:modId xmlns:p14="http://schemas.microsoft.com/office/powerpoint/2010/main" val="1579011935"/>
              </p:ext>
            </p:extLst>
          </p:nvPr>
        </p:nvGraphicFramePr>
        <p:xfrm>
          <a:off x="548640" y="3749040"/>
          <a:ext cx="6675120" cy="914400"/>
        </p:xfrm>
        <a:graphic>
          <a:graphicData uri="http://schemas.openxmlformats.org/drawingml/2006/table">
            <a:tbl>
              <a:tblPr/>
              <a:tblGrid>
                <a:gridCol w="1371600"/>
                <a:gridCol w="2103120"/>
                <a:gridCol w="3200400"/>
              </a:tblGrid>
              <a:tr h="384048">
                <a:tc>
                  <a:txBody>
                    <a:bodyPr/>
                    <a:lstStyle/>
                    <a:p>
                      <a:pPr indent="0" marL="0">
                        <a:buNone/>
                      </a:pPr>
                      <a:r>
                        <a:rPr lang="en-US" sz="1400" b="1" dirty="0">
                          <a:solidFill>
                            <a:schemeClr val="bg1"/>
                          </a:solidFill>
                        </a:rPr>
                        <a:t>Parametr</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Qiymat</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Qanday topildi</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chemeClr val="tx1"/>
                    </a:solidFill>
                  </a:tcPr>
                </a:tc>
              </a:tr>
              <a:tr h="384048">
                <a:tc>
                  <a:txBody>
                    <a:bodyPr/>
                    <a:lstStyle/>
                    <a:p>
                      <a:pPr indent="0" marL="0">
                        <a:buNone/>
                      </a:pPr>
                      <a:r>
                        <a:rPr lang="en-US" sz="1400" dirty="0">
                          <a:solidFill>
                            <a:schemeClr val="tx1"/>
                          </a:solidFill>
                        </a:rPr>
                        <a:t>σ_off0</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1.62·10⁻⁸ S/m</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I_OFF(3.5 V) ≈ 0.03 mA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384048">
                <a:tc>
                  <a:txBody>
                    <a:bodyPr/>
                    <a:lstStyle/>
                    <a:p>
                      <a:pPr indent="0" marL="0">
                        <a:buNone/>
                      </a:pPr>
                      <a:r>
                        <a:rPr lang="en-US" sz="1400" dirty="0">
                          <a:solidFill>
                            <a:schemeClr val="tx1"/>
                          </a:solidFill>
                        </a:rPr>
                        <a:t>σ_on0</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1.07·10⁻⁵ S/m</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R_ON = 7 kΩ, panel (a)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384048">
                <a:tc>
                  <a:txBody>
                    <a:bodyPr/>
                    <a:lstStyle/>
                    <a:p>
                      <a:pPr indent="0" marL="0">
                        <a:buNone/>
                      </a:pPr>
                      <a:r>
                        <a:rPr lang="en-US" sz="1400" dirty="0">
                          <a:solidFill>
                            <a:schemeClr val="tx1"/>
                          </a:solidFill>
                        </a:rPr>
                        <a:t>σ_on,v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6.05·10⁻⁷ S/m</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I(4 V) ≈ 0.04 mA, panel (c)</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Kuchlanish va maydon qanday beriladi</a:t>
            </a:r>
            <a:endParaRPr lang="en-US" sz="3000" dirty="0"/>
          </a:p>
        </p:txBody>
      </p:sp>
      <p:sp>
        <p:nvSpPr>
          <p:cNvPr id="3" name="box_237"/>
          <p:cNvSpPr/>
          <p:nvPr/>
        </p:nvSpPr>
        <p:spPr>
          <a:xfrm>
            <a:off x="548640" y="1371600"/>
            <a:ext cx="11064240" cy="868680"/>
          </a:xfrm>
          <a:prstGeom prst="roundRect">
            <a:avLst>
              <a:gd name="adj" fmla="val 6316"/>
            </a:avLst>
          </a:prstGeom>
          <a:solidFill>
            <a:schemeClr val="bg2"/>
          </a:solidFill>
          <a:ln w="9525">
            <a:solidFill>
              <a:schemeClr val="bg2"/>
            </a:solidFill>
            <a:prstDash val="solid"/>
          </a:ln>
        </p:spPr>
      </p:sp>
      <p:sp>
        <p:nvSpPr>
          <p:cNvPr id="4" name="eq_238"/>
          <p:cNvSpPr txBox="1"/>
          <p:nvPr/>
        </p:nvSpPr>
        <p:spPr>
          <a:xfrm>
            <a:off x="731520" y="1371600"/>
            <a:ext cx="10698480" cy="868680"/>
          </a:xfrm>
          <a:prstGeom prst="rect">
            <a:avLst/>
          </a:prstGeom>
          <a:noFill/>
          <a:ln/>
        </p:spPr>
        <p:txBody>
          <a:bodyPr wrap="square" lIns="0" tIns="0" rIns="0" bIns="0" rtlCol="0" anchor="ctr"/>
          <a:lstStyle/>
          <a:p>
            <a:pPr algn="ctr" indent="0" marL="0">
              <a:buNone/>
            </a:pPr>
            <a:r>
              <a:rPr lang="en-US" sz="2100" dirty="0">
                <a:solidFill>
                  <a:schemeClr val="tx1"/>
                </a:solidFill>
                <a:latin typeface="Cambria" pitchFamily="34" charset="0"/>
                <a:ea typeface="Cambria" pitchFamily="34" charset="-122"/>
                <a:cs typeface="Cambria" pitchFamily="34" charset="-120"/>
              </a:rPr>
              <a:t>V(t) = V</a:t>
            </a:r>
            <a:pPr algn="ctr" indent="0" marL="0">
              <a:buNone/>
            </a:pPr>
            <a:r>
              <a:rPr lang="en-US" sz="2100" baseline="-40000" dirty="0">
                <a:solidFill>
                  <a:schemeClr val="tx1"/>
                </a:solidFill>
                <a:latin typeface="Cambria" pitchFamily="34" charset="0"/>
                <a:ea typeface="Cambria" pitchFamily="34" charset="-122"/>
                <a:cs typeface="Cambria" pitchFamily="34" charset="-120"/>
              </a:rPr>
              <a:t>amp</a:t>
            </a:r>
            <a:pPr algn="ctr" indent="0" marL="0">
              <a:buNone/>
            </a:pPr>
            <a:r>
              <a:rPr lang="en-US" sz="2100" dirty="0">
                <a:solidFill>
                  <a:schemeClr val="tx1"/>
                </a:solidFill>
                <a:latin typeface="Cambria" pitchFamily="34" charset="0"/>
                <a:ea typeface="Cambria" pitchFamily="34" charset="-122"/>
                <a:cs typeface="Cambria" pitchFamily="34" charset="-120"/>
              </a:rPr>
              <a:t> · (2/π) · asin(sin(2π f</a:t>
            </a:r>
            <a:pPr algn="ctr" indent="0" marL="0">
              <a:buNone/>
            </a:pPr>
            <a:r>
              <a:rPr lang="en-US" sz="2100" baseline="-40000" dirty="0">
                <a:solidFill>
                  <a:schemeClr val="tx1"/>
                </a:solidFill>
                <a:latin typeface="Cambria" pitchFamily="34" charset="0"/>
                <a:ea typeface="Cambria" pitchFamily="34" charset="-122"/>
                <a:cs typeface="Cambria" pitchFamily="34" charset="-120"/>
              </a:rPr>
              <a:t>0</a:t>
            </a:r>
            <a:pPr algn="ctr" indent="0" marL="0">
              <a:buNone/>
            </a:pPr>
            <a:r>
              <a:rPr lang="en-US" sz="2100" dirty="0">
                <a:solidFill>
                  <a:schemeClr val="tx1"/>
                </a:solidFill>
                <a:latin typeface="Cambria" pitchFamily="34" charset="0"/>
                <a:ea typeface="Cambria" pitchFamily="34" charset="-122"/>
                <a:cs typeface="Cambria" pitchFamily="34" charset="-120"/>
              </a:rPr>
              <a:t> t)),     f</a:t>
            </a:r>
            <a:pPr algn="ctr" indent="0" marL="0">
              <a:buNone/>
            </a:pPr>
            <a:r>
              <a:rPr lang="en-US" sz="2100" baseline="-40000" dirty="0">
                <a:solidFill>
                  <a:schemeClr val="tx1"/>
                </a:solidFill>
                <a:latin typeface="Cambria" pitchFamily="34" charset="0"/>
                <a:ea typeface="Cambria" pitchFamily="34" charset="-122"/>
                <a:cs typeface="Cambria" pitchFamily="34" charset="-120"/>
              </a:rPr>
              <a:t>0</a:t>
            </a:r>
            <a:pPr algn="ctr" indent="0" marL="0">
              <a:buNone/>
            </a:pPr>
            <a:r>
              <a:rPr lang="en-US" sz="2100" dirty="0">
                <a:solidFill>
                  <a:schemeClr val="tx1"/>
                </a:solidFill>
                <a:latin typeface="Cambria" pitchFamily="34" charset="0"/>
                <a:ea typeface="Cambria" pitchFamily="34" charset="-122"/>
                <a:cs typeface="Cambria" pitchFamily="34" charset="-120"/>
              </a:rPr>
              <a:t> = 100 Hz</a:t>
            </a:r>
            <a:endParaRPr lang="en-US" sz="2100" dirty="0"/>
          </a:p>
        </p:txBody>
      </p:sp>
      <p:sp>
        <p:nvSpPr>
          <p:cNvPr id="5" name="box_239"/>
          <p:cNvSpPr/>
          <p:nvPr/>
        </p:nvSpPr>
        <p:spPr>
          <a:xfrm>
            <a:off x="548640" y="2423160"/>
            <a:ext cx="11064240" cy="868680"/>
          </a:xfrm>
          <a:prstGeom prst="roundRect">
            <a:avLst>
              <a:gd name="adj" fmla="val 6316"/>
            </a:avLst>
          </a:prstGeom>
          <a:solidFill>
            <a:schemeClr val="bg2"/>
          </a:solidFill>
          <a:ln w="9525">
            <a:solidFill>
              <a:schemeClr val="bg2"/>
            </a:solidFill>
            <a:prstDash val="solid"/>
          </a:ln>
        </p:spPr>
      </p:sp>
      <p:sp>
        <p:nvSpPr>
          <p:cNvPr id="6" name="eq_240"/>
          <p:cNvSpPr txBox="1"/>
          <p:nvPr/>
        </p:nvSpPr>
        <p:spPr>
          <a:xfrm>
            <a:off x="731520" y="2423160"/>
            <a:ext cx="10698480" cy="868680"/>
          </a:xfrm>
          <a:prstGeom prst="rect">
            <a:avLst/>
          </a:prstGeom>
          <a:noFill/>
          <a:ln/>
        </p:spPr>
        <p:txBody>
          <a:bodyPr wrap="square" lIns="0" tIns="0" rIns="0" bIns="0" rtlCol="0" anchor="ctr"/>
          <a:lstStyle/>
          <a:p>
            <a:pPr algn="ctr" indent="0" marL="0">
              <a:buNone/>
            </a:pPr>
            <a:r>
              <a:rPr lang="en-US" sz="2100" dirty="0">
                <a:solidFill>
                  <a:schemeClr val="tx1"/>
                </a:solidFill>
                <a:latin typeface="Cambria" pitchFamily="34" charset="0"/>
                <a:ea typeface="Cambria" pitchFamily="34" charset="-122"/>
                <a:cs typeface="Cambria" pitchFamily="34" charset="-120"/>
              </a:rPr>
              <a:t>E</a:t>
            </a:r>
            <a:pPr algn="ctr" indent="0" marL="0">
              <a:buNone/>
            </a:pPr>
            <a:r>
              <a:rPr lang="en-US" sz="2100" baseline="-40000" dirty="0">
                <a:solidFill>
                  <a:schemeClr val="tx1"/>
                </a:solidFill>
                <a:latin typeface="Cambria" pitchFamily="34" charset="0"/>
                <a:ea typeface="Cambria" pitchFamily="34" charset="-122"/>
                <a:cs typeface="Cambria" pitchFamily="34" charset="-120"/>
              </a:rPr>
              <a:t>drive</a:t>
            </a:r>
            <a:pPr algn="ctr" indent="0" marL="0">
              <a:buNone/>
            </a:pPr>
            <a:r>
              <a:rPr lang="en-US" sz="2100" dirty="0">
                <a:solidFill>
                  <a:schemeClr val="tx1"/>
                </a:solidFill>
                <a:latin typeface="Cambria" pitchFamily="34" charset="0"/>
                <a:ea typeface="Cambria" pitchFamily="34" charset="-122"/>
                <a:cs typeface="Cambria" pitchFamily="34" charset="-120"/>
              </a:rPr>
              <a:t> = −⟨E</a:t>
            </a:r>
            <a:pPr algn="ctr" indent="0" marL="0">
              <a:buNone/>
            </a:pPr>
            <a:r>
              <a:rPr lang="en-US" sz="2100" baseline="-40000" dirty="0">
                <a:solidFill>
                  <a:schemeClr val="tx1"/>
                </a:solidFill>
                <a:latin typeface="Cambria" pitchFamily="34" charset="0"/>
                <a:ea typeface="Cambria" pitchFamily="34" charset="-122"/>
                <a:cs typeface="Cambria" pitchFamily="34" charset="-120"/>
              </a:rPr>
              <a:t>x</a:t>
            </a:r>
            <a:pPr algn="ctr" indent="0" marL="0">
              <a:buNone/>
            </a:pPr>
            <a:r>
              <a:rPr lang="en-US" sz="2100" dirty="0">
                <a:solidFill>
                  <a:schemeClr val="tx1"/>
                </a:solidFill>
                <a:latin typeface="Cambria" pitchFamily="34" charset="0"/>
                <a:ea typeface="Cambria" pitchFamily="34" charset="-122"/>
                <a:cs typeface="Cambria" pitchFamily="34" charset="-120"/>
              </a:rPr>
              <a:t>⟩</a:t>
            </a:r>
            <a:pPr algn="ctr" indent="0" marL="0">
              <a:buNone/>
            </a:pPr>
            <a:r>
              <a:rPr lang="en-US" sz="2100" baseline="-40000" dirty="0">
                <a:solidFill>
                  <a:schemeClr val="tx1"/>
                </a:solidFill>
                <a:latin typeface="Cambria" pitchFamily="34" charset="0"/>
                <a:ea typeface="Cambria" pitchFamily="34" charset="-122"/>
                <a:cs typeface="Cambria" pitchFamily="34" charset="-120"/>
              </a:rPr>
              <a:t>faol soha</a:t>
            </a:r>
            <a:pPr algn="ctr" indent="0" marL="0">
              <a:buNone/>
            </a:pPr>
            <a:r>
              <a:rPr lang="en-US" sz="2100" dirty="0">
                <a:solidFill>
                  <a:schemeClr val="tx1"/>
                </a:solidFill>
                <a:latin typeface="Cambria" pitchFamily="34" charset="0"/>
                <a:ea typeface="Cambria" pitchFamily="34" charset="-122"/>
                <a:cs typeface="Cambria" pitchFamily="34" charset="-120"/>
              </a:rPr>
              <a:t> ≈ V / L</a:t>
            </a:r>
            <a:pPr algn="ctr" indent="0" marL="0">
              <a:buNone/>
            </a:pPr>
            <a:r>
              <a:rPr lang="en-US" sz="2100" baseline="-40000" dirty="0">
                <a:solidFill>
                  <a:schemeClr val="tx1"/>
                </a:solidFill>
                <a:latin typeface="Cambria" pitchFamily="34" charset="0"/>
                <a:ea typeface="Cambria" pitchFamily="34" charset="-122"/>
                <a:cs typeface="Cambria" pitchFamily="34" charset="-120"/>
              </a:rPr>
              <a:t>gap</a:t>
            </a:r>
            <a:endParaRPr lang="en-US" sz="2100" dirty="0"/>
          </a:p>
        </p:txBody>
      </p:sp>
      <p:sp>
        <p:nvSpPr>
          <p:cNvPr id="7" name="num_241"/>
          <p:cNvSpPr/>
          <p:nvPr/>
        </p:nvSpPr>
        <p:spPr>
          <a:xfrm>
            <a:off x="548640" y="3566160"/>
            <a:ext cx="457200" cy="457200"/>
          </a:xfrm>
          <a:prstGeom prst="ellipse">
            <a:avLst/>
          </a:prstGeom>
          <a:solidFill>
            <a:schemeClr val="accent3"/>
          </a:solidFill>
          <a:ln w="12700">
            <a:solidFill>
              <a:schemeClr val="accent3"/>
            </a:solidFill>
            <a:prstDash val="solid"/>
          </a:ln>
        </p:spPr>
      </p:sp>
      <p:sp>
        <p:nvSpPr>
          <p:cNvPr id="8" name="numtxt_242"/>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_243"/>
          <p:cNvSpPr txBox="1"/>
          <p:nvPr/>
        </p:nvSpPr>
        <p:spPr>
          <a:xfrm>
            <a:off x="1188720" y="3520440"/>
            <a:ext cx="4754880" cy="411480"/>
          </a:xfrm>
          <a:prstGeom prst="rect">
            <a:avLst/>
          </a:prstGeom>
          <a:noFill/>
          <a:ln/>
        </p:spPr>
        <p:txBody>
          <a:bodyPr wrap="square" lIns="635" tIns="635" rIns="635" bIns="635" rtlCol="0" anchor="t"/>
          <a:lstStyle/>
          <a:p>
            <a:pPr indent="0" marL="0">
              <a:buNone/>
            </a:pPr>
            <a:r>
              <a:rPr lang="en-US" sz="1600" b="1" dirty="0">
                <a:solidFill>
                  <a:schemeClr val="tx1"/>
                </a:solidFill>
              </a:rPr>
              <a:t>Uchburchak to'lqin</a:t>
            </a:r>
            <a:endParaRPr lang="en-US" sz="1600" dirty="0"/>
          </a:p>
        </p:txBody>
      </p:sp>
      <p:sp>
        <p:nvSpPr>
          <p:cNvPr id="10" name="text_244"/>
          <p:cNvSpPr txBox="1"/>
          <p:nvPr/>
        </p:nvSpPr>
        <p:spPr>
          <a:xfrm>
            <a:off x="1188720" y="3931920"/>
            <a:ext cx="4754880" cy="914400"/>
          </a:xfrm>
          <a:prstGeom prst="rect">
            <a:avLst/>
          </a:prstGeom>
          <a:noFill/>
          <a:ln/>
        </p:spPr>
        <p:txBody>
          <a:bodyPr wrap="square" lIns="635" tIns="635" rIns="635" bIns="635" rtlCol="0" anchor="t"/>
          <a:lstStyle/>
          <a:p>
            <a:pPr indent="0" marL="0">
              <a:buNone/>
            </a:pPr>
            <a:r>
              <a:rPr lang="en-US" sz="1400" dirty="0">
                <a:solidFill>
                  <a:schemeClr val="tx1"/>
                </a:solidFill>
              </a:rPr>
              <a:t>asin(sin(…)) — kuchlanish 0 → +V_amp → 0 → −V_amp → 0 tekis o'zgaradi. Tajribadagi 100 Hz bilan bir xil. Bir davr = 10 ms.</a:t>
            </a:r>
            <a:endParaRPr lang="en-US" sz="1400" dirty="0"/>
          </a:p>
        </p:txBody>
      </p:sp>
      <p:sp>
        <p:nvSpPr>
          <p:cNvPr id="11" name="num_245"/>
          <p:cNvSpPr/>
          <p:nvPr/>
        </p:nvSpPr>
        <p:spPr>
          <a:xfrm>
            <a:off x="6217920" y="3566160"/>
            <a:ext cx="457200" cy="457200"/>
          </a:xfrm>
          <a:prstGeom prst="ellipse">
            <a:avLst/>
          </a:prstGeom>
          <a:solidFill>
            <a:schemeClr val="accent3"/>
          </a:solidFill>
          <a:ln w="12700">
            <a:solidFill>
              <a:schemeClr val="accent3"/>
            </a:solidFill>
            <a:prstDash val="solid"/>
          </a:ln>
        </p:spPr>
      </p:sp>
      <p:sp>
        <p:nvSpPr>
          <p:cNvPr id="12" name="numtxt_246"/>
          <p:cNvSpPr txBox="1"/>
          <p:nvPr/>
        </p:nvSpPr>
        <p:spPr>
          <a:xfrm>
            <a:off x="6217920" y="3566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_247"/>
          <p:cNvSpPr txBox="1"/>
          <p:nvPr/>
        </p:nvSpPr>
        <p:spPr>
          <a:xfrm>
            <a:off x="6858000" y="3520440"/>
            <a:ext cx="4754880" cy="411480"/>
          </a:xfrm>
          <a:prstGeom prst="rect">
            <a:avLst/>
          </a:prstGeom>
          <a:noFill/>
          <a:ln/>
        </p:spPr>
        <p:txBody>
          <a:bodyPr wrap="square" lIns="635" tIns="635" rIns="635" bIns="635" rtlCol="0" anchor="t"/>
          <a:lstStyle/>
          <a:p>
            <a:pPr indent="0" marL="0">
              <a:buNone/>
            </a:pPr>
            <a:r>
              <a:rPr lang="en-US" sz="1600" b="1" dirty="0">
                <a:solidFill>
                  <a:schemeClr val="tx1"/>
                </a:solidFill>
              </a:rPr>
              <a:t>Har panel o'z amplitudasi bilan</a:t>
            </a:r>
            <a:endParaRPr lang="en-US" sz="1600" dirty="0"/>
          </a:p>
        </p:txBody>
      </p:sp>
      <p:sp>
        <p:nvSpPr>
          <p:cNvPr id="14" name="text_248"/>
          <p:cNvSpPr txBox="1"/>
          <p:nvPr/>
        </p:nvSpPr>
        <p:spPr>
          <a:xfrm>
            <a:off x="6858000" y="3931920"/>
            <a:ext cx="4754880" cy="914400"/>
          </a:xfrm>
          <a:prstGeom prst="rect">
            <a:avLst/>
          </a:prstGeom>
          <a:noFill/>
          <a:ln/>
        </p:spPr>
        <p:txBody>
          <a:bodyPr wrap="square" lIns="635" tIns="635" rIns="635" bIns="635" rtlCol="0" anchor="t"/>
          <a:lstStyle/>
          <a:p>
            <a:pPr indent="0" marL="0">
              <a:buNone/>
            </a:pPr>
            <a:r>
              <a:rPr lang="en-US" sz="1400" dirty="0">
                <a:solidFill>
                  <a:schemeClr val="tx1"/>
                </a:solidFill>
              </a:rPr>
              <a:t>V_amp: (a) 3.8 V, (b) 3.8 V, (c) 4.5 V, (d) 4.0 V — maqoladagi grafiklardagidek.</a:t>
            </a:r>
            <a:endParaRPr lang="en-US" sz="1400" dirty="0"/>
          </a:p>
        </p:txBody>
      </p:sp>
      <p:sp>
        <p:nvSpPr>
          <p:cNvPr id="15" name="num_249"/>
          <p:cNvSpPr/>
          <p:nvPr/>
        </p:nvSpPr>
        <p:spPr>
          <a:xfrm>
            <a:off x="548640" y="4983480"/>
            <a:ext cx="457200" cy="457200"/>
          </a:xfrm>
          <a:prstGeom prst="ellipse">
            <a:avLst/>
          </a:prstGeom>
          <a:solidFill>
            <a:schemeClr val="accent3"/>
          </a:solidFill>
          <a:ln w="12700">
            <a:solidFill>
              <a:schemeClr val="accent3"/>
            </a:solidFill>
            <a:prstDash val="solid"/>
          </a:ln>
        </p:spPr>
      </p:sp>
      <p:sp>
        <p:nvSpPr>
          <p:cNvPr id="16" name="numtxt_250"/>
          <p:cNvSpPr txBox="1"/>
          <p:nvPr/>
        </p:nvSpPr>
        <p:spPr>
          <a:xfrm>
            <a:off x="548640" y="4983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_251"/>
          <p:cNvSpPr txBox="1"/>
          <p:nvPr/>
        </p:nvSpPr>
        <p:spPr>
          <a:xfrm>
            <a:off x="1188720" y="4937760"/>
            <a:ext cx="4754880" cy="411480"/>
          </a:xfrm>
          <a:prstGeom prst="rect">
            <a:avLst/>
          </a:prstGeom>
          <a:noFill/>
          <a:ln/>
        </p:spPr>
        <p:txBody>
          <a:bodyPr wrap="square" lIns="635" tIns="635" rIns="635" bIns="635" rtlCol="0" anchor="t"/>
          <a:lstStyle/>
          <a:p>
            <a:pPr indent="0" marL="0">
              <a:buNone/>
            </a:pPr>
            <a:r>
              <a:rPr lang="en-US" sz="1600" b="1" dirty="0">
                <a:solidFill>
                  <a:schemeClr val="tx1"/>
                </a:solidFill>
              </a:rPr>
              <a:t>Maydon faol sohada o'rtacha</a:t>
            </a:r>
            <a:endParaRPr lang="en-US" sz="1600" dirty="0"/>
          </a:p>
        </p:txBody>
      </p:sp>
      <p:sp>
        <p:nvSpPr>
          <p:cNvPr id="18" name="text_252"/>
          <p:cNvSpPr txBox="1"/>
          <p:nvPr/>
        </p:nvSpPr>
        <p:spPr>
          <a:xfrm>
            <a:off x="1188720" y="5349240"/>
            <a:ext cx="4754880" cy="914400"/>
          </a:xfrm>
          <a:prstGeom prst="rect">
            <a:avLst/>
          </a:prstGeom>
          <a:noFill/>
          <a:ln/>
        </p:spPr>
        <p:txBody>
          <a:bodyPr wrap="square" lIns="635" tIns="635" rIns="635" bIns="635" rtlCol="0" anchor="t"/>
          <a:lstStyle/>
          <a:p>
            <a:pPr indent="0" marL="0">
              <a:buNone/>
            </a:pPr>
            <a:r>
              <a:rPr lang="en-US" sz="1400" dirty="0">
                <a:solidFill>
                  <a:schemeClr val="tx1"/>
                </a:solidFill>
              </a:rPr>
              <a:t>COMSOL faol sohadagi E_x ni o'rtachalaydi (aveop). Shu son sinh tenglamasiga kiradi.</a:t>
            </a:r>
            <a:endParaRPr lang="en-US" sz="1400" dirty="0"/>
          </a:p>
        </p:txBody>
      </p:sp>
      <p:sp>
        <p:nvSpPr>
          <p:cNvPr id="19" name="num_253"/>
          <p:cNvSpPr/>
          <p:nvPr/>
        </p:nvSpPr>
        <p:spPr>
          <a:xfrm>
            <a:off x="6217920" y="4983480"/>
            <a:ext cx="457200" cy="457200"/>
          </a:xfrm>
          <a:prstGeom prst="ellipse">
            <a:avLst/>
          </a:prstGeom>
          <a:solidFill>
            <a:schemeClr val="accent3"/>
          </a:solidFill>
          <a:ln w="12700">
            <a:solidFill>
              <a:schemeClr val="accent3"/>
            </a:solidFill>
            <a:prstDash val="solid"/>
          </a:ln>
        </p:spPr>
      </p:sp>
      <p:sp>
        <p:nvSpPr>
          <p:cNvPr id="20" name="numtxt_254"/>
          <p:cNvSpPr txBox="1"/>
          <p:nvPr/>
        </p:nvSpPr>
        <p:spPr>
          <a:xfrm>
            <a:off x="6217920" y="4983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_255"/>
          <p:cNvSpPr txBox="1"/>
          <p:nvPr/>
        </p:nvSpPr>
        <p:spPr>
          <a:xfrm>
            <a:off x="6858000" y="4937760"/>
            <a:ext cx="4754880" cy="411480"/>
          </a:xfrm>
          <a:prstGeom prst="rect">
            <a:avLst/>
          </a:prstGeom>
          <a:noFill/>
          <a:ln/>
        </p:spPr>
        <p:txBody>
          <a:bodyPr wrap="square" lIns="635" tIns="635" rIns="635" bIns="635" rtlCol="0" anchor="t"/>
          <a:lstStyle/>
          <a:p>
            <a:pPr indent="0" marL="0">
              <a:buNone/>
            </a:pPr>
            <a:r>
              <a:rPr lang="en-US" sz="1600" b="1" dirty="0">
                <a:solidFill>
                  <a:schemeClr val="tx1"/>
                </a:solidFill>
              </a:rPr>
              <a:t>Nega L_gap = 1.5 nm muhim</a:t>
            </a:r>
            <a:endParaRPr lang="en-US" sz="1600" dirty="0"/>
          </a:p>
        </p:txBody>
      </p:sp>
      <p:sp>
        <p:nvSpPr>
          <p:cNvPr id="22" name="text_256"/>
          <p:cNvSpPr txBox="1"/>
          <p:nvPr/>
        </p:nvSpPr>
        <p:spPr>
          <a:xfrm>
            <a:off x="6858000" y="5349240"/>
            <a:ext cx="4754880" cy="914400"/>
          </a:xfrm>
          <a:prstGeom prst="rect">
            <a:avLst/>
          </a:prstGeom>
          <a:noFill/>
          <a:ln/>
        </p:spPr>
        <p:txBody>
          <a:bodyPr wrap="square" lIns="635" tIns="635" rIns="635" bIns="635" rtlCol="0" anchor="t"/>
          <a:lstStyle/>
          <a:p>
            <a:pPr indent="0" marL="0">
              <a:buNone/>
            </a:pPr>
            <a:r>
              <a:rPr lang="en-US" sz="1400" dirty="0">
                <a:solidFill>
                  <a:schemeClr val="tx1"/>
                </a:solidFill>
              </a:rPr>
              <a:t>E ≈ V/L_gap, sinh esa eksponensial. L_gap 2 marta katta bo'lsa, tezlik millionlab marta kamayadi va kalitlash bo'lmaydi.</a:t>
            </a:r>
            <a:endParaRPr lang="en-US" sz="14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10058400" cy="548640"/>
          </a:xfrm>
          <a:prstGeom prst="rect">
            <a:avLst/>
          </a:prstGeom>
          <a:noFill/>
          <a:ln/>
        </p:spPr>
        <p:txBody>
          <a:bodyPr wrap="square" rtlCol="0"/>
          <a:lstStyle/>
          <a:p>
            <a:pPr indent="0" marL="0">
              <a:buNone/>
            </a:pPr>
            <a:r>
              <a:rPr lang="en-US" sz="1800" b="1" dirty="0">
                <a:solidFill>
                  <a:schemeClr val="accent1"/>
                </a:solidFill>
              </a:rPr>
              <a:t>4-bo'lim</a:t>
            </a:r>
            <a:endParaRPr lang="en-US" sz="1800" dirty="0"/>
          </a:p>
        </p:txBody>
      </p:sp>
      <p:sp>
        <p:nvSpPr>
          <p:cNvPr id="3" name="Text 0"/>
          <p:cNvSpPr/>
          <p:nvPr>
            <p:ph idx="101" type="title" hasCustomPrompt="1"/>
          </p:nvPr>
        </p:nvSpPr>
        <p:spPr>
          <a:xfrm>
            <a:off x="731520" y="2651760"/>
            <a:ext cx="106984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Hisoblash qanday bajarildi</a:t>
            </a:r>
            <a:endParaRPr lang="en-US" sz="4000" dirty="0"/>
          </a:p>
        </p:txBody>
      </p:sp>
      <p:sp>
        <p:nvSpPr>
          <p:cNvPr id="4" name="Text 0"/>
          <p:cNvSpPr/>
          <p:nvPr>
            <p:ph idx="102" type="body" hasCustomPrompt="1"/>
          </p:nvPr>
        </p:nvSpPr>
        <p:spPr>
          <a:xfrm>
            <a:off x="731520" y="4023360"/>
            <a:ext cx="10058400" cy="1097280"/>
          </a:xfrm>
          <a:prstGeom prst="rect">
            <a:avLst/>
          </a:prstGeom>
          <a:noFill/>
          <a:ln/>
        </p:spPr>
        <p:txBody>
          <a:bodyPr wrap="square" rtlCol="0" anchor="t"/>
          <a:lstStyle/>
          <a:p>
            <a:pPr indent="0" marL="0">
              <a:buNone/>
            </a:pPr>
            <a:r>
              <a:rPr lang="en-US" sz="1800" dirty="0">
                <a:solidFill>
                  <a:schemeClr val="bg2"/>
                </a:solidFill>
              </a:rPr>
              <a:t>Kalibrlash, issiqlik tekshiruvi, 4 ta vaqt bo'yicha hisob, natijani eksport qilish</a:t>
            </a:r>
            <a:endParaRPr lang="en-US" sz="18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Hisoblash ketma-ketligi (Model2_FET_Fig1.java)</a:t>
            </a:r>
            <a:endParaRPr lang="en-US" sz="3000" dirty="0"/>
          </a:p>
        </p:txBody>
      </p:sp>
      <p:sp>
        <p:nvSpPr>
          <p:cNvPr id="3" name="box_257"/>
          <p:cNvSpPr/>
          <p:nvPr/>
        </p:nvSpPr>
        <p:spPr>
          <a:xfrm>
            <a:off x="548640" y="1463040"/>
            <a:ext cx="2057400" cy="2651760"/>
          </a:xfrm>
          <a:prstGeom prst="roundRect">
            <a:avLst>
              <a:gd name="adj" fmla="val 3556"/>
            </a:avLst>
          </a:prstGeom>
          <a:solidFill>
            <a:schemeClr val="bg2"/>
          </a:solidFill>
          <a:ln w="9525">
            <a:solidFill>
              <a:schemeClr val="bg2"/>
            </a:solidFill>
            <a:prstDash val="solid"/>
          </a:ln>
        </p:spPr>
      </p:sp>
      <p:sp>
        <p:nvSpPr>
          <p:cNvPr id="4" name="num_258"/>
          <p:cNvSpPr/>
          <p:nvPr/>
        </p:nvSpPr>
        <p:spPr>
          <a:xfrm>
            <a:off x="731520" y="1645920"/>
            <a:ext cx="457200" cy="457200"/>
          </a:xfrm>
          <a:prstGeom prst="ellipse">
            <a:avLst/>
          </a:prstGeom>
          <a:solidFill>
            <a:schemeClr val="accent1"/>
          </a:solidFill>
          <a:ln w="12700">
            <a:solidFill>
              <a:schemeClr val="accent1"/>
            </a:solidFill>
            <a:prstDash val="solid"/>
          </a:ln>
        </p:spPr>
      </p:sp>
      <p:sp>
        <p:nvSpPr>
          <p:cNvPr id="5" name="numtxt_259"/>
          <p:cNvSpPr txBox="1"/>
          <p:nvPr/>
        </p:nvSpPr>
        <p:spPr>
          <a:xfrm>
            <a:off x="731520"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_260"/>
          <p:cNvSpPr txBox="1"/>
          <p:nvPr/>
        </p:nvSpPr>
        <p:spPr>
          <a:xfrm>
            <a:off x="731520" y="2194560"/>
            <a:ext cx="1783080" cy="685800"/>
          </a:xfrm>
          <a:prstGeom prst="rect">
            <a:avLst/>
          </a:prstGeom>
          <a:noFill/>
          <a:ln/>
        </p:spPr>
        <p:txBody>
          <a:bodyPr wrap="square" lIns="635" tIns="635" rIns="635" bIns="635" rtlCol="0" anchor="t"/>
          <a:lstStyle/>
          <a:p>
            <a:pPr indent="0" marL="0">
              <a:buNone/>
            </a:pPr>
            <a:r>
              <a:rPr lang="en-US" sz="1600" b="1" dirty="0">
                <a:solidFill>
                  <a:schemeClr val="tx1"/>
                </a:solidFill>
              </a:rPr>
              <a:t>Kalibrlash</a:t>
            </a:r>
            <a:endParaRPr lang="en-US" sz="1600" dirty="0"/>
          </a:p>
        </p:txBody>
      </p:sp>
      <p:sp>
        <p:nvSpPr>
          <p:cNvPr id="7" name="text_261"/>
          <p:cNvSpPr txBox="1"/>
          <p:nvPr/>
        </p:nvSpPr>
        <p:spPr>
          <a:xfrm>
            <a:off x="731520" y="2834640"/>
            <a:ext cx="1783080" cy="411480"/>
          </a:xfrm>
          <a:prstGeom prst="rect">
            <a:avLst/>
          </a:prstGeom>
          <a:noFill/>
          <a:ln/>
        </p:spPr>
        <p:txBody>
          <a:bodyPr wrap="square" lIns="635" tIns="635" rIns="635" bIns="635" rtlCol="0" anchor="t"/>
          <a:lstStyle/>
          <a:p>
            <a:pPr indent="0" marL="0">
              <a:buNone/>
            </a:pPr>
            <a:r>
              <a:rPr lang="en-US" sz="1200" b="1" dirty="0">
                <a:solidFill>
                  <a:schemeClr val="accent3"/>
                </a:solidFill>
              </a:rPr>
              <a:t>Study 1, Stationary</a:t>
            </a:r>
            <a:endParaRPr lang="en-US" sz="1200" dirty="0"/>
          </a:p>
        </p:txBody>
      </p:sp>
      <p:sp>
        <p:nvSpPr>
          <p:cNvPr id="8" name="text_262"/>
          <p:cNvSpPr txBox="1"/>
          <p:nvPr/>
        </p:nvSpPr>
        <p:spPr>
          <a:xfrm>
            <a:off x="731520" y="3200400"/>
            <a:ext cx="1783080" cy="868680"/>
          </a:xfrm>
          <a:prstGeom prst="rect">
            <a:avLst/>
          </a:prstGeom>
          <a:noFill/>
          <a:ln/>
        </p:spPr>
        <p:txBody>
          <a:bodyPr wrap="square" lIns="635" tIns="635" rIns="635" bIns="635" rtlCol="0" anchor="t"/>
          <a:lstStyle/>
          <a:p>
            <a:pPr indent="0" marL="0">
              <a:buNone/>
            </a:pPr>
            <a:r>
              <a:rPr lang="en-US" sz="1200" dirty="0">
                <a:solidFill>
                  <a:schemeClr val="tx1"/>
                </a:solidFill>
              </a:rPr>
              <a:t>σ_off0, σ_on0, σ_on,v avtomatik topildi</a:t>
            </a:r>
            <a:endParaRPr lang="en-US" sz="1200" dirty="0"/>
          </a:p>
        </p:txBody>
      </p:sp>
      <p:sp>
        <p:nvSpPr>
          <p:cNvPr id="9" name="arrow_263"/>
          <p:cNvSpPr/>
          <p:nvPr/>
        </p:nvSpPr>
        <p:spPr>
          <a:xfrm>
            <a:off x="2624328" y="2788920"/>
            <a:ext cx="182880" cy="0"/>
          </a:xfrm>
          <a:prstGeom prst="line">
            <a:avLst/>
          </a:prstGeom>
          <a:noFill/>
          <a:ln w="25400">
            <a:solidFill>
              <a:schemeClr val="accent6"/>
            </a:solidFill>
            <a:prstDash val="solid"/>
            <a:tailEnd type="triangle"/>
          </a:ln>
        </p:spPr>
      </p:sp>
      <p:sp>
        <p:nvSpPr>
          <p:cNvPr id="10" name="box_264"/>
          <p:cNvSpPr/>
          <p:nvPr/>
        </p:nvSpPr>
        <p:spPr>
          <a:xfrm>
            <a:off x="2834640" y="1463040"/>
            <a:ext cx="2057400" cy="2651760"/>
          </a:xfrm>
          <a:prstGeom prst="roundRect">
            <a:avLst>
              <a:gd name="adj" fmla="val 3556"/>
            </a:avLst>
          </a:prstGeom>
          <a:solidFill>
            <a:schemeClr val="bg2"/>
          </a:solidFill>
          <a:ln w="9525">
            <a:solidFill>
              <a:schemeClr val="bg2"/>
            </a:solidFill>
            <a:prstDash val="solid"/>
          </a:ln>
        </p:spPr>
      </p:sp>
      <p:sp>
        <p:nvSpPr>
          <p:cNvPr id="11" name="num_265"/>
          <p:cNvSpPr/>
          <p:nvPr/>
        </p:nvSpPr>
        <p:spPr>
          <a:xfrm>
            <a:off x="3017520" y="1645920"/>
            <a:ext cx="457200" cy="457200"/>
          </a:xfrm>
          <a:prstGeom prst="ellipse">
            <a:avLst/>
          </a:prstGeom>
          <a:solidFill>
            <a:schemeClr val="accent1"/>
          </a:solidFill>
          <a:ln w="12700">
            <a:solidFill>
              <a:schemeClr val="accent1"/>
            </a:solidFill>
            <a:prstDash val="solid"/>
          </a:ln>
        </p:spPr>
      </p:sp>
      <p:sp>
        <p:nvSpPr>
          <p:cNvPr id="12" name="numtxt_266"/>
          <p:cNvSpPr txBox="1"/>
          <p:nvPr/>
        </p:nvSpPr>
        <p:spPr>
          <a:xfrm>
            <a:off x="3017520"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_267"/>
          <p:cNvSpPr txBox="1"/>
          <p:nvPr/>
        </p:nvSpPr>
        <p:spPr>
          <a:xfrm>
            <a:off x="3017520" y="2194560"/>
            <a:ext cx="1783080" cy="685800"/>
          </a:xfrm>
          <a:prstGeom prst="rect">
            <a:avLst/>
          </a:prstGeom>
          <a:noFill/>
          <a:ln/>
        </p:spPr>
        <p:txBody>
          <a:bodyPr wrap="square" lIns="635" tIns="635" rIns="635" bIns="635" rtlCol="0" anchor="t"/>
          <a:lstStyle/>
          <a:p>
            <a:pPr indent="0" marL="0">
              <a:buNone/>
            </a:pPr>
            <a:r>
              <a:rPr lang="en-US" sz="1600" b="1" dirty="0">
                <a:solidFill>
                  <a:schemeClr val="tx1"/>
                </a:solidFill>
              </a:rPr>
              <a:t>Issiqlik tekshiruvi</a:t>
            </a:r>
            <a:endParaRPr lang="en-US" sz="1600" dirty="0"/>
          </a:p>
        </p:txBody>
      </p:sp>
      <p:sp>
        <p:nvSpPr>
          <p:cNvPr id="14" name="text_268"/>
          <p:cNvSpPr txBox="1"/>
          <p:nvPr/>
        </p:nvSpPr>
        <p:spPr>
          <a:xfrm>
            <a:off x="3017520" y="2834640"/>
            <a:ext cx="1783080" cy="411480"/>
          </a:xfrm>
          <a:prstGeom prst="rect">
            <a:avLst/>
          </a:prstGeom>
          <a:noFill/>
          <a:ln/>
        </p:spPr>
        <p:txBody>
          <a:bodyPr wrap="square" lIns="635" tIns="635" rIns="635" bIns="635" rtlCol="0" anchor="t"/>
          <a:lstStyle/>
          <a:p>
            <a:pPr indent="0" marL="0">
              <a:buNone/>
            </a:pPr>
            <a:r>
              <a:rPr lang="en-US" sz="1200" b="1" dirty="0">
                <a:solidFill>
                  <a:schemeClr val="accent3"/>
                </a:solidFill>
              </a:rPr>
              <a:t>Stationary + Heat</a:t>
            </a:r>
            <a:endParaRPr lang="en-US" sz="1200" dirty="0"/>
          </a:p>
        </p:txBody>
      </p:sp>
      <p:sp>
        <p:nvSpPr>
          <p:cNvPr id="15" name="text_269"/>
          <p:cNvSpPr txBox="1"/>
          <p:nvPr/>
        </p:nvSpPr>
        <p:spPr>
          <a:xfrm>
            <a:off x="3017520" y="3200400"/>
            <a:ext cx="1783080" cy="868680"/>
          </a:xfrm>
          <a:prstGeom prst="rect">
            <a:avLst/>
          </a:prstGeom>
          <a:noFill/>
          <a:ln/>
        </p:spPr>
        <p:txBody>
          <a:bodyPr wrap="square" lIns="635" tIns="635" rIns="635" bIns="635" rtlCol="0" anchor="t"/>
          <a:lstStyle/>
          <a:p>
            <a:pPr indent="0" marL="0">
              <a:buNone/>
            </a:pPr>
            <a:r>
              <a:rPr lang="en-US" sz="1200" dirty="0">
                <a:solidFill>
                  <a:schemeClr val="tx1"/>
                </a:solidFill>
              </a:rPr>
              <a:t>T_max = 300 K, qizish yo'q, issiqlik o'chirildi</a:t>
            </a:r>
            <a:endParaRPr lang="en-US" sz="1200" dirty="0"/>
          </a:p>
        </p:txBody>
      </p:sp>
      <p:sp>
        <p:nvSpPr>
          <p:cNvPr id="16" name="arrow_270"/>
          <p:cNvSpPr/>
          <p:nvPr/>
        </p:nvSpPr>
        <p:spPr>
          <a:xfrm>
            <a:off x="4910328" y="2788920"/>
            <a:ext cx="182880" cy="0"/>
          </a:xfrm>
          <a:prstGeom prst="line">
            <a:avLst/>
          </a:prstGeom>
          <a:noFill/>
          <a:ln w="25400">
            <a:solidFill>
              <a:schemeClr val="accent6"/>
            </a:solidFill>
            <a:prstDash val="solid"/>
            <a:tailEnd type="triangle"/>
          </a:ln>
        </p:spPr>
      </p:sp>
      <p:sp>
        <p:nvSpPr>
          <p:cNvPr id="17" name="box_271"/>
          <p:cNvSpPr/>
          <p:nvPr/>
        </p:nvSpPr>
        <p:spPr>
          <a:xfrm>
            <a:off x="5120640" y="1463040"/>
            <a:ext cx="2057400" cy="2651760"/>
          </a:xfrm>
          <a:prstGeom prst="roundRect">
            <a:avLst>
              <a:gd name="adj" fmla="val 3556"/>
            </a:avLst>
          </a:prstGeom>
          <a:solidFill>
            <a:schemeClr val="bg2"/>
          </a:solidFill>
          <a:ln w="9525">
            <a:solidFill>
              <a:schemeClr val="bg2"/>
            </a:solidFill>
            <a:prstDash val="solid"/>
          </a:ln>
        </p:spPr>
      </p:sp>
      <p:sp>
        <p:nvSpPr>
          <p:cNvPr id="18" name="num_272"/>
          <p:cNvSpPr/>
          <p:nvPr/>
        </p:nvSpPr>
        <p:spPr>
          <a:xfrm>
            <a:off x="5303520" y="1645920"/>
            <a:ext cx="457200" cy="457200"/>
          </a:xfrm>
          <a:prstGeom prst="ellipse">
            <a:avLst/>
          </a:prstGeom>
          <a:solidFill>
            <a:schemeClr val="accent1"/>
          </a:solidFill>
          <a:ln w="12700">
            <a:solidFill>
              <a:schemeClr val="accent1"/>
            </a:solidFill>
            <a:prstDash val="solid"/>
          </a:ln>
        </p:spPr>
      </p:sp>
      <p:sp>
        <p:nvSpPr>
          <p:cNvPr id="19" name="numtxt_273"/>
          <p:cNvSpPr txBox="1"/>
          <p:nvPr/>
        </p:nvSpPr>
        <p:spPr>
          <a:xfrm>
            <a:off x="5303520"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_274"/>
          <p:cNvSpPr txBox="1"/>
          <p:nvPr/>
        </p:nvSpPr>
        <p:spPr>
          <a:xfrm>
            <a:off x="5303520" y="2194560"/>
            <a:ext cx="1783080" cy="685800"/>
          </a:xfrm>
          <a:prstGeom prst="rect">
            <a:avLst/>
          </a:prstGeom>
          <a:noFill/>
          <a:ln/>
        </p:spPr>
        <p:txBody>
          <a:bodyPr wrap="square" lIns="635" tIns="635" rIns="635" bIns="635" rtlCol="0" anchor="t"/>
          <a:lstStyle/>
          <a:p>
            <a:pPr indent="0" marL="0">
              <a:buNone/>
            </a:pPr>
            <a:r>
              <a:rPr lang="en-US" sz="1600" b="1" dirty="0">
                <a:solidFill>
                  <a:schemeClr val="tx1"/>
                </a:solidFill>
              </a:rPr>
              <a:t>4 ta panel</a:t>
            </a:r>
            <a:endParaRPr lang="en-US" sz="1600" dirty="0"/>
          </a:p>
        </p:txBody>
      </p:sp>
      <p:sp>
        <p:nvSpPr>
          <p:cNvPr id="21" name="text_275"/>
          <p:cNvSpPr txBox="1"/>
          <p:nvPr/>
        </p:nvSpPr>
        <p:spPr>
          <a:xfrm>
            <a:off x="5303520" y="2834640"/>
            <a:ext cx="1783080" cy="411480"/>
          </a:xfrm>
          <a:prstGeom prst="rect">
            <a:avLst/>
          </a:prstGeom>
          <a:noFill/>
          <a:ln/>
        </p:spPr>
        <p:txBody>
          <a:bodyPr wrap="square" lIns="635" tIns="635" rIns="635" bIns="635" rtlCol="0" anchor="t"/>
          <a:lstStyle/>
          <a:p>
            <a:pPr indent="0" marL="0">
              <a:buNone/>
            </a:pPr>
            <a:r>
              <a:rPr lang="en-US" sz="1200" b="1" dirty="0">
                <a:solidFill>
                  <a:schemeClr val="accent3"/>
                </a:solidFill>
              </a:rPr>
              <a:t>Study 4, Time Dependent</a:t>
            </a:r>
            <a:endParaRPr lang="en-US" sz="1200" dirty="0"/>
          </a:p>
        </p:txBody>
      </p:sp>
      <p:sp>
        <p:nvSpPr>
          <p:cNvPr id="22" name="text_276"/>
          <p:cNvSpPr txBox="1"/>
          <p:nvPr/>
        </p:nvSpPr>
        <p:spPr>
          <a:xfrm>
            <a:off x="5303520" y="3200400"/>
            <a:ext cx="1783080" cy="868680"/>
          </a:xfrm>
          <a:prstGeom prst="rect">
            <a:avLst/>
          </a:prstGeom>
          <a:noFill/>
          <a:ln/>
        </p:spPr>
        <p:txBody>
          <a:bodyPr wrap="square" lIns="635" tIns="635" rIns="635" bIns="635" rtlCol="0" anchor="t"/>
          <a:lstStyle/>
          <a:p>
            <a:pPr indent="0" marL="0">
              <a:buNone/>
            </a:pPr>
            <a:r>
              <a:rPr lang="en-US" sz="1200" dirty="0">
                <a:solidFill>
                  <a:schemeClr val="tx1"/>
                </a:solidFill>
              </a:rPr>
              <a:t>Har biri 10 ms, U_gate va V_amp har xil</a:t>
            </a:r>
            <a:endParaRPr lang="en-US" sz="1200" dirty="0"/>
          </a:p>
        </p:txBody>
      </p:sp>
      <p:sp>
        <p:nvSpPr>
          <p:cNvPr id="23" name="arrow_277"/>
          <p:cNvSpPr/>
          <p:nvPr/>
        </p:nvSpPr>
        <p:spPr>
          <a:xfrm>
            <a:off x="7196328" y="2788920"/>
            <a:ext cx="182880" cy="0"/>
          </a:xfrm>
          <a:prstGeom prst="line">
            <a:avLst/>
          </a:prstGeom>
          <a:noFill/>
          <a:ln w="25400">
            <a:solidFill>
              <a:schemeClr val="accent6"/>
            </a:solidFill>
            <a:prstDash val="solid"/>
            <a:tailEnd type="triangle"/>
          </a:ln>
        </p:spPr>
      </p:sp>
      <p:sp>
        <p:nvSpPr>
          <p:cNvPr id="24" name="box_278"/>
          <p:cNvSpPr/>
          <p:nvPr/>
        </p:nvSpPr>
        <p:spPr>
          <a:xfrm>
            <a:off x="7406640" y="1463040"/>
            <a:ext cx="2057400" cy="2651760"/>
          </a:xfrm>
          <a:prstGeom prst="roundRect">
            <a:avLst>
              <a:gd name="adj" fmla="val 3556"/>
            </a:avLst>
          </a:prstGeom>
          <a:solidFill>
            <a:schemeClr val="bg2"/>
          </a:solidFill>
          <a:ln w="9525">
            <a:solidFill>
              <a:schemeClr val="bg2"/>
            </a:solidFill>
            <a:prstDash val="solid"/>
          </a:ln>
        </p:spPr>
      </p:sp>
      <p:sp>
        <p:nvSpPr>
          <p:cNvPr id="25" name="num_279"/>
          <p:cNvSpPr/>
          <p:nvPr/>
        </p:nvSpPr>
        <p:spPr>
          <a:xfrm>
            <a:off x="7589520" y="1645920"/>
            <a:ext cx="457200" cy="457200"/>
          </a:xfrm>
          <a:prstGeom prst="ellipse">
            <a:avLst/>
          </a:prstGeom>
          <a:solidFill>
            <a:schemeClr val="accent1"/>
          </a:solidFill>
          <a:ln w="12700">
            <a:solidFill>
              <a:schemeClr val="accent1"/>
            </a:solidFill>
            <a:prstDash val="solid"/>
          </a:ln>
        </p:spPr>
      </p:sp>
      <p:sp>
        <p:nvSpPr>
          <p:cNvPr id="26" name="numtxt_280"/>
          <p:cNvSpPr txBox="1"/>
          <p:nvPr/>
        </p:nvSpPr>
        <p:spPr>
          <a:xfrm>
            <a:off x="7589520"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7" name="text_281"/>
          <p:cNvSpPr txBox="1"/>
          <p:nvPr/>
        </p:nvSpPr>
        <p:spPr>
          <a:xfrm>
            <a:off x="7589520" y="2194560"/>
            <a:ext cx="1783080" cy="685800"/>
          </a:xfrm>
          <a:prstGeom prst="rect">
            <a:avLst/>
          </a:prstGeom>
          <a:noFill/>
          <a:ln/>
        </p:spPr>
        <p:txBody>
          <a:bodyPr wrap="square" lIns="635" tIns="635" rIns="635" bIns="635" rtlCol="0" anchor="t"/>
          <a:lstStyle/>
          <a:p>
            <a:pPr indent="0" marL="0">
              <a:buNone/>
            </a:pPr>
            <a:r>
              <a:rPr lang="en-US" sz="1600" b="1" dirty="0">
                <a:solidFill>
                  <a:schemeClr val="tx1"/>
                </a:solidFill>
              </a:rPr>
              <a:t>Holatni uzatish</a:t>
            </a:r>
            <a:endParaRPr lang="en-US" sz="1600" dirty="0"/>
          </a:p>
        </p:txBody>
      </p:sp>
      <p:sp>
        <p:nvSpPr>
          <p:cNvPr id="28" name="text_282"/>
          <p:cNvSpPr txBox="1"/>
          <p:nvPr/>
        </p:nvSpPr>
        <p:spPr>
          <a:xfrm>
            <a:off x="7589520" y="2834640"/>
            <a:ext cx="1783080" cy="411480"/>
          </a:xfrm>
          <a:prstGeom prst="rect">
            <a:avLst/>
          </a:prstGeom>
          <a:noFill/>
          <a:ln/>
        </p:spPr>
        <p:txBody>
          <a:bodyPr wrap="square" lIns="635" tIns="635" rIns="635" bIns="635" rtlCol="0" anchor="t"/>
          <a:lstStyle/>
          <a:p>
            <a:pPr indent="0" marL="0">
              <a:buNone/>
            </a:pPr>
            <a:r>
              <a:rPr lang="en-US" sz="1200" b="1" dirty="0">
                <a:solidFill>
                  <a:schemeClr val="accent3"/>
                </a:solidFill>
              </a:rPr>
              <a:t>x va P</a:t>
            </a:r>
            <a:endParaRPr lang="en-US" sz="1200" dirty="0"/>
          </a:p>
        </p:txBody>
      </p:sp>
      <p:sp>
        <p:nvSpPr>
          <p:cNvPr id="29" name="text_283"/>
          <p:cNvSpPr txBox="1"/>
          <p:nvPr/>
        </p:nvSpPr>
        <p:spPr>
          <a:xfrm>
            <a:off x="7589520" y="3200400"/>
            <a:ext cx="1783080" cy="868680"/>
          </a:xfrm>
          <a:prstGeom prst="rect">
            <a:avLst/>
          </a:prstGeom>
          <a:noFill/>
          <a:ln/>
        </p:spPr>
        <p:txBody>
          <a:bodyPr wrap="square" lIns="635" tIns="635" rIns="635" bIns="635" rtlCol="0" anchor="t"/>
          <a:lstStyle/>
          <a:p>
            <a:pPr indent="0" marL="0">
              <a:buNone/>
            </a:pPr>
            <a:r>
              <a:rPr lang="en-US" sz="1200" dirty="0">
                <a:solidFill>
                  <a:schemeClr val="tx1"/>
                </a:solidFill>
              </a:rPr>
              <a:t>Oldingi panel oxiri keyingisining boshi</a:t>
            </a:r>
            <a:endParaRPr lang="en-US" sz="1200" dirty="0"/>
          </a:p>
        </p:txBody>
      </p:sp>
      <p:sp>
        <p:nvSpPr>
          <p:cNvPr id="30" name="arrow_284"/>
          <p:cNvSpPr/>
          <p:nvPr/>
        </p:nvSpPr>
        <p:spPr>
          <a:xfrm>
            <a:off x="9482328" y="2788920"/>
            <a:ext cx="182880" cy="0"/>
          </a:xfrm>
          <a:prstGeom prst="line">
            <a:avLst/>
          </a:prstGeom>
          <a:noFill/>
          <a:ln w="25400">
            <a:solidFill>
              <a:schemeClr val="accent6"/>
            </a:solidFill>
            <a:prstDash val="solid"/>
            <a:tailEnd type="triangle"/>
          </a:ln>
        </p:spPr>
      </p:sp>
      <p:sp>
        <p:nvSpPr>
          <p:cNvPr id="31" name="box_285"/>
          <p:cNvSpPr/>
          <p:nvPr/>
        </p:nvSpPr>
        <p:spPr>
          <a:xfrm>
            <a:off x="9692640" y="1463040"/>
            <a:ext cx="2057400" cy="2651760"/>
          </a:xfrm>
          <a:prstGeom prst="roundRect">
            <a:avLst>
              <a:gd name="adj" fmla="val 3556"/>
            </a:avLst>
          </a:prstGeom>
          <a:solidFill>
            <a:schemeClr val="bg2"/>
          </a:solidFill>
          <a:ln w="9525">
            <a:solidFill>
              <a:schemeClr val="bg2"/>
            </a:solidFill>
            <a:prstDash val="solid"/>
          </a:ln>
        </p:spPr>
      </p:sp>
      <p:sp>
        <p:nvSpPr>
          <p:cNvPr id="32" name="num_286"/>
          <p:cNvSpPr/>
          <p:nvPr/>
        </p:nvSpPr>
        <p:spPr>
          <a:xfrm>
            <a:off x="9875520" y="1645920"/>
            <a:ext cx="457200" cy="457200"/>
          </a:xfrm>
          <a:prstGeom prst="ellipse">
            <a:avLst/>
          </a:prstGeom>
          <a:solidFill>
            <a:schemeClr val="accent1"/>
          </a:solidFill>
          <a:ln w="12700">
            <a:solidFill>
              <a:schemeClr val="accent1"/>
            </a:solidFill>
            <a:prstDash val="solid"/>
          </a:ln>
        </p:spPr>
      </p:sp>
      <p:sp>
        <p:nvSpPr>
          <p:cNvPr id="33" name="numtxt_287"/>
          <p:cNvSpPr txBox="1"/>
          <p:nvPr/>
        </p:nvSpPr>
        <p:spPr>
          <a:xfrm>
            <a:off x="9875520"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4" name="text_288"/>
          <p:cNvSpPr txBox="1"/>
          <p:nvPr/>
        </p:nvSpPr>
        <p:spPr>
          <a:xfrm>
            <a:off x="9875520" y="2194560"/>
            <a:ext cx="1783080" cy="685800"/>
          </a:xfrm>
          <a:prstGeom prst="rect">
            <a:avLst/>
          </a:prstGeom>
          <a:noFill/>
          <a:ln/>
        </p:spPr>
        <p:txBody>
          <a:bodyPr wrap="square" lIns="635" tIns="635" rIns="635" bIns="635" rtlCol="0" anchor="t"/>
          <a:lstStyle/>
          <a:p>
            <a:pPr indent="0" marL="0">
              <a:buNone/>
            </a:pPr>
            <a:r>
              <a:rPr lang="en-US" sz="1600" b="1" dirty="0">
                <a:solidFill>
                  <a:schemeClr val="tx1"/>
                </a:solidFill>
              </a:rPr>
              <a:t>Eksport va grafik</a:t>
            </a:r>
            <a:endParaRPr lang="en-US" sz="1600" dirty="0"/>
          </a:p>
        </p:txBody>
      </p:sp>
      <p:sp>
        <p:nvSpPr>
          <p:cNvPr id="35" name="text_289"/>
          <p:cNvSpPr txBox="1"/>
          <p:nvPr/>
        </p:nvSpPr>
        <p:spPr>
          <a:xfrm>
            <a:off x="9875520" y="2834640"/>
            <a:ext cx="1783080" cy="411480"/>
          </a:xfrm>
          <a:prstGeom prst="rect">
            <a:avLst/>
          </a:prstGeom>
          <a:noFill/>
          <a:ln/>
        </p:spPr>
        <p:txBody>
          <a:bodyPr wrap="square" lIns="635" tIns="635" rIns="635" bIns="635" rtlCol="0" anchor="t"/>
          <a:lstStyle/>
          <a:p>
            <a:pPr indent="0" marL="0">
              <a:buNone/>
            </a:pPr>
            <a:r>
              <a:rPr lang="en-US" sz="1200" b="1" dirty="0">
                <a:solidFill>
                  <a:schemeClr val="accent3"/>
                </a:solidFill>
              </a:rPr>
              <a:t>CSV → rasm</a:t>
            </a:r>
            <a:endParaRPr lang="en-US" sz="1200" dirty="0"/>
          </a:p>
        </p:txBody>
      </p:sp>
      <p:sp>
        <p:nvSpPr>
          <p:cNvPr id="36" name="text_290"/>
          <p:cNvSpPr txBox="1"/>
          <p:nvPr/>
        </p:nvSpPr>
        <p:spPr>
          <a:xfrm>
            <a:off x="9875520" y="3200400"/>
            <a:ext cx="1783080" cy="868680"/>
          </a:xfrm>
          <a:prstGeom prst="rect">
            <a:avLst/>
          </a:prstGeom>
          <a:noFill/>
          <a:ln/>
        </p:spPr>
        <p:txBody>
          <a:bodyPr wrap="square" lIns="635" tIns="635" rIns="635" bIns="635" rtlCol="0" anchor="t"/>
          <a:lstStyle/>
          <a:p>
            <a:pPr indent="0" marL="0">
              <a:buNone/>
            </a:pPr>
            <a:r>
              <a:rPr lang="en-US" sz="1200" dirty="0">
                <a:solidFill>
                  <a:schemeClr val="tx1"/>
                </a:solidFill>
              </a:rPr>
              <a:t>iv_fig1_continuous.csv → Fig1_analog.png</a:t>
            </a:r>
            <a:endParaRPr lang="en-US" sz="1200" dirty="0"/>
          </a:p>
        </p:txBody>
      </p:sp>
      <p:sp>
        <p:nvSpPr>
          <p:cNvPr id="37" name="box_291"/>
          <p:cNvSpPr/>
          <p:nvPr/>
        </p:nvSpPr>
        <p:spPr>
          <a:xfrm>
            <a:off x="548640" y="4434840"/>
            <a:ext cx="11064240" cy="1691640"/>
          </a:xfrm>
          <a:prstGeom prst="roundRect">
            <a:avLst>
              <a:gd name="adj" fmla="val 4324"/>
            </a:avLst>
          </a:prstGeom>
          <a:solidFill>
            <a:schemeClr val="bg1"/>
          </a:solidFill>
          <a:ln w="15875">
            <a:solidFill>
              <a:srgbClr val="E8871E"/>
            </a:solidFill>
            <a:prstDash val="solid"/>
          </a:ln>
        </p:spPr>
      </p:sp>
      <p:sp>
        <p:nvSpPr>
          <p:cNvPr id="38" name="text_292"/>
          <p:cNvSpPr txBox="1"/>
          <p:nvPr/>
        </p:nvSpPr>
        <p:spPr>
          <a:xfrm>
            <a:off x="822960" y="4572000"/>
            <a:ext cx="10515600" cy="1463040"/>
          </a:xfrm>
          <a:prstGeom prst="rect">
            <a:avLst/>
          </a:prstGeom>
          <a:noFill/>
          <a:ln/>
        </p:spPr>
        <p:txBody>
          <a:bodyPr wrap="square" lIns="635" tIns="635" rIns="635" bIns="635" rtlCol="0" anchor="ctr"/>
          <a:lstStyle/>
          <a:p>
            <a:pPr indent="0" marL="0">
              <a:buNone/>
            </a:pPr>
            <a:r>
              <a:rPr lang="en-US" sz="1500" b="1" dirty="0">
                <a:solidFill>
                  <a:schemeClr val="accent1"/>
                </a:solidFill>
              </a:rPr>
              <a:t>Nega .mph faylda faqat (d) panel bor? </a:t>
            </a:r>
            <a:endParaRPr lang="en-US" sz="1500" dirty="0"/>
          </a:p>
          <a:p>
            <a:pPr indent="0" marL="0">
              <a:buNone/>
            </a:pPr>
            <a:r>
              <a:rPr lang="en-US" sz="1500" dirty="0">
                <a:solidFill>
                  <a:schemeClr val="tx1"/>
                </a:solidFill>
              </a:rPr>
              <a:t>Bitta Study 4 to'rt marta ketma-ket ishga tushirilgan. Har safar yangi natija eskisining ustidan yozilgan, shuning uchun faylda oxirgi panel (d) qolgan. Barcha 4 panel natijasi har hisobdan keyin CSV faylga yozib borilgan va 4 panelli rasm shu CSV fayldan PowerShell skripti bilan chizilgan.</a:t>
            </a:r>
            <a:endParaRPr lang="en-US" sz="15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Parametrlar qanday tanlandi (fitting)</a:t>
            </a:r>
            <a:endParaRPr lang="en-US" sz="3000" dirty="0"/>
          </a:p>
        </p:txBody>
      </p:sp>
      <p:graphicFrame>
        <p:nvGraphicFramePr>
          <p:cNvPr id="24" name="tbl_293"/>
          <p:cNvGraphicFramePr>
            <a:graphicFrameLocks noGrp="1"/>
          </p:cNvGraphicFramePr>
          <p:nvPr>
            <p:extLst>
              <p:ext uri="{D42A27DB-BD31-4B8C-83A1-F6EECF244321}">
                <p14:modId xmlns:p14="http://schemas.microsoft.com/office/powerpoint/2010/main" val="1579011935"/>
              </p:ext>
            </p:extLst>
          </p:nvPr>
        </p:nvGraphicFramePr>
        <p:xfrm>
          <a:off x="548640" y="1371600"/>
          <a:ext cx="7498080" cy="914400"/>
        </p:xfrm>
        <a:graphic>
          <a:graphicData uri="http://schemas.openxmlformats.org/drawingml/2006/table">
            <a:tbl>
              <a:tblPr/>
              <a:tblGrid>
                <a:gridCol w="2011680"/>
                <a:gridCol w="2103120"/>
                <a:gridCol w="3383280"/>
              </a:tblGrid>
              <a:tr h="411480">
                <a:tc>
                  <a:txBody>
                    <a:bodyPr/>
                    <a:lstStyle/>
                    <a:p>
                      <a:pPr indent="0" marL="0">
                        <a:buNone/>
                      </a:pPr>
                      <a:r>
                        <a:rPr lang="en-US" sz="1400" b="1" dirty="0">
                          <a:solidFill>
                            <a:schemeClr val="bg1"/>
                          </a:solidFill>
                        </a:rPr>
                        <a:t>Parametr</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Qiymat</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Qaysi natijaga moslangan</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chemeClr val="tx1"/>
                    </a:solidFill>
                  </a:tcPr>
                </a:tc>
              </a:tr>
              <a:tr h="411480">
                <a:tc>
                  <a:txBody>
                    <a:bodyPr/>
                    <a:lstStyle/>
                    <a:p>
                      <a:pPr indent="0" marL="0">
                        <a:buNone/>
                      </a:pPr>
                      <a:r>
                        <a:rPr lang="en-US" sz="1400" dirty="0">
                          <a:solidFill>
                            <a:schemeClr val="tx1"/>
                          </a:solidFill>
                        </a:rPr>
                        <a:t>σ_on0</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1.07·10⁻⁵ S/m</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R_ON = 7 kΩ, panel (a)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411480">
                <a:tc>
                  <a:txBody>
                    <a:bodyPr/>
                    <a:lstStyle/>
                    <a:p>
                      <a:pPr indent="0" marL="0">
                        <a:buNone/>
                      </a:pPr>
                      <a:r>
                        <a:rPr lang="en-US" sz="1400" dirty="0">
                          <a:solidFill>
                            <a:schemeClr val="tx1"/>
                          </a:solidFill>
                        </a:rPr>
                        <a:t>Eₐ_SET, a_SET</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0.9 eV, 0.3 nm</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V_SET ≈ +3.5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411480">
                <a:tc>
                  <a:txBody>
                    <a:bodyPr/>
                    <a:lstStyle/>
                    <a:p>
                      <a:pPr indent="0" marL="0">
                        <a:buNone/>
                      </a:pPr>
                      <a:r>
                        <a:rPr lang="en-US" sz="1400" dirty="0">
                          <a:solidFill>
                            <a:schemeClr val="tx1"/>
                          </a:solidFill>
                        </a:rPr>
                        <a:t>Eₐ_RESET, z_eff</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1.4 eV, 2.42</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RESET joyi −3.6…−3.8 V va keskinligi</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411480">
                <a:tc>
                  <a:txBody>
                    <a:bodyPr/>
                    <a:lstStyle/>
                    <a:p>
                      <a:pPr indent="0" marL="0">
                        <a:buNone/>
                      </a:pPr>
                      <a:r>
                        <a:rPr lang="en-US" sz="1400" dirty="0">
                          <a:solidFill>
                            <a:schemeClr val="tx1"/>
                          </a:solidFill>
                        </a:rPr>
                        <a:t>U₀, w</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−1.0 V, 0.05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(b) xotira, (c) kalitlash</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411480">
                <a:tc>
                  <a:txBody>
                    <a:bodyPr/>
                    <a:lstStyle/>
                    <a:p>
                      <a:pPr indent="0" marL="0">
                        <a:buNone/>
                      </a:pPr>
                      <a:r>
                        <a:rPr lang="en-US" sz="1400" dirty="0">
                          <a:solidFill>
                            <a:schemeClr val="tx1"/>
                          </a:solidFill>
                        </a:rPr>
                        <a:t>τ_P,fall, τ_P,rise</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1 ms, 75 ms</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(d) panelda gate xotirasi</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411480">
                <a:tc>
                  <a:txBody>
                    <a:bodyPr/>
                    <a:lstStyle/>
                    <a:p>
                      <a:pPr indent="0" marL="0">
                        <a:buNone/>
                      </a:pPr>
                      <a:r>
                        <a:rPr lang="en-US" sz="1400" dirty="0">
                          <a:solidFill>
                            <a:schemeClr val="tx1"/>
                          </a:solidFill>
                        </a:rPr>
                        <a:t>τ_v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0.15 ms</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(c) panelda V_h ≈ 0.7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411480">
                <a:tc>
                  <a:txBody>
                    <a:bodyPr/>
                    <a:lstStyle/>
                    <a:p>
                      <a:pPr indent="0" marL="0">
                        <a:buNone/>
                      </a:pPr>
                      <a:r>
                        <a:rPr lang="en-US" sz="1400" dirty="0">
                          <a:solidFill>
                            <a:schemeClr val="tx1"/>
                          </a:solidFill>
                        </a:rPr>
                        <a:t>P_c, w_P</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0.17, 0.0015</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(d) panel xotira, (c) panel volatil</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411480">
                <a:tc>
                  <a:txBody>
                    <a:bodyPr/>
                    <a:lstStyle/>
                    <a:p>
                      <a:pPr indent="0" marL="0">
                        <a:buNone/>
                      </a:pPr>
                      <a:r>
                        <a:rPr lang="en-US" sz="1400" dirty="0">
                          <a:solidFill>
                            <a:schemeClr val="tx1"/>
                          </a:solidFill>
                        </a:rPr>
                        <a:t>r_off</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0.05</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(c), (d) panellarda OFF toki</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411480">
                <a:tc>
                  <a:txBody>
                    <a:bodyPr/>
                    <a:lstStyle/>
                    <a:p>
                      <a:pPr indent="0" marL="0">
                        <a:buNone/>
                      </a:pPr>
                      <a:r>
                        <a:rPr lang="en-US" sz="1400" dirty="0">
                          <a:solidFill>
                            <a:schemeClr val="tx1"/>
                          </a:solidFill>
                        </a:rPr>
                        <a:t>β_mem (Model3)</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30</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R_ON(2 GPa) / R_ON(0) ≈ 130</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bl>
          </a:graphicData>
        </a:graphic>
      </p:graphicFrame>
      <p:sp>
        <p:nvSpPr>
          <p:cNvPr id="4" name="box_294"/>
          <p:cNvSpPr/>
          <p:nvPr/>
        </p:nvSpPr>
        <p:spPr>
          <a:xfrm>
            <a:off x="8412480" y="1371600"/>
            <a:ext cx="3200400" cy="4114800"/>
          </a:xfrm>
          <a:prstGeom prst="roundRect">
            <a:avLst>
              <a:gd name="adj" fmla="val 2286"/>
            </a:avLst>
          </a:prstGeom>
          <a:solidFill>
            <a:schemeClr val="bg2"/>
          </a:solidFill>
          <a:ln w="9525">
            <a:solidFill>
              <a:schemeClr val="bg2"/>
            </a:solidFill>
            <a:prstDash val="solid"/>
          </a:ln>
        </p:spPr>
      </p:sp>
      <p:sp>
        <p:nvSpPr>
          <p:cNvPr id="5" name="text_295"/>
          <p:cNvSpPr txBox="1"/>
          <p:nvPr/>
        </p:nvSpPr>
        <p:spPr>
          <a:xfrm>
            <a:off x="8641080" y="1554480"/>
            <a:ext cx="2743200" cy="1005840"/>
          </a:xfrm>
          <a:prstGeom prst="rect">
            <a:avLst/>
          </a:prstGeom>
          <a:noFill/>
          <a:ln/>
        </p:spPr>
        <p:txBody>
          <a:bodyPr wrap="square" lIns="635" tIns="635" rIns="635" bIns="635"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8</a:t>
            </a:r>
            <a:endParaRPr lang="en-US" sz="6000" dirty="0"/>
          </a:p>
        </p:txBody>
      </p:sp>
      <p:sp>
        <p:nvSpPr>
          <p:cNvPr id="6" name="text_296"/>
          <p:cNvSpPr txBox="1"/>
          <p:nvPr/>
        </p:nvSpPr>
        <p:spPr>
          <a:xfrm>
            <a:off x="8641080" y="2560320"/>
            <a:ext cx="2743200" cy="411480"/>
          </a:xfrm>
          <a:prstGeom prst="rect">
            <a:avLst/>
          </a:prstGeom>
          <a:noFill/>
          <a:ln/>
        </p:spPr>
        <p:txBody>
          <a:bodyPr wrap="square" lIns="635" tIns="635" rIns="635" bIns="635" rtlCol="0" anchor="t"/>
          <a:lstStyle/>
          <a:p>
            <a:pPr indent="0" marL="0">
              <a:buNone/>
            </a:pPr>
            <a:r>
              <a:rPr lang="en-US" sz="1800" b="1" dirty="0">
                <a:solidFill>
                  <a:schemeClr val="tx1"/>
                </a:solidFill>
              </a:rPr>
              <a:t>iteratsiya</a:t>
            </a:r>
            <a:endParaRPr lang="en-US" sz="1800" dirty="0"/>
          </a:p>
        </p:txBody>
      </p:sp>
      <p:sp>
        <p:nvSpPr>
          <p:cNvPr id="7" name="text_297"/>
          <p:cNvSpPr txBox="1"/>
          <p:nvPr/>
        </p:nvSpPr>
        <p:spPr>
          <a:xfrm>
            <a:off x="8641080" y="3017520"/>
            <a:ext cx="2743200" cy="2377440"/>
          </a:xfrm>
          <a:prstGeom prst="rect">
            <a:avLst/>
          </a:prstGeom>
          <a:noFill/>
          <a:ln/>
        </p:spPr>
        <p:txBody>
          <a:bodyPr wrap="square" lIns="635" tIns="635" rIns="635" bIns="635" rtlCol="0" anchor="t"/>
          <a:lstStyle/>
          <a:p>
            <a:pPr indent="0" marL="0">
              <a:buNone/>
            </a:pPr>
            <a:r>
              <a:rPr lang="en-US" sz="1400" dirty="0">
                <a:solidFill>
                  <a:schemeClr val="accent6"/>
                </a:solidFill>
              </a:rPr>
              <a:t>Har iteratsiyada model grafigi maqola bilan solishtirildi va bitta-ikkita parametr o'zgartirildi. Eng yaxshi natija saqlandi.</a:t>
            </a:r>
            <a:endParaRPr lang="en-US" sz="14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10058400" cy="548640"/>
          </a:xfrm>
          <a:prstGeom prst="rect">
            <a:avLst/>
          </a:prstGeom>
          <a:noFill/>
          <a:ln/>
        </p:spPr>
        <p:txBody>
          <a:bodyPr wrap="square" rtlCol="0"/>
          <a:lstStyle/>
          <a:p>
            <a:pPr indent="0" marL="0">
              <a:buNone/>
            </a:pPr>
            <a:r>
              <a:rPr lang="en-US" sz="1800" b="1" dirty="0">
                <a:solidFill>
                  <a:schemeClr val="accent1"/>
                </a:solidFill>
              </a:rPr>
              <a:t>5-bo'lim</a:t>
            </a:r>
            <a:endParaRPr lang="en-US" sz="1800" dirty="0"/>
          </a:p>
        </p:txBody>
      </p:sp>
      <p:sp>
        <p:nvSpPr>
          <p:cNvPr id="3" name="Text 0"/>
          <p:cNvSpPr/>
          <p:nvPr>
            <p:ph idx="101" type="title" hasCustomPrompt="1"/>
          </p:nvPr>
        </p:nvSpPr>
        <p:spPr>
          <a:xfrm>
            <a:off x="731520" y="2651760"/>
            <a:ext cx="106984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Natijalar</a:t>
            </a:r>
            <a:endParaRPr lang="en-US" sz="4000" dirty="0"/>
          </a:p>
        </p:txBody>
      </p:sp>
      <p:sp>
        <p:nvSpPr>
          <p:cNvPr id="4" name="Text 0"/>
          <p:cNvSpPr/>
          <p:nvPr>
            <p:ph idx="102" type="body" hasCustomPrompt="1"/>
          </p:nvPr>
        </p:nvSpPr>
        <p:spPr>
          <a:xfrm>
            <a:off x="731520" y="4023360"/>
            <a:ext cx="10058400" cy="1097280"/>
          </a:xfrm>
          <a:prstGeom prst="rect">
            <a:avLst/>
          </a:prstGeom>
          <a:noFill/>
          <a:ln/>
        </p:spPr>
        <p:txBody>
          <a:bodyPr wrap="square" rtlCol="0" anchor="t"/>
          <a:lstStyle/>
          <a:p>
            <a:pPr indent="0" marL="0">
              <a:buNone/>
            </a:pPr>
            <a:r>
              <a:rPr lang="en-US" sz="1800" dirty="0">
                <a:solidFill>
                  <a:schemeClr val="bg2"/>
                </a:solidFill>
              </a:rPr>
              <a:t>Fig.1 solishtirish, (d) panel grafigini o'qish, bosim natijasi</a:t>
            </a:r>
            <a:endParaRPr lang="en-US" sz="18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Fig.1: model va maqola solishtirmasi</a:t>
            </a:r>
            <a:endParaRPr lang="en-US" sz="3000" dirty="0"/>
          </a:p>
        </p:txBody>
      </p:sp>
      <p:pic>
        <p:nvPicPr>
          <p:cNvPr id="3" name="img_298" descr="Model I–V egri chiziqlari, 4 panel, maqola nuqtalari bilan">    </p:cNvPr>
          <p:cNvPicPr>
            <a:picLocks noChangeAspect="1"/>
          </p:cNvPicPr>
          <p:nvPr/>
        </p:nvPicPr>
        <p:blipFill>
          <a:blip r:embed="rId1"/>
          <a:stretch>
            <a:fillRect/>
          </a:stretch>
        </p:blipFill>
        <p:spPr>
          <a:xfrm>
            <a:off x="548640" y="1234440"/>
            <a:ext cx="5669280" cy="5102352"/>
          </a:xfrm>
          <a:prstGeom prst="rect">
            <a:avLst/>
          </a:prstGeom>
        </p:spPr>
      </p:pic>
      <p:sp>
        <p:nvSpPr>
          <p:cNvPr id="4" name="bul_299"/>
          <p:cNvSpPr txBox="1"/>
          <p:nvPr/>
        </p:nvSpPr>
        <p:spPr>
          <a:xfrm>
            <a:off x="6583680" y="1371600"/>
            <a:ext cx="5120640" cy="49377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Havo rang chiziq: </a:t>
            </a:r>
            <a:pPr indent="0" marL="0">
              <a:buNone/>
            </a:pPr>
            <a:r>
              <a:rPr lang="en-US" sz="1500" dirty="0">
                <a:solidFill>
                  <a:schemeClr val="tx1"/>
                </a:solidFill>
              </a:rPr>
              <a:t>OFF holat (x &lt; 0.5).</a:t>
            </a:r>
            <a:endParaRPr lang="en-US" sz="1500" dirty="0"/>
          </a:p>
          <a:p>
            <a:pPr marL="228600" indent="-228600">
              <a:spcAft>
                <a:spcPts val="800"/>
              </a:spcAft>
              <a:buSzPct val="100000"/>
              <a:buChar char="•"/>
            </a:pPr>
            <a:r>
              <a:rPr lang="en-US" sz="1500" b="1" dirty="0">
                <a:solidFill>
                  <a:schemeClr val="tx1"/>
                </a:solidFill>
              </a:rPr>
              <a:t>To'q sariq chiziq: </a:t>
            </a:r>
            <a:pPr indent="0" marL="0">
              <a:buNone/>
            </a:pPr>
            <a:r>
              <a:rPr lang="en-US" sz="1500" dirty="0">
                <a:solidFill>
                  <a:schemeClr val="tx1"/>
                </a:solidFill>
              </a:rPr>
              <a:t>ON holat (x &gt; 0.5).</a:t>
            </a:r>
            <a:endParaRPr lang="en-US" sz="1500" dirty="0"/>
          </a:p>
          <a:p>
            <a:pPr marL="228600" indent="-228600">
              <a:spcAft>
                <a:spcPts val="800"/>
              </a:spcAft>
              <a:buSzPct val="100000"/>
              <a:buChar char="•"/>
            </a:pPr>
            <a:r>
              <a:rPr lang="en-US" sz="1500" b="1" dirty="0">
                <a:solidFill>
                  <a:schemeClr val="tx1"/>
                </a:solidFill>
              </a:rPr>
              <a:t>Kulrang nuqtalar: </a:t>
            </a:r>
            <a:pPr indent="0" marL="0">
              <a:buNone/>
            </a:pPr>
            <a:r>
              <a:rPr lang="en-US" sz="1500" dirty="0">
                <a:solidFill>
                  <a:schemeClr val="tx1"/>
                </a:solidFill>
              </a:rPr>
              <a:t>maqoladagi grafikdan o'qilgan nishon qiymatlar.</a:t>
            </a:r>
            <a:endParaRPr lang="en-US" sz="1500" dirty="0"/>
          </a:p>
          <a:p>
            <a:pPr marL="228600" indent="-228600">
              <a:spcAft>
                <a:spcPts val="800"/>
              </a:spcAft>
              <a:buSzPct val="100000"/>
              <a:buChar char="•"/>
            </a:pPr>
            <a:r>
              <a:rPr lang="en-US" sz="1500" b="1" dirty="0">
                <a:solidFill>
                  <a:schemeClr val="tx1"/>
                </a:solidFill>
              </a:rPr>
              <a:t>(a), (b): </a:t>
            </a:r>
            <a:pPr indent="0" marL="0">
              <a:buNone/>
            </a:pPr>
            <a:r>
              <a:rPr lang="en-US" sz="1500" dirty="0">
                <a:solidFill>
                  <a:schemeClr val="tx1"/>
                </a:solidFill>
              </a:rPr>
              <a:t>sirtmoq ikkala qutbda ochiq, ya'ni xotira.</a:t>
            </a:r>
            <a:endParaRPr lang="en-US" sz="1500" dirty="0"/>
          </a:p>
          <a:p>
            <a:pPr marL="228600" indent="-228600">
              <a:spcAft>
                <a:spcPts val="800"/>
              </a:spcAft>
              <a:buSzPct val="100000"/>
              <a:buChar char="•"/>
            </a:pPr>
            <a:r>
              <a:rPr lang="en-US" sz="1500" b="1" dirty="0">
                <a:solidFill>
                  <a:schemeClr val="tx1"/>
                </a:solidFill>
              </a:rPr>
              <a:t>(c): </a:t>
            </a:r>
            <a:pPr indent="0" marL="0">
              <a:buNone/>
            </a:pPr>
            <a:r>
              <a:rPr lang="en-US" sz="1500" dirty="0">
                <a:solidFill>
                  <a:schemeClr val="tx1"/>
                </a:solidFill>
              </a:rPr>
              <a:t>ON faqat musbat tomonda, kuchlanish tushganda OFF ga qaytadi, ya'ni volatil.</a:t>
            </a:r>
            <a:endParaRPr lang="en-US" sz="1500" dirty="0"/>
          </a:p>
          <a:p>
            <a:pPr marL="228600" indent="-228600">
              <a:spcAft>
                <a:spcPts val="800"/>
              </a:spcAft>
              <a:buSzPct val="100000"/>
              <a:buChar char="•"/>
            </a:pPr>
            <a:r>
              <a:rPr lang="en-US" sz="1500" b="1" dirty="0">
                <a:solidFill>
                  <a:schemeClr val="tx1"/>
                </a:solidFill>
              </a:rPr>
              <a:t>(d): </a:t>
            </a:r>
            <a:pPr indent="0" marL="0">
              <a:buNone/>
            </a:pPr>
            <a:r>
              <a:rPr lang="en-US" sz="1500" dirty="0">
                <a:solidFill>
                  <a:schemeClr val="tx1"/>
                </a:solidFill>
              </a:rPr>
              <a:t>gate 0 ga qaytgach xotira tiklanadi, lekin tok (a) dan ~10 marta kichik.</a:t>
            </a:r>
            <a:endParaRPr lang="en-US" sz="1500" dirty="0"/>
          </a:p>
          <a:p>
            <a:pPr marL="228600" indent="-228600">
              <a:spcAft>
                <a:spcPts val="800"/>
              </a:spcAft>
              <a:buSzPct val="100000"/>
              <a:buChar char="•"/>
            </a:pPr>
            <a:r>
              <a:rPr lang="en-US" sz="1500" b="1" dirty="0">
                <a:solidFill>
                  <a:schemeClr val="tx1"/>
                </a:solidFill>
              </a:rPr>
              <a:t>Diqqat: </a:t>
            </a:r>
            <a:pPr indent="0" marL="0">
              <a:buNone/>
            </a:pPr>
            <a:r>
              <a:rPr lang="en-US" sz="1500" dirty="0">
                <a:solidFill>
                  <a:schemeClr val="tx1"/>
                </a:solidFill>
              </a:rPr>
              <a:t>(c), (d) da y o'qi ±0.05 mA, (a), (b) da ±0.5 mA.</a:t>
            </a:r>
            <a:endParaRPr lang="en-US" sz="15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Raqamlarda solishtirish</a:t>
            </a:r>
            <a:endParaRPr lang="en-US" sz="3000" dirty="0"/>
          </a:p>
        </p:txBody>
      </p:sp>
      <p:graphicFrame>
        <p:nvGraphicFramePr>
          <p:cNvPr id="27" name="tbl_300"/>
          <p:cNvGraphicFramePr>
            <a:graphicFrameLocks noGrp="1"/>
          </p:cNvGraphicFramePr>
          <p:nvPr>
            <p:extLst>
              <p:ext uri="{D42A27DB-BD31-4B8C-83A1-F6EECF244321}">
                <p14:modId xmlns:p14="http://schemas.microsoft.com/office/powerpoint/2010/main" val="1579011935"/>
              </p:ext>
            </p:extLst>
          </p:nvPr>
        </p:nvGraphicFramePr>
        <p:xfrm>
          <a:off x="548640" y="1325880"/>
          <a:ext cx="8229600" cy="914400"/>
        </p:xfrm>
        <a:graphic>
          <a:graphicData uri="http://schemas.openxmlformats.org/drawingml/2006/table">
            <a:tbl>
              <a:tblPr/>
              <a:tblGrid>
                <a:gridCol w="822960"/>
                <a:gridCol w="2377440"/>
                <a:gridCol w="1737360"/>
                <a:gridCol w="2011680"/>
                <a:gridCol w="1280160"/>
              </a:tblGrid>
              <a:tr h="393192">
                <a:tc>
                  <a:txBody>
                    <a:bodyPr/>
                    <a:lstStyle/>
                    <a:p>
                      <a:pPr indent="0" marL="0">
                        <a:buNone/>
                      </a:pPr>
                      <a:r>
                        <a:rPr lang="en-US" sz="1400" b="1" dirty="0">
                          <a:solidFill>
                            <a:schemeClr val="bg1"/>
                          </a:solidFill>
                        </a:rPr>
                        <a:t>Panel</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Ko'rsatkich</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Maqola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Model</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Baho</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solidFill>
                      <a:schemeClr val="tx1"/>
                    </a:solidFill>
                  </a:tcPr>
                </a:tc>
              </a:tr>
              <a:tr h="393192">
                <a:tc>
                  <a:txBody>
                    <a:bodyPr/>
                    <a:lstStyle/>
                    <a:p>
                      <a:pPr indent="0" marL="0">
                        <a:buNone/>
                      </a:pPr>
                      <a:r>
                        <a:rPr lang="en-US" sz="1400" dirty="0">
                          <a:solidFill>
                            <a:schemeClr val="tx1"/>
                          </a:solidFill>
                        </a:rPr>
                        <a:t>(a)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V_SET</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+3.5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+3.65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b="1" dirty="0">
                          <a:solidFill>
                            <a:schemeClr val="accent5"/>
                          </a:solidFill>
                        </a:rPr>
                        <a:t>✓ 4%</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393192">
                <a:tc>
                  <a:txBody>
                    <a:bodyPr/>
                    <a:lstStyle/>
                    <a:p>
                      <a:pPr indent="0" marL="0">
                        <a:buNone/>
                      </a:pPr>
                      <a:r>
                        <a:rPr lang="en-US" sz="1400" dirty="0">
                          <a:solidFill>
                            <a:schemeClr val="tx1"/>
                          </a:solidFill>
                        </a:rPr>
                        <a:t>(a)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R_ON</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7 kΩ</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7.15 kΩ</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b="1" dirty="0">
                          <a:solidFill>
                            <a:schemeClr val="accent5"/>
                          </a:solidFill>
                        </a:rPr>
                        <a:t>✓ 2%</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393192">
                <a:tc>
                  <a:txBody>
                    <a:bodyPr/>
                    <a:lstStyle/>
                    <a:p>
                      <a:pPr indent="0" marL="0">
                        <a:buNone/>
                      </a:pPr>
                      <a:r>
                        <a:rPr lang="en-US" sz="1400" dirty="0">
                          <a:solidFill>
                            <a:schemeClr val="tx1"/>
                          </a:solidFill>
                        </a:rPr>
                        <a:t>(a)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RESET joyi</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−3.6…−3.8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−3.65…−3.8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b="1" dirty="0">
                          <a:solidFill>
                            <a:schemeClr val="accent5"/>
                          </a:solidFill>
                        </a:rPr>
                        <a:t>✓</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393192">
                <a:tc>
                  <a:txBody>
                    <a:bodyPr/>
                    <a:lstStyle/>
                    <a:p>
                      <a:pPr indent="0" marL="0">
                        <a:buNone/>
                      </a:pPr>
                      <a:r>
                        <a:rPr lang="en-US" sz="1400" dirty="0">
                          <a:solidFill>
                            <a:schemeClr val="tx1"/>
                          </a:solidFill>
                        </a:rPr>
                        <a:t>(a)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I_OFF (+3.5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0.03 mA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0.074 mA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b="1" dirty="0">
                          <a:solidFill>
                            <a:schemeClr val="accent4"/>
                          </a:solidFill>
                        </a:rPr>
                        <a:t>✕ 2.5×</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393192">
                <a:tc>
                  <a:txBody>
                    <a:bodyPr/>
                    <a:lstStyle/>
                    <a:p>
                      <a:pPr indent="0" marL="0">
                        <a:buNone/>
                      </a:pPr>
                      <a:r>
                        <a:rPr lang="en-US" sz="1400" dirty="0">
                          <a:solidFill>
                            <a:schemeClr val="tx1"/>
                          </a:solidFill>
                        </a:rPr>
                        <a:t>(b)</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R_ON</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9 kΩ</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9.73 kΩ</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b="1" dirty="0">
                          <a:solidFill>
                            <a:schemeClr val="accent5"/>
                          </a:solidFill>
                        </a:rPr>
                        <a:t>✓ 8%</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393192">
                <a:tc>
                  <a:txBody>
                    <a:bodyPr/>
                    <a:lstStyle/>
                    <a:p>
                      <a:pPr indent="0" marL="0">
                        <a:buNone/>
                      </a:pPr>
                      <a:r>
                        <a:rPr lang="en-US" sz="1400" dirty="0">
                          <a:solidFill>
                            <a:schemeClr val="tx1"/>
                          </a:solidFill>
                        </a:rPr>
                        <a:t>(c)</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Ulanish kuchlanishi</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+3.7…+4.3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+3.78…+3.96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b="1" dirty="0">
                          <a:solidFill>
                            <a:schemeClr val="accent5"/>
                          </a:solidFill>
                        </a:rPr>
                        <a:t>✓</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393192">
                <a:tc>
                  <a:txBody>
                    <a:bodyPr/>
                    <a:lstStyle/>
                    <a:p>
                      <a:pPr indent="0" marL="0">
                        <a:buNone/>
                      </a:pPr>
                      <a:r>
                        <a:rPr lang="en-US" sz="1400" dirty="0">
                          <a:solidFill>
                            <a:schemeClr val="tx1"/>
                          </a:solidFill>
                        </a:rPr>
                        <a:t>(c)</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V_h (OFF ga qaytish)</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 0.7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0.72 V</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b="1" dirty="0">
                          <a:solidFill>
                            <a:schemeClr val="accent5"/>
                          </a:solidFill>
                        </a:rPr>
                        <a:t>✓ 3%</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393192">
                <a:tc>
                  <a:txBody>
                    <a:bodyPr/>
                    <a:lstStyle/>
                    <a:p>
                      <a:pPr indent="0" marL="0">
                        <a:buNone/>
                      </a:pPr>
                      <a:r>
                        <a:rPr lang="en-US" sz="1400" dirty="0">
                          <a:solidFill>
                            <a:schemeClr val="tx1"/>
                          </a:solidFill>
                        </a:rPr>
                        <a:t>(d)</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Xatti-harakat</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xotira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xotira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b="1" dirty="0">
                          <a:solidFill>
                            <a:schemeClr val="accent5"/>
                          </a:solidFill>
                        </a:rPr>
                        <a:t>✓</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393192">
                <a:tc>
                  <a:txBody>
                    <a:bodyPr/>
                    <a:lstStyle/>
                    <a:p>
                      <a:pPr indent="0" marL="0">
                        <a:buNone/>
                      </a:pPr>
                      <a:r>
                        <a:rPr lang="en-US" sz="1400" dirty="0">
                          <a:solidFill>
                            <a:schemeClr val="tx1"/>
                          </a:solidFill>
                        </a:rPr>
                        <a:t>(d)</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R_ON</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 70 kΩ</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 80 kΩ</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b="1" dirty="0">
                          <a:solidFill>
                            <a:schemeClr val="accent1"/>
                          </a:solidFill>
                        </a:rPr>
                        <a:t>△ 14%</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r h="393192">
                <a:tc>
                  <a:txBody>
                    <a:bodyPr/>
                    <a:lstStyle/>
                    <a:p>
                      <a:pPr indent="0" marL="0">
                        <a:buNone/>
                      </a:pPr>
                      <a:r>
                        <a:rPr lang="en-US" sz="1400" dirty="0">
                          <a:solidFill>
                            <a:schemeClr val="tx1"/>
                          </a:solidFill>
                        </a:rPr>
                        <a:t>(d)</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Manfiy ON toki</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−0.05 mA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dirty="0">
                          <a:solidFill>
                            <a:schemeClr val="tx1"/>
                          </a:solidFill>
                        </a:rPr>
                        <a:t>−0.024…−0.028 mA</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c>
                  <a:txBody>
                    <a:bodyPr/>
                    <a:lstStyle/>
                    <a:p>
                      <a:pPr indent="0" marL="0">
                        <a:buNone/>
                      </a:pPr>
                      <a:r>
                        <a:rPr lang="en-US" sz="1400" b="1" dirty="0">
                          <a:solidFill>
                            <a:schemeClr val="accent1"/>
                          </a:solidFill>
                        </a:rPr>
                        <a:t>△ ~50%</a:t>
                      </a:r>
                      <a:endParaRPr lang="en-US" sz="1400" dirty="0"/>
                    </a:p>
                  </a:txBody>
                  <a:tcPr marL="91440" marR="91440" marT="45720" marB="45720">
                    <a:lnL w="9525" cap="flat" cmpd="sng" algn="ctr">
                      <a:solidFill>
                        <a:srgbClr val="C9D2DC"/>
                      </a:solidFill>
                      <a:prstDash val="solid"/>
                      <a:round/>
                      <a:headEnd type="none" w="med" len="med"/>
                      <a:tailEnd type="none" w="med" len="med"/>
                    </a:lnL>
                    <a:lnR w="9525" cap="flat" cmpd="sng" algn="ctr">
                      <a:solidFill>
                        <a:srgbClr val="C9D2DC"/>
                      </a:solidFill>
                      <a:prstDash val="solid"/>
                      <a:round/>
                      <a:headEnd type="none" w="med" len="med"/>
                      <a:tailEnd type="none" w="med" len="med"/>
                    </a:lnR>
                    <a:lnT w="9525" cap="flat" cmpd="sng" algn="ctr">
                      <a:solidFill>
                        <a:srgbClr val="C9D2DC"/>
                      </a:solidFill>
                      <a:prstDash val="solid"/>
                      <a:round/>
                      <a:headEnd type="none" w="med" len="med"/>
                      <a:tailEnd type="none" w="med" len="med"/>
                    </a:lnT>
                    <a:lnB w="9525" cap="flat" cmpd="sng" algn="ctr">
                      <a:solidFill>
                        <a:srgbClr val="C9D2DC"/>
                      </a:solidFill>
                      <a:prstDash val="solid"/>
                      <a:round/>
                      <a:headEnd type="none" w="med" len="med"/>
                      <a:tailEnd type="none" w="med" len="med"/>
                    </a:lnB>
                  </a:tcPr>
                </a:tc>
              </a:tr>
            </a:tbl>
          </a:graphicData>
        </a:graphic>
      </p:graphicFrame>
      <p:sp>
        <p:nvSpPr>
          <p:cNvPr id="4" name="box_301"/>
          <p:cNvSpPr/>
          <p:nvPr/>
        </p:nvSpPr>
        <p:spPr>
          <a:xfrm>
            <a:off x="9144000" y="1325880"/>
            <a:ext cx="2468880" cy="4343400"/>
          </a:xfrm>
          <a:prstGeom prst="roundRect">
            <a:avLst>
              <a:gd name="adj" fmla="val 2963"/>
            </a:avLst>
          </a:prstGeom>
          <a:solidFill>
            <a:schemeClr val="bg2"/>
          </a:solidFill>
          <a:ln w="9525">
            <a:solidFill>
              <a:schemeClr val="bg2"/>
            </a:solidFill>
            <a:prstDash val="solid"/>
          </a:ln>
        </p:spPr>
      </p:sp>
      <p:sp>
        <p:nvSpPr>
          <p:cNvPr id="5" name="text_302"/>
          <p:cNvSpPr txBox="1"/>
          <p:nvPr/>
        </p:nvSpPr>
        <p:spPr>
          <a:xfrm>
            <a:off x="9326880" y="1508760"/>
            <a:ext cx="2194560" cy="822960"/>
          </a:xfrm>
          <a:prstGeom prst="rect">
            <a:avLst/>
          </a:prstGeom>
          <a:noFill/>
          <a:ln/>
        </p:spPr>
        <p:txBody>
          <a:bodyPr wrap="square" lIns="635" tIns="635" rIns="635" bIns="635" rtlCol="0" anchor="t"/>
          <a:lstStyle/>
          <a:p>
            <a:pPr indent="0" marL="0">
              <a:buNone/>
            </a:pPr>
            <a:r>
              <a:rPr lang="en-US" sz="4000" b="1" dirty="0">
                <a:solidFill>
                  <a:schemeClr val="accent5"/>
                </a:solidFill>
                <a:latin typeface="Cambria" pitchFamily="34" charset="0"/>
                <a:ea typeface="Cambria" pitchFamily="34" charset="-122"/>
                <a:cs typeface="Cambria" pitchFamily="34" charset="-120"/>
              </a:rPr>
              <a:t>16–18</a:t>
            </a:r>
            <a:endParaRPr lang="en-US" sz="4000" dirty="0"/>
          </a:p>
        </p:txBody>
      </p:sp>
      <p:sp>
        <p:nvSpPr>
          <p:cNvPr id="6" name="text_303"/>
          <p:cNvSpPr txBox="1"/>
          <p:nvPr/>
        </p:nvSpPr>
        <p:spPr>
          <a:xfrm>
            <a:off x="9326880" y="2331720"/>
            <a:ext cx="2194560" cy="365760"/>
          </a:xfrm>
          <a:prstGeom prst="rect">
            <a:avLst/>
          </a:prstGeom>
          <a:noFill/>
          <a:ln/>
        </p:spPr>
        <p:txBody>
          <a:bodyPr wrap="square" lIns="635" tIns="635" rIns="635" bIns="635" rtlCol="0" anchor="t"/>
          <a:lstStyle/>
          <a:p>
            <a:pPr indent="0" marL="0">
              <a:buNone/>
            </a:pPr>
            <a:r>
              <a:rPr lang="en-US" sz="1600" b="1" dirty="0">
                <a:solidFill>
                  <a:schemeClr val="tx1"/>
                </a:solidFill>
              </a:rPr>
              <a:t>31 nishondan</a:t>
            </a:r>
            <a:endParaRPr lang="en-US" sz="1600" dirty="0"/>
          </a:p>
        </p:txBody>
      </p:sp>
      <p:sp>
        <p:nvSpPr>
          <p:cNvPr id="7" name="text_304"/>
          <p:cNvSpPr txBox="1"/>
          <p:nvPr/>
        </p:nvSpPr>
        <p:spPr>
          <a:xfrm>
            <a:off x="9326880" y="2743200"/>
            <a:ext cx="2194560" cy="2834640"/>
          </a:xfrm>
          <a:prstGeom prst="rect">
            <a:avLst/>
          </a:prstGeom>
          <a:noFill/>
          <a:ln/>
        </p:spPr>
        <p:txBody>
          <a:bodyPr wrap="square" lIns="635" tIns="635" rIns="635" bIns="635" rtlCol="0" anchor="t"/>
          <a:lstStyle/>
          <a:p>
            <a:pPr indent="0" marL="0">
              <a:buNone/>
            </a:pPr>
            <a:r>
              <a:rPr lang="en-US" sz="1400" dirty="0">
                <a:solidFill>
                  <a:schemeClr val="accent6"/>
                </a:solidFill>
              </a:rPr>
              <a:t>20–30% aniqlik bilan yoki sifat jihatidan to'g'ri chiqdi. Eng muhim yutuq: (d) panel xotirasi to'g'ri chiqdi.</a:t>
            </a:r>
            <a:endParaRPr lang="en-US" sz="14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COMSOL grafigini qanday o'qish kerak: (d) panel</a:t>
            </a:r>
            <a:endParaRPr lang="en-US" sz="3000" dirty="0"/>
          </a:p>
        </p:txBody>
      </p:sp>
      <p:pic>
        <p:nvPicPr>
          <p:cNvPr id="3" name="img_305" descr="COMSOL'dagi (d) panel I–V grafigi">    </p:cNvPr>
          <p:cNvPicPr>
            <a:picLocks noChangeAspect="1"/>
          </p:cNvPicPr>
          <p:nvPr/>
        </p:nvPicPr>
        <p:blipFill>
          <a:blip r:embed="rId1"/>
          <a:stretch>
            <a:fillRect/>
          </a:stretch>
        </p:blipFill>
        <p:spPr>
          <a:xfrm>
            <a:off x="548640" y="1234440"/>
            <a:ext cx="5513832" cy="5029200"/>
          </a:xfrm>
          <a:prstGeom prst="rect">
            <a:avLst/>
          </a:prstGeom>
        </p:spPr>
      </p:pic>
      <p:sp>
        <p:nvSpPr>
          <p:cNvPr id="4" name="num_306"/>
          <p:cNvSpPr/>
          <p:nvPr/>
        </p:nvSpPr>
        <p:spPr>
          <a:xfrm>
            <a:off x="4276919" y="3275923"/>
            <a:ext cx="310896" cy="310896"/>
          </a:xfrm>
          <a:prstGeom prst="ellipse">
            <a:avLst/>
          </a:prstGeom>
          <a:solidFill>
            <a:schemeClr val="accent1"/>
          </a:solidFill>
          <a:ln w="12700">
            <a:solidFill>
              <a:schemeClr val="accent1"/>
            </a:solidFill>
            <a:prstDash val="solid"/>
          </a:ln>
        </p:spPr>
      </p:sp>
      <p:sp>
        <p:nvSpPr>
          <p:cNvPr id="5" name="numtxt_307"/>
          <p:cNvSpPr txBox="1"/>
          <p:nvPr/>
        </p:nvSpPr>
        <p:spPr>
          <a:xfrm>
            <a:off x="4276919" y="3275923"/>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num_308"/>
          <p:cNvSpPr/>
          <p:nvPr/>
        </p:nvSpPr>
        <p:spPr>
          <a:xfrm>
            <a:off x="5450550" y="2739713"/>
            <a:ext cx="310896" cy="310896"/>
          </a:xfrm>
          <a:prstGeom prst="ellipse">
            <a:avLst/>
          </a:prstGeom>
          <a:solidFill>
            <a:schemeClr val="accent1"/>
          </a:solidFill>
          <a:ln w="12700">
            <a:solidFill>
              <a:schemeClr val="accent1"/>
            </a:solidFill>
            <a:prstDash val="solid"/>
          </a:ln>
        </p:spPr>
      </p:sp>
      <p:sp>
        <p:nvSpPr>
          <p:cNvPr id="7" name="numtxt_309"/>
          <p:cNvSpPr txBox="1"/>
          <p:nvPr/>
        </p:nvSpPr>
        <p:spPr>
          <a:xfrm>
            <a:off x="5450550" y="2739713"/>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8" name="num_310"/>
          <p:cNvSpPr/>
          <p:nvPr/>
        </p:nvSpPr>
        <p:spPr>
          <a:xfrm>
            <a:off x="4337105" y="2518921"/>
            <a:ext cx="310896" cy="310896"/>
          </a:xfrm>
          <a:prstGeom prst="ellipse">
            <a:avLst/>
          </a:prstGeom>
          <a:solidFill>
            <a:schemeClr val="accent1"/>
          </a:solidFill>
          <a:ln w="12700">
            <a:solidFill>
              <a:schemeClr val="accent1"/>
            </a:solidFill>
            <a:prstDash val="solid"/>
          </a:ln>
        </p:spPr>
      </p:sp>
      <p:sp>
        <p:nvSpPr>
          <p:cNvPr id="9" name="numtxt_311"/>
          <p:cNvSpPr txBox="1"/>
          <p:nvPr/>
        </p:nvSpPr>
        <p:spPr>
          <a:xfrm>
            <a:off x="4337105" y="2518921"/>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0" name="num_312"/>
          <p:cNvSpPr/>
          <p:nvPr/>
        </p:nvSpPr>
        <p:spPr>
          <a:xfrm>
            <a:off x="2411147" y="4569134"/>
            <a:ext cx="310896" cy="310896"/>
          </a:xfrm>
          <a:prstGeom prst="ellipse">
            <a:avLst/>
          </a:prstGeom>
          <a:solidFill>
            <a:schemeClr val="accent1"/>
          </a:solidFill>
          <a:ln w="12700">
            <a:solidFill>
              <a:schemeClr val="accent1"/>
            </a:solidFill>
            <a:prstDash val="solid"/>
          </a:ln>
        </p:spPr>
      </p:sp>
      <p:sp>
        <p:nvSpPr>
          <p:cNvPr id="11" name="numtxt_313"/>
          <p:cNvSpPr txBox="1"/>
          <p:nvPr/>
        </p:nvSpPr>
        <p:spPr>
          <a:xfrm>
            <a:off x="2411147" y="456913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2" name="num_314"/>
          <p:cNvSpPr/>
          <p:nvPr/>
        </p:nvSpPr>
        <p:spPr>
          <a:xfrm>
            <a:off x="1387982" y="4159091"/>
            <a:ext cx="310896" cy="310896"/>
          </a:xfrm>
          <a:prstGeom prst="ellipse">
            <a:avLst/>
          </a:prstGeom>
          <a:solidFill>
            <a:schemeClr val="accent1"/>
          </a:solidFill>
          <a:ln w="12700">
            <a:solidFill>
              <a:schemeClr val="accent1"/>
            </a:solidFill>
            <a:prstDash val="solid"/>
          </a:ln>
        </p:spPr>
      </p:sp>
      <p:sp>
        <p:nvSpPr>
          <p:cNvPr id="13" name="numtxt_315"/>
          <p:cNvSpPr txBox="1"/>
          <p:nvPr/>
        </p:nvSpPr>
        <p:spPr>
          <a:xfrm>
            <a:off x="1387982" y="4159091"/>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4" name="num_316"/>
          <p:cNvSpPr/>
          <p:nvPr/>
        </p:nvSpPr>
        <p:spPr>
          <a:xfrm>
            <a:off x="2170402" y="3244381"/>
            <a:ext cx="310896" cy="310896"/>
          </a:xfrm>
          <a:prstGeom prst="ellipse">
            <a:avLst/>
          </a:prstGeom>
          <a:solidFill>
            <a:schemeClr val="accent1"/>
          </a:solidFill>
          <a:ln w="12700">
            <a:solidFill>
              <a:schemeClr val="accent1"/>
            </a:solidFill>
            <a:prstDash val="solid"/>
          </a:ln>
        </p:spPr>
      </p:sp>
      <p:sp>
        <p:nvSpPr>
          <p:cNvPr id="15" name="numtxt_317"/>
          <p:cNvSpPr txBox="1"/>
          <p:nvPr/>
        </p:nvSpPr>
        <p:spPr>
          <a:xfrm>
            <a:off x="2170402" y="3244381"/>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16" name="num_318"/>
          <p:cNvSpPr/>
          <p:nvPr/>
        </p:nvSpPr>
        <p:spPr>
          <a:xfrm>
            <a:off x="6400800" y="1280160"/>
            <a:ext cx="365760" cy="365760"/>
          </a:xfrm>
          <a:prstGeom prst="ellipse">
            <a:avLst/>
          </a:prstGeom>
          <a:solidFill>
            <a:schemeClr val="accent1"/>
          </a:solidFill>
          <a:ln w="12700">
            <a:solidFill>
              <a:schemeClr val="accent1"/>
            </a:solidFill>
            <a:prstDash val="solid"/>
          </a:ln>
        </p:spPr>
      </p:sp>
      <p:sp>
        <p:nvSpPr>
          <p:cNvPr id="17" name="numtxt_319"/>
          <p:cNvSpPr txBox="1"/>
          <p:nvPr/>
        </p:nvSpPr>
        <p:spPr>
          <a:xfrm>
            <a:off x="6400800" y="1280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8" name="text_320"/>
          <p:cNvSpPr txBox="1"/>
          <p:nvPr/>
        </p:nvSpPr>
        <p:spPr>
          <a:xfrm>
            <a:off x="6903720" y="1234440"/>
            <a:ext cx="4800600" cy="804672"/>
          </a:xfrm>
          <a:prstGeom prst="rect">
            <a:avLst/>
          </a:prstGeom>
          <a:noFill/>
          <a:ln/>
        </p:spPr>
        <p:txBody>
          <a:bodyPr wrap="square" lIns="635" tIns="635" rIns="635" bIns="635" rtlCol="0" anchor="t"/>
          <a:lstStyle/>
          <a:p>
            <a:pPr indent="0" marL="0">
              <a:buNone/>
            </a:pPr>
            <a:r>
              <a:rPr lang="en-US" sz="1300" b="1" dirty="0">
                <a:solidFill>
                  <a:schemeClr val="tx1"/>
                </a:solidFill>
              </a:rPr>
              <a:t>Boshlanish (OFF): </a:t>
            </a:r>
            <a:pPr indent="0" marL="0">
              <a:buNone/>
            </a:pPr>
            <a:r>
              <a:rPr lang="en-US" sz="1300" dirty="0">
                <a:solidFill>
                  <a:schemeClr val="tx1"/>
                </a:solidFill>
              </a:rPr>
              <a:t>kuchlanish 0 dan oshadi, tok deyarli nol (~0.002 mA). Element (c) paneldan keyin OFF holatda.</a:t>
            </a:r>
            <a:endParaRPr lang="en-US" sz="1300" dirty="0"/>
          </a:p>
        </p:txBody>
      </p:sp>
      <p:sp>
        <p:nvSpPr>
          <p:cNvPr id="19" name="num_321"/>
          <p:cNvSpPr/>
          <p:nvPr/>
        </p:nvSpPr>
        <p:spPr>
          <a:xfrm>
            <a:off x="6400800" y="2121408"/>
            <a:ext cx="365760" cy="365760"/>
          </a:xfrm>
          <a:prstGeom prst="ellipse">
            <a:avLst/>
          </a:prstGeom>
          <a:solidFill>
            <a:schemeClr val="accent1"/>
          </a:solidFill>
          <a:ln w="12700">
            <a:solidFill>
              <a:schemeClr val="accent1"/>
            </a:solidFill>
            <a:prstDash val="solid"/>
          </a:ln>
        </p:spPr>
      </p:sp>
      <p:sp>
        <p:nvSpPr>
          <p:cNvPr id="20" name="numtxt_322"/>
          <p:cNvSpPr txBox="1"/>
          <p:nvPr/>
        </p:nvSpPr>
        <p:spPr>
          <a:xfrm>
            <a:off x="6400800" y="212140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1" name="text_323"/>
          <p:cNvSpPr txBox="1"/>
          <p:nvPr/>
        </p:nvSpPr>
        <p:spPr>
          <a:xfrm>
            <a:off x="6903720" y="2075688"/>
            <a:ext cx="4800600" cy="804672"/>
          </a:xfrm>
          <a:prstGeom prst="rect">
            <a:avLst/>
          </a:prstGeom>
          <a:noFill/>
          <a:ln/>
        </p:spPr>
        <p:txBody>
          <a:bodyPr wrap="square" lIns="635" tIns="635" rIns="635" bIns="635" rtlCol="0" anchor="t"/>
          <a:lstStyle/>
          <a:p>
            <a:pPr indent="0" marL="0">
              <a:buNone/>
            </a:pPr>
            <a:r>
              <a:rPr lang="en-US" sz="1300" b="1" dirty="0">
                <a:solidFill>
                  <a:schemeClr val="tx1"/>
                </a:solidFill>
              </a:rPr>
              <a:t>SET: </a:t>
            </a:r>
            <a:pPr indent="0" marL="0">
              <a:buNone/>
            </a:pPr>
            <a:r>
              <a:rPr lang="en-US" sz="1300" dirty="0">
                <a:solidFill>
                  <a:schemeClr val="tx1"/>
                </a:solidFill>
              </a:rPr>
              <a:t>+3.5…+4 V da tok keskin oshadi, filament paydo bo'ldi (x → 1).</a:t>
            </a:r>
            <a:endParaRPr lang="en-US" sz="1300" dirty="0"/>
          </a:p>
        </p:txBody>
      </p:sp>
      <p:sp>
        <p:nvSpPr>
          <p:cNvPr id="22" name="num_324"/>
          <p:cNvSpPr/>
          <p:nvPr/>
        </p:nvSpPr>
        <p:spPr>
          <a:xfrm>
            <a:off x="6400800" y="2962656"/>
            <a:ext cx="365760" cy="365760"/>
          </a:xfrm>
          <a:prstGeom prst="ellipse">
            <a:avLst/>
          </a:prstGeom>
          <a:solidFill>
            <a:schemeClr val="accent1"/>
          </a:solidFill>
          <a:ln w="12700">
            <a:solidFill>
              <a:schemeClr val="accent1"/>
            </a:solidFill>
            <a:prstDash val="solid"/>
          </a:ln>
        </p:spPr>
      </p:sp>
      <p:sp>
        <p:nvSpPr>
          <p:cNvPr id="23" name="numtxt_325"/>
          <p:cNvSpPr txBox="1"/>
          <p:nvPr/>
        </p:nvSpPr>
        <p:spPr>
          <a:xfrm>
            <a:off x="6400800" y="296265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_326"/>
          <p:cNvSpPr txBox="1"/>
          <p:nvPr/>
        </p:nvSpPr>
        <p:spPr>
          <a:xfrm>
            <a:off x="6903720" y="2916936"/>
            <a:ext cx="4800600" cy="804672"/>
          </a:xfrm>
          <a:prstGeom prst="rect">
            <a:avLst/>
          </a:prstGeom>
          <a:noFill/>
          <a:ln/>
        </p:spPr>
        <p:txBody>
          <a:bodyPr wrap="square" lIns="635" tIns="635" rIns="635" bIns="635" rtlCol="0" anchor="t"/>
          <a:lstStyle/>
          <a:p>
            <a:pPr indent="0" marL="0">
              <a:buNone/>
            </a:pPr>
            <a:r>
              <a:rPr lang="en-US" sz="1300" b="1" dirty="0">
                <a:solidFill>
                  <a:schemeClr val="tx1"/>
                </a:solidFill>
              </a:rPr>
              <a:t>ON chizig'i: </a:t>
            </a:r>
            <a:pPr indent="0" marL="0">
              <a:buNone/>
            </a:pPr>
            <a:r>
              <a:rPr lang="en-US" sz="1300" dirty="0">
                <a:solidFill>
                  <a:schemeClr val="tx1"/>
                </a:solidFill>
              </a:rPr>
              <a:t>kuchlanish kamayganda tok to'g'ri chiziq bo'ylab qaytadi (Ohm qonuni, R ≈ 80 kΩ).</a:t>
            </a:r>
            <a:endParaRPr lang="en-US" sz="1300" dirty="0"/>
          </a:p>
        </p:txBody>
      </p:sp>
      <p:sp>
        <p:nvSpPr>
          <p:cNvPr id="25" name="num_327"/>
          <p:cNvSpPr/>
          <p:nvPr/>
        </p:nvSpPr>
        <p:spPr>
          <a:xfrm>
            <a:off x="6400800" y="3803904"/>
            <a:ext cx="365760" cy="365760"/>
          </a:xfrm>
          <a:prstGeom prst="ellipse">
            <a:avLst/>
          </a:prstGeom>
          <a:solidFill>
            <a:schemeClr val="accent1"/>
          </a:solidFill>
          <a:ln w="12700">
            <a:solidFill>
              <a:schemeClr val="accent1"/>
            </a:solidFill>
            <a:prstDash val="solid"/>
          </a:ln>
        </p:spPr>
      </p:sp>
      <p:sp>
        <p:nvSpPr>
          <p:cNvPr id="26" name="numtxt_328"/>
          <p:cNvSpPr txBox="1"/>
          <p:nvPr/>
        </p:nvSpPr>
        <p:spPr>
          <a:xfrm>
            <a:off x="6400800" y="3803904"/>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7" name="text_329"/>
          <p:cNvSpPr txBox="1"/>
          <p:nvPr/>
        </p:nvSpPr>
        <p:spPr>
          <a:xfrm>
            <a:off x="6903720" y="3758184"/>
            <a:ext cx="4800600" cy="804672"/>
          </a:xfrm>
          <a:prstGeom prst="rect">
            <a:avLst/>
          </a:prstGeom>
          <a:noFill/>
          <a:ln/>
        </p:spPr>
        <p:txBody>
          <a:bodyPr wrap="square" lIns="635" tIns="635" rIns="635" bIns="635" rtlCol="0" anchor="t"/>
          <a:lstStyle/>
          <a:p>
            <a:pPr indent="0" marL="0">
              <a:buNone/>
            </a:pPr>
            <a:r>
              <a:rPr lang="en-US" sz="1300" b="1" dirty="0">
                <a:solidFill>
                  <a:schemeClr val="tx1"/>
                </a:solidFill>
              </a:rPr>
              <a:t>Xotira: </a:t>
            </a:r>
            <a:pPr indent="0" marL="0">
              <a:buNone/>
            </a:pPr>
            <a:r>
              <a:rPr lang="en-US" sz="1300" dirty="0">
                <a:solidFill>
                  <a:schemeClr val="tx1"/>
                </a:solidFill>
              </a:rPr>
              <a:t>kuchlanish manfiy bo'lsa ham element ON qoladi, chiziq davom etadi (−0.045 mA gacha).</a:t>
            </a:r>
            <a:endParaRPr lang="en-US" sz="1300" dirty="0"/>
          </a:p>
        </p:txBody>
      </p:sp>
      <p:sp>
        <p:nvSpPr>
          <p:cNvPr id="28" name="num_330"/>
          <p:cNvSpPr/>
          <p:nvPr/>
        </p:nvSpPr>
        <p:spPr>
          <a:xfrm>
            <a:off x="6400800" y="4645152"/>
            <a:ext cx="365760" cy="365760"/>
          </a:xfrm>
          <a:prstGeom prst="ellipse">
            <a:avLst/>
          </a:prstGeom>
          <a:solidFill>
            <a:schemeClr val="accent1"/>
          </a:solidFill>
          <a:ln w="12700">
            <a:solidFill>
              <a:schemeClr val="accent1"/>
            </a:solidFill>
            <a:prstDash val="solid"/>
          </a:ln>
        </p:spPr>
      </p:sp>
      <p:sp>
        <p:nvSpPr>
          <p:cNvPr id="29" name="numtxt_331"/>
          <p:cNvSpPr txBox="1"/>
          <p:nvPr/>
        </p:nvSpPr>
        <p:spPr>
          <a:xfrm>
            <a:off x="6400800" y="46451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0" name="text_332"/>
          <p:cNvSpPr txBox="1"/>
          <p:nvPr/>
        </p:nvSpPr>
        <p:spPr>
          <a:xfrm>
            <a:off x="6903720" y="4599432"/>
            <a:ext cx="4800600" cy="804672"/>
          </a:xfrm>
          <a:prstGeom prst="rect">
            <a:avLst/>
          </a:prstGeom>
          <a:noFill/>
          <a:ln/>
        </p:spPr>
        <p:txBody>
          <a:bodyPr wrap="square" lIns="635" tIns="635" rIns="635" bIns="635" rtlCol="0" anchor="t"/>
          <a:lstStyle/>
          <a:p>
            <a:pPr indent="0" marL="0">
              <a:buNone/>
            </a:pPr>
            <a:r>
              <a:rPr lang="en-US" sz="1300" b="1" dirty="0">
                <a:solidFill>
                  <a:schemeClr val="tx1"/>
                </a:solidFill>
              </a:rPr>
              <a:t>RESET: </a:t>
            </a:r>
            <a:pPr indent="0" marL="0">
              <a:buNone/>
            </a:pPr>
            <a:r>
              <a:rPr lang="en-US" sz="1300" dirty="0">
                <a:solidFill>
                  <a:schemeClr val="tx1"/>
                </a:solidFill>
              </a:rPr>
              <a:t>−3 V dan pastda tok kamayadi, filament yo'qoladi (x → 0).</a:t>
            </a:r>
            <a:endParaRPr lang="en-US" sz="1300" dirty="0"/>
          </a:p>
        </p:txBody>
      </p:sp>
      <p:sp>
        <p:nvSpPr>
          <p:cNvPr id="31" name="num_333"/>
          <p:cNvSpPr/>
          <p:nvPr/>
        </p:nvSpPr>
        <p:spPr>
          <a:xfrm>
            <a:off x="6400800" y="5486400"/>
            <a:ext cx="365760" cy="365760"/>
          </a:xfrm>
          <a:prstGeom prst="ellipse">
            <a:avLst/>
          </a:prstGeom>
          <a:solidFill>
            <a:schemeClr val="accent1"/>
          </a:solidFill>
          <a:ln w="12700">
            <a:solidFill>
              <a:schemeClr val="accent1"/>
            </a:solidFill>
            <a:prstDash val="solid"/>
          </a:ln>
        </p:spPr>
      </p:sp>
      <p:sp>
        <p:nvSpPr>
          <p:cNvPr id="32" name="numtxt_334"/>
          <p:cNvSpPr txBox="1"/>
          <p:nvPr/>
        </p:nvSpPr>
        <p:spPr>
          <a:xfrm>
            <a:off x="6400800" y="54864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3" name="text_335"/>
          <p:cNvSpPr txBox="1"/>
          <p:nvPr/>
        </p:nvSpPr>
        <p:spPr>
          <a:xfrm>
            <a:off x="6903720" y="5440680"/>
            <a:ext cx="4800600" cy="804672"/>
          </a:xfrm>
          <a:prstGeom prst="rect">
            <a:avLst/>
          </a:prstGeom>
          <a:noFill/>
          <a:ln/>
        </p:spPr>
        <p:txBody>
          <a:bodyPr wrap="square" lIns="635" tIns="635" rIns="635" bIns="635" rtlCol="0" anchor="t"/>
          <a:lstStyle/>
          <a:p>
            <a:pPr indent="0" marL="0">
              <a:buNone/>
            </a:pPr>
            <a:r>
              <a:rPr lang="en-US" sz="1300" b="1" dirty="0">
                <a:solidFill>
                  <a:schemeClr val="tx1"/>
                </a:solidFill>
              </a:rPr>
              <a:t>Qaytish (OFF): </a:t>
            </a:r>
            <a:pPr indent="0" marL="0">
              <a:buNone/>
            </a:pPr>
            <a:r>
              <a:rPr lang="en-US" sz="1300" dirty="0">
                <a:solidFill>
                  <a:schemeClr val="tx1"/>
                </a:solidFill>
              </a:rPr>
              <a:t>−4 V dan 0 gacha tok yana deyarli nol.</a:t>
            </a:r>
            <a:endParaRPr lang="en-US" sz="13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Model3: bosim R_ON ni kamaytiradi</a:t>
            </a:r>
            <a:endParaRPr lang="en-US" sz="3000" dirty="0"/>
          </a:p>
        </p:txBody>
      </p:sp>
      <p:graphicFrame>
        <p:nvGraphicFramePr>
          <p:cNvPr id="3" name="chart_336" descr=""/>
          <p:cNvGraphicFramePr/>
          <p:nvPr/>
        </p:nvGraphicFramePr>
        <p:xfrm>
          <a:off x="548640" y="1280160"/>
          <a:ext cx="6309360" cy="4937760"/>
        </p:xfrm>
        <a:graphic xmlns:a="http://schemas.openxmlformats.org/drawingml/2006/main">
          <a:graphicData uri="http://schemas.openxmlformats.org/drawingml/2006/chart">
            <c:chart xmlns:c="http://schemas.openxmlformats.org/drawingml/2006/chart" r:id="rId1"/>
          </a:graphicData>
        </a:graphic>
      </p:graphicFrame>
      <p:sp>
        <p:nvSpPr>
          <p:cNvPr id="4" name="box_337"/>
          <p:cNvSpPr/>
          <p:nvPr/>
        </p:nvSpPr>
        <p:spPr>
          <a:xfrm>
            <a:off x="7223760" y="1280160"/>
            <a:ext cx="4389120" cy="685800"/>
          </a:xfrm>
          <a:prstGeom prst="roundRect">
            <a:avLst>
              <a:gd name="adj" fmla="val 8000"/>
            </a:avLst>
          </a:prstGeom>
          <a:solidFill>
            <a:schemeClr val="bg2"/>
          </a:solidFill>
          <a:ln w="9525">
            <a:solidFill>
              <a:schemeClr val="bg2"/>
            </a:solidFill>
            <a:prstDash val="solid"/>
          </a:ln>
        </p:spPr>
      </p:sp>
      <p:sp>
        <p:nvSpPr>
          <p:cNvPr id="5" name="eq_338"/>
          <p:cNvSpPr txBox="1"/>
          <p:nvPr/>
        </p:nvSpPr>
        <p:spPr>
          <a:xfrm>
            <a:off x="7406640" y="1280160"/>
            <a:ext cx="4023360" cy="685800"/>
          </a:xfrm>
          <a:prstGeom prst="rect">
            <a:avLst/>
          </a:prstGeom>
          <a:noFill/>
          <a:ln/>
        </p:spPr>
        <p:txBody>
          <a:bodyPr wrap="square" lIns="0" tIns="0" rIns="0" bIns="0" rtlCol="0" anchor="ctr"/>
          <a:lstStyle/>
          <a:p>
            <a:pPr algn="ctr" indent="0" marL="0">
              <a:buNone/>
            </a:pPr>
            <a:r>
              <a:rPr lang="en-US" sz="1800" dirty="0">
                <a:solidFill>
                  <a:schemeClr val="tx1"/>
                </a:solidFill>
                <a:latin typeface="Cambria" pitchFamily="34" charset="0"/>
                <a:ea typeface="Cambria" pitchFamily="34" charset="-122"/>
                <a:cs typeface="Cambria" pitchFamily="34" charset="-120"/>
              </a:rPr>
              <a:t>d</a:t>
            </a:r>
            <a:pPr algn="ctr" indent="0" marL="0">
              <a:buNone/>
            </a:pPr>
            <a:r>
              <a:rPr lang="en-US" sz="1800" baseline="-40000" dirty="0">
                <a:solidFill>
                  <a:schemeClr val="tx1"/>
                </a:solidFill>
                <a:latin typeface="Cambria" pitchFamily="34" charset="0"/>
                <a:ea typeface="Cambria" pitchFamily="34" charset="-122"/>
                <a:cs typeface="Cambria" pitchFamily="34" charset="-120"/>
              </a:rPr>
              <a:t>gap</a:t>
            </a:r>
            <a:pPr algn="ctr" indent="0" marL="0">
              <a:buNone/>
            </a:pPr>
            <a:r>
              <a:rPr lang="en-US" sz="1800" dirty="0">
                <a:solidFill>
                  <a:schemeClr val="tx1"/>
                </a:solidFill>
                <a:latin typeface="Cambria" pitchFamily="34" charset="0"/>
                <a:ea typeface="Cambria" pitchFamily="34" charset="-122"/>
                <a:cs typeface="Cambria" pitchFamily="34" charset="-120"/>
              </a:rPr>
              <a:t> = t</a:t>
            </a:r>
            <a:pPr algn="ctr" indent="0" marL="0">
              <a:buNone/>
            </a:pPr>
            <a:r>
              <a:rPr lang="en-US" sz="1800" baseline="-40000" dirty="0">
                <a:solidFill>
                  <a:schemeClr val="tx1"/>
                </a:solidFill>
                <a:latin typeface="Cambria" pitchFamily="34" charset="0"/>
                <a:ea typeface="Cambria" pitchFamily="34" charset="-122"/>
                <a:cs typeface="Cambria" pitchFamily="34" charset="-120"/>
              </a:rPr>
              <a:t>int</a:t>
            </a:r>
            <a:pPr algn="ctr" indent="0" marL="0">
              <a:buNone/>
            </a:pPr>
            <a:r>
              <a:rPr lang="en-US" sz="1800" dirty="0">
                <a:solidFill>
                  <a:schemeClr val="tx1"/>
                </a:solidFill>
                <a:latin typeface="Cambria" pitchFamily="34" charset="0"/>
                <a:ea typeface="Cambria" pitchFamily="34" charset="-122"/>
                <a:cs typeface="Cambria" pitchFamily="34" charset="-120"/>
              </a:rPr>
              <a:t> · (1 + ε</a:t>
            </a:r>
            <a:pPr algn="ctr" indent="0" marL="0">
              <a:buNone/>
            </a:pPr>
            <a:r>
              <a:rPr lang="en-US" sz="1800" baseline="-40000" dirty="0">
                <a:solidFill>
                  <a:schemeClr val="tx1"/>
                </a:solidFill>
                <a:latin typeface="Cambria" pitchFamily="34" charset="0"/>
                <a:ea typeface="Cambria" pitchFamily="34" charset="-122"/>
                <a:cs typeface="Cambria" pitchFamily="34" charset="-120"/>
              </a:rPr>
              <a:t>zz</a:t>
            </a:r>
            <a:pPr algn="ctr" indent="0" marL="0">
              <a:buNone/>
            </a:pPr>
            <a:r>
              <a:rPr lang="en-US" sz="1800" dirty="0">
                <a:solidFill>
                  <a:schemeClr val="tx1"/>
                </a:solidFill>
                <a:latin typeface="Cambria" pitchFamily="34" charset="0"/>
                <a:ea typeface="Cambria" pitchFamily="34" charset="-122"/>
                <a:cs typeface="Cambria" pitchFamily="34" charset="-120"/>
              </a:rPr>
              <a:t>)</a:t>
            </a:r>
            <a:endParaRPr lang="en-US" sz="1800" dirty="0"/>
          </a:p>
        </p:txBody>
      </p:sp>
      <p:sp>
        <p:nvSpPr>
          <p:cNvPr id="6" name="box_339"/>
          <p:cNvSpPr/>
          <p:nvPr/>
        </p:nvSpPr>
        <p:spPr>
          <a:xfrm>
            <a:off x="7223760" y="2103120"/>
            <a:ext cx="4389120" cy="685800"/>
          </a:xfrm>
          <a:prstGeom prst="roundRect">
            <a:avLst>
              <a:gd name="adj" fmla="val 8000"/>
            </a:avLst>
          </a:prstGeom>
          <a:solidFill>
            <a:schemeClr val="bg2"/>
          </a:solidFill>
          <a:ln w="9525">
            <a:solidFill>
              <a:schemeClr val="bg2"/>
            </a:solidFill>
            <a:prstDash val="solid"/>
          </a:ln>
        </p:spPr>
      </p:sp>
      <p:sp>
        <p:nvSpPr>
          <p:cNvPr id="7" name="eq_340"/>
          <p:cNvSpPr txBox="1"/>
          <p:nvPr/>
        </p:nvSpPr>
        <p:spPr>
          <a:xfrm>
            <a:off x="7406640" y="2103120"/>
            <a:ext cx="4023360" cy="685800"/>
          </a:xfrm>
          <a:prstGeom prst="rect">
            <a:avLst/>
          </a:prstGeom>
          <a:noFill/>
          <a:ln/>
        </p:spPr>
        <p:txBody>
          <a:bodyPr wrap="square" lIns="0" tIns="0" rIns="0" bIns="0" rtlCol="0" anchor="ctr"/>
          <a:lstStyle/>
          <a:p>
            <a:pPr algn="ctr" indent="0" marL="0">
              <a:buNone/>
            </a:pPr>
            <a:r>
              <a:rPr lang="en-US" sz="1600" dirty="0">
                <a:solidFill>
                  <a:schemeClr val="tx1"/>
                </a:solidFill>
                <a:latin typeface="Cambria" pitchFamily="34" charset="0"/>
                <a:ea typeface="Cambria" pitchFamily="34" charset="-122"/>
                <a:cs typeface="Cambria" pitchFamily="34" charset="-120"/>
              </a:rPr>
              <a:t>σ</a:t>
            </a:r>
            <a:pPr algn="ctr" indent="0" marL="0">
              <a:buNone/>
            </a:pPr>
            <a:r>
              <a:rPr lang="en-US" sz="1600" baseline="-40000" dirty="0">
                <a:solidFill>
                  <a:schemeClr val="tx1"/>
                </a:solidFill>
                <a:latin typeface="Cambria" pitchFamily="34" charset="0"/>
                <a:ea typeface="Cambria" pitchFamily="34" charset="-122"/>
                <a:cs typeface="Cambria" pitchFamily="34" charset="-120"/>
              </a:rPr>
              <a:t>on</a:t>
            </a:r>
            <a:pPr algn="ctr" indent="0" marL="0">
              <a:buNone/>
            </a:pPr>
            <a:r>
              <a:rPr lang="en-US" sz="1600" dirty="0">
                <a:solidFill>
                  <a:schemeClr val="tx1"/>
                </a:solidFill>
                <a:latin typeface="Cambria" pitchFamily="34" charset="0"/>
                <a:ea typeface="Cambria" pitchFamily="34" charset="-122"/>
                <a:cs typeface="Cambria" pitchFamily="34" charset="-120"/>
              </a:rPr>
              <a:t>(p) = σ</a:t>
            </a:r>
            <a:pPr algn="ctr" indent="0" marL="0">
              <a:buNone/>
            </a:pPr>
            <a:r>
              <a:rPr lang="en-US" sz="1600" baseline="-40000" dirty="0">
                <a:solidFill>
                  <a:schemeClr val="tx1"/>
                </a:solidFill>
                <a:latin typeface="Cambria" pitchFamily="34" charset="0"/>
                <a:ea typeface="Cambria" pitchFamily="34" charset="-122"/>
                <a:cs typeface="Cambria" pitchFamily="34" charset="-120"/>
              </a:rPr>
              <a:t>on0</a:t>
            </a:r>
            <a:pPr algn="ctr" indent="0" marL="0">
              <a:buNone/>
            </a:pPr>
            <a:r>
              <a:rPr lang="en-US" sz="1600" dirty="0">
                <a:solidFill>
                  <a:schemeClr val="tx1"/>
                </a:solidFill>
                <a:latin typeface="Cambria" pitchFamily="34" charset="0"/>
                <a:ea typeface="Cambria" pitchFamily="34" charset="-122"/>
                <a:cs typeface="Cambria" pitchFamily="34" charset="-120"/>
              </a:rPr>
              <a:t> · exp(β·(t</a:t>
            </a:r>
            <a:pPr algn="ctr" indent="0" marL="0">
              <a:buNone/>
            </a:pPr>
            <a:r>
              <a:rPr lang="en-US" sz="1600" baseline="-40000" dirty="0">
                <a:solidFill>
                  <a:schemeClr val="tx1"/>
                </a:solidFill>
                <a:latin typeface="Cambria" pitchFamily="34" charset="0"/>
                <a:ea typeface="Cambria" pitchFamily="34" charset="-122"/>
                <a:cs typeface="Cambria" pitchFamily="34" charset="-120"/>
              </a:rPr>
              <a:t>int</a:t>
            </a:r>
            <a:pPr algn="ctr" indent="0" marL="0">
              <a:buNone/>
            </a:pPr>
            <a:r>
              <a:rPr lang="en-US" sz="1600" dirty="0">
                <a:solidFill>
                  <a:schemeClr val="tx1"/>
                </a:solidFill>
                <a:latin typeface="Cambria" pitchFamily="34" charset="0"/>
                <a:ea typeface="Cambria" pitchFamily="34" charset="-122"/>
                <a:cs typeface="Cambria" pitchFamily="34" charset="-120"/>
              </a:rPr>
              <a:t> − d</a:t>
            </a:r>
            <a:pPr algn="ctr" indent="0" marL="0">
              <a:buNone/>
            </a:pPr>
            <a:r>
              <a:rPr lang="en-US" sz="1600" baseline="-40000" dirty="0">
                <a:solidFill>
                  <a:schemeClr val="tx1"/>
                </a:solidFill>
                <a:latin typeface="Cambria" pitchFamily="34" charset="0"/>
                <a:ea typeface="Cambria" pitchFamily="34" charset="-122"/>
                <a:cs typeface="Cambria" pitchFamily="34" charset="-120"/>
              </a:rPr>
              <a:t>gap</a:t>
            </a:r>
            <a:pPr algn="ctr" indent="0" marL="0">
              <a:buNone/>
            </a:pPr>
            <a:r>
              <a:rPr lang="en-US" sz="1600" dirty="0">
                <a:solidFill>
                  <a:schemeClr val="tx1"/>
                </a:solidFill>
                <a:latin typeface="Cambria" pitchFamily="34" charset="0"/>
                <a:ea typeface="Cambria" pitchFamily="34" charset="-122"/>
                <a:cs typeface="Cambria" pitchFamily="34" charset="-120"/>
              </a:rPr>
              <a:t>) / t</a:t>
            </a:r>
            <a:pPr algn="ctr" indent="0" marL="0">
              <a:buNone/>
            </a:pPr>
            <a:r>
              <a:rPr lang="en-US" sz="1600" baseline="-40000" dirty="0">
                <a:solidFill>
                  <a:schemeClr val="tx1"/>
                </a:solidFill>
                <a:latin typeface="Cambria" pitchFamily="34" charset="0"/>
                <a:ea typeface="Cambria" pitchFamily="34" charset="-122"/>
                <a:cs typeface="Cambria" pitchFamily="34" charset="-120"/>
              </a:rPr>
              <a:t>int</a:t>
            </a:r>
            <a:pPr algn="ctr" indent="0" marL="0">
              <a:buNone/>
            </a:pPr>
            <a:r>
              <a:rPr lang="en-US" sz="1600" dirty="0">
                <a:solidFill>
                  <a:schemeClr val="tx1"/>
                </a:solidFill>
                <a:latin typeface="Cambria" pitchFamily="34" charset="0"/>
                <a:ea typeface="Cambria" pitchFamily="34" charset="-122"/>
                <a:cs typeface="Cambria" pitchFamily="34" charset="-120"/>
              </a:rPr>
              <a:t>)</a:t>
            </a:r>
            <a:endParaRPr lang="en-US" sz="1600" dirty="0"/>
          </a:p>
        </p:txBody>
      </p:sp>
      <p:sp>
        <p:nvSpPr>
          <p:cNvPr id="8" name="bul_341"/>
          <p:cNvSpPr txBox="1"/>
          <p:nvPr/>
        </p:nvSpPr>
        <p:spPr>
          <a:xfrm>
            <a:off x="7223760" y="2971800"/>
            <a:ext cx="4389120" cy="3291840"/>
          </a:xfrm>
          <a:prstGeom prst="rect">
            <a:avLst/>
          </a:prstGeom>
          <a:noFill/>
          <a:ln/>
        </p:spPr>
        <p:txBody>
          <a:bodyPr wrap="square" lIns="635" tIns="635" rIns="635" bIns="635" rtlCol="0" anchor="t"/>
          <a:lstStyle/>
          <a:p>
            <a:pPr marL="228600" indent="-228600">
              <a:spcAft>
                <a:spcPts val="800"/>
              </a:spcAft>
              <a:buSzPct val="100000"/>
              <a:buChar char="•"/>
            </a:pPr>
            <a:r>
              <a:rPr lang="en-US" sz="1400" b="1" dirty="0">
                <a:solidFill>
                  <a:schemeClr val="tx1"/>
                </a:solidFill>
              </a:rPr>
              <a:t>Mexanika: </a:t>
            </a:r>
            <a:pPr indent="0" marL="0">
              <a:buNone/>
            </a:pPr>
            <a:r>
              <a:rPr lang="en-US" sz="1400" dirty="0">
                <a:solidFill>
                  <a:schemeClr val="tx1"/>
                </a:solidFill>
              </a:rPr>
              <a:t>bosim interfeysni siqadi, 2 GPa da 1.5 nm → 1.25 nm.</a:t>
            </a:r>
            <a:endParaRPr lang="en-US" sz="1400" dirty="0"/>
          </a:p>
          <a:p>
            <a:pPr marL="228600" indent="-228600">
              <a:spcAft>
                <a:spcPts val="800"/>
              </a:spcAft>
              <a:buSzPct val="100000"/>
              <a:buChar char="•"/>
            </a:pPr>
            <a:r>
              <a:rPr lang="en-US" sz="1400" b="1" dirty="0">
                <a:solidFill>
                  <a:schemeClr val="tx1"/>
                </a:solidFill>
              </a:rPr>
              <a:t>Xotira (β = 30): </a:t>
            </a:r>
            <a:pPr indent="0" marL="0">
              <a:buNone/>
            </a:pPr>
            <a:r>
              <a:rPr lang="en-US" sz="1400" dirty="0">
                <a:solidFill>
                  <a:schemeClr val="tx1"/>
                </a:solidFill>
              </a:rPr>
              <a:t>R_ON 6989 Ω → 53.5 Ω, ×130 (≈ 2 tartib).</a:t>
            </a:r>
            <a:endParaRPr lang="en-US" sz="1400" dirty="0"/>
          </a:p>
          <a:p>
            <a:pPr marL="228600" indent="-228600">
              <a:spcAft>
                <a:spcPts val="800"/>
              </a:spcAft>
              <a:buSzPct val="100000"/>
              <a:buChar char="•"/>
            </a:pPr>
            <a:r>
              <a:rPr lang="en-US" sz="1400" b="1" dirty="0">
                <a:solidFill>
                  <a:schemeClr val="tx1"/>
                </a:solidFill>
              </a:rPr>
              <a:t>Volatil (β = 0): </a:t>
            </a:r>
            <a:pPr indent="0" marL="0">
              <a:buNone/>
            </a:pPr>
            <a:r>
              <a:rPr lang="en-US" sz="1400" dirty="0">
                <a:solidFill>
                  <a:schemeClr val="tx1"/>
                </a:solidFill>
              </a:rPr>
              <a:t>R_ON o'zgarmaydi.</a:t>
            </a:r>
            <a:endParaRPr lang="en-US" sz="1400" dirty="0"/>
          </a:p>
          <a:p>
            <a:pPr marL="228600" indent="-228600">
              <a:spcAft>
                <a:spcPts val="800"/>
              </a:spcAft>
              <a:buSzPct val="100000"/>
              <a:buChar char="•"/>
            </a:pPr>
            <a:r>
              <a:rPr lang="en-US" sz="1400" b="1" dirty="0">
                <a:solidFill>
                  <a:schemeClr val="tx1"/>
                </a:solidFill>
              </a:rPr>
              <a:t>R_OFF: </a:t>
            </a:r>
            <a:pPr indent="0" marL="0">
              <a:buNone/>
            </a:pPr>
            <a:r>
              <a:rPr lang="en-US" sz="1400" dirty="0">
                <a:solidFill>
                  <a:schemeClr val="tx1"/>
                </a:solidFill>
              </a:rPr>
              <a:t>o'zgarmaydi (≈ 100 kΩ).</a:t>
            </a:r>
            <a:endParaRPr lang="en-US" sz="1400" dirty="0"/>
          </a:p>
          <a:p>
            <a:pPr marL="228600" indent="-228600">
              <a:spcAft>
                <a:spcPts val="800"/>
              </a:spcAft>
              <a:buSzPct val="100000"/>
              <a:buChar char="•"/>
            </a:pPr>
            <a:r>
              <a:rPr lang="en-US" sz="1400" b="1" dirty="0">
                <a:solidFill>
                  <a:schemeClr val="tx1"/>
                </a:solidFill>
              </a:rPr>
              <a:t>Diqqat: </a:t>
            </a:r>
            <a:pPr indent="0" marL="0">
              <a:buNone/>
            </a:pPr>
            <a:r>
              <a:rPr lang="en-US" sz="1400" dirty="0">
                <a:solidFill>
                  <a:schemeClr val="tx1"/>
                </a:solidFill>
              </a:rPr>
              <a:t>β tanlangan (fitting). Effekt GPa darajasida, maqolada esa bosim qiymati berilmagan.</a:t>
            </a:r>
            <a:endParaRPr lang="en-US" sz="14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Qo'shimcha natijalar (Model1_Vertical)</a:t>
            </a:r>
            <a:endParaRPr lang="en-US" sz="3000" dirty="0"/>
          </a:p>
        </p:txBody>
      </p:sp>
      <p:sp>
        <p:nvSpPr>
          <p:cNvPr id="3" name="box_342"/>
          <p:cNvSpPr/>
          <p:nvPr/>
        </p:nvSpPr>
        <p:spPr>
          <a:xfrm>
            <a:off x="548640" y="1417320"/>
            <a:ext cx="3474720" cy="4023360"/>
          </a:xfrm>
          <a:prstGeom prst="roundRect">
            <a:avLst>
              <a:gd name="adj" fmla="val 2105"/>
            </a:avLst>
          </a:prstGeom>
          <a:solidFill>
            <a:schemeClr val="bg2"/>
          </a:solidFill>
          <a:ln w="9525">
            <a:solidFill>
              <a:schemeClr val="bg2"/>
            </a:solidFill>
            <a:prstDash val="solid"/>
          </a:ln>
        </p:spPr>
      </p:sp>
      <p:sp>
        <p:nvSpPr>
          <p:cNvPr id="4" name="text_343"/>
          <p:cNvSpPr txBox="1"/>
          <p:nvPr/>
        </p:nvSpPr>
        <p:spPr>
          <a:xfrm>
            <a:off x="822960" y="1645920"/>
            <a:ext cx="3017520" cy="822960"/>
          </a:xfrm>
          <a:prstGeom prst="rect">
            <a:avLst/>
          </a:prstGeom>
          <a:noFill/>
          <a:ln/>
        </p:spPr>
        <p:txBody>
          <a:bodyPr wrap="square" lIns="635" tIns="635" rIns="635" bIns="635"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 460 K</a:t>
            </a:r>
            <a:endParaRPr lang="en-US" sz="2800" dirty="0"/>
          </a:p>
        </p:txBody>
      </p:sp>
      <p:sp>
        <p:nvSpPr>
          <p:cNvPr id="5" name="text_344"/>
          <p:cNvSpPr txBox="1"/>
          <p:nvPr/>
        </p:nvSpPr>
        <p:spPr>
          <a:xfrm>
            <a:off x="822960" y="2560320"/>
            <a:ext cx="3017520" cy="411480"/>
          </a:xfrm>
          <a:prstGeom prst="rect">
            <a:avLst/>
          </a:prstGeom>
          <a:noFill/>
          <a:ln/>
        </p:spPr>
        <p:txBody>
          <a:bodyPr wrap="square" lIns="635" tIns="635" rIns="635" bIns="635" rtlCol="0" anchor="t"/>
          <a:lstStyle/>
          <a:p>
            <a:pPr indent="0" marL="0">
              <a:buNone/>
            </a:pPr>
            <a:r>
              <a:rPr lang="en-US" sz="1800" b="1" dirty="0">
                <a:solidFill>
                  <a:schemeClr val="tx1"/>
                </a:solidFill>
              </a:rPr>
              <a:t>Joule qizishi</a:t>
            </a:r>
            <a:endParaRPr lang="en-US" sz="1800" dirty="0"/>
          </a:p>
        </p:txBody>
      </p:sp>
      <p:sp>
        <p:nvSpPr>
          <p:cNvPr id="6" name="text_345"/>
          <p:cNvSpPr txBox="1"/>
          <p:nvPr/>
        </p:nvSpPr>
        <p:spPr>
          <a:xfrm>
            <a:off x="822960" y="3063240"/>
            <a:ext cx="3017520" cy="2286000"/>
          </a:xfrm>
          <a:prstGeom prst="rect">
            <a:avLst/>
          </a:prstGeom>
          <a:noFill/>
          <a:ln/>
        </p:spPr>
        <p:txBody>
          <a:bodyPr wrap="square" lIns="635" tIns="635" rIns="635" bIns="635" rtlCol="0" anchor="t"/>
          <a:lstStyle/>
          <a:p>
            <a:pPr indent="0" marL="0">
              <a:buNone/>
            </a:pPr>
            <a:r>
              <a:rPr lang="en-US" sz="1400" dirty="0">
                <a:solidFill>
                  <a:schemeClr val="tx1"/>
                </a:solidFill>
              </a:rPr>
              <a:t>Vertikal elementda (x = 1, 3.5 V) maksimal harorat. Analitik baho ~450 K bilan mos. Lateral FET'da esa ~300 K.</a:t>
            </a:r>
            <a:endParaRPr lang="en-US" sz="1400" dirty="0"/>
          </a:p>
        </p:txBody>
      </p:sp>
      <p:sp>
        <p:nvSpPr>
          <p:cNvPr id="7" name="box_346"/>
          <p:cNvSpPr/>
          <p:nvPr/>
        </p:nvSpPr>
        <p:spPr>
          <a:xfrm>
            <a:off x="4297680" y="1417320"/>
            <a:ext cx="3474720" cy="4023360"/>
          </a:xfrm>
          <a:prstGeom prst="roundRect">
            <a:avLst>
              <a:gd name="adj" fmla="val 2105"/>
            </a:avLst>
          </a:prstGeom>
          <a:solidFill>
            <a:schemeClr val="bg2"/>
          </a:solidFill>
          <a:ln w="9525">
            <a:solidFill>
              <a:schemeClr val="bg2"/>
            </a:solidFill>
            <a:prstDash val="solid"/>
          </a:ln>
        </p:spPr>
      </p:sp>
      <p:sp>
        <p:nvSpPr>
          <p:cNvPr id="8" name="text_347"/>
          <p:cNvSpPr txBox="1"/>
          <p:nvPr/>
        </p:nvSpPr>
        <p:spPr>
          <a:xfrm>
            <a:off x="4572000" y="1645920"/>
            <a:ext cx="3017520" cy="822960"/>
          </a:xfrm>
          <a:prstGeom prst="rect">
            <a:avLst/>
          </a:prstGeom>
          <a:noFill/>
          <a:ln/>
        </p:spPr>
        <p:txBody>
          <a:bodyPr wrap="square" lIns="635" tIns="635" rIns="635" bIns="635"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3.51→0.78 V</a:t>
            </a:r>
            <a:endParaRPr lang="en-US" sz="2800" dirty="0"/>
          </a:p>
        </p:txBody>
      </p:sp>
      <p:sp>
        <p:nvSpPr>
          <p:cNvPr id="9" name="text_348"/>
          <p:cNvSpPr txBox="1"/>
          <p:nvPr/>
        </p:nvSpPr>
        <p:spPr>
          <a:xfrm>
            <a:off x="4572000" y="2560320"/>
            <a:ext cx="3017520" cy="411480"/>
          </a:xfrm>
          <a:prstGeom prst="rect">
            <a:avLst/>
          </a:prstGeom>
          <a:noFill/>
          <a:ln/>
        </p:spPr>
        <p:txBody>
          <a:bodyPr wrap="square" lIns="635" tIns="635" rIns="635" bIns="635" rtlCol="0" anchor="t"/>
          <a:lstStyle/>
          <a:p>
            <a:pPr indent="0" marL="0">
              <a:buNone/>
            </a:pPr>
            <a:r>
              <a:rPr lang="en-US" sz="1800" b="1" dirty="0">
                <a:solidFill>
                  <a:schemeClr val="tx1"/>
                </a:solidFill>
              </a:rPr>
              <a:t>Harorat ta'siri</a:t>
            </a:r>
            <a:endParaRPr lang="en-US" sz="1800" dirty="0"/>
          </a:p>
        </p:txBody>
      </p:sp>
      <p:sp>
        <p:nvSpPr>
          <p:cNvPr id="10" name="text_349"/>
          <p:cNvSpPr txBox="1"/>
          <p:nvPr/>
        </p:nvSpPr>
        <p:spPr>
          <a:xfrm>
            <a:off x="4572000" y="3063240"/>
            <a:ext cx="3017520" cy="2286000"/>
          </a:xfrm>
          <a:prstGeom prst="rect">
            <a:avLst/>
          </a:prstGeom>
          <a:noFill/>
          <a:ln/>
        </p:spPr>
        <p:txBody>
          <a:bodyPr wrap="square" lIns="635" tIns="635" rIns="635" bIns="635" rtlCol="0" anchor="t"/>
          <a:lstStyle/>
          <a:p>
            <a:pPr indent="0" marL="0">
              <a:buNone/>
            </a:pPr>
            <a:r>
              <a:rPr lang="en-US" sz="1400" dirty="0">
                <a:solidFill>
                  <a:schemeClr val="tx1"/>
                </a:solidFill>
              </a:rPr>
              <a:t>Atrof harorati 300 K dan 450 K ga oshganda V_SET kamayadi. Bu Arrhenius qonunidan kutilgan natija.</a:t>
            </a:r>
            <a:endParaRPr lang="en-US" sz="1400" dirty="0"/>
          </a:p>
        </p:txBody>
      </p:sp>
      <p:sp>
        <p:nvSpPr>
          <p:cNvPr id="11" name="box_350"/>
          <p:cNvSpPr/>
          <p:nvPr/>
        </p:nvSpPr>
        <p:spPr>
          <a:xfrm>
            <a:off x="8046720" y="1417320"/>
            <a:ext cx="3474720" cy="4023360"/>
          </a:xfrm>
          <a:prstGeom prst="roundRect">
            <a:avLst>
              <a:gd name="adj" fmla="val 2105"/>
            </a:avLst>
          </a:prstGeom>
          <a:solidFill>
            <a:schemeClr val="bg2"/>
          </a:solidFill>
          <a:ln w="9525">
            <a:solidFill>
              <a:schemeClr val="bg2"/>
            </a:solidFill>
            <a:prstDash val="solid"/>
          </a:ln>
        </p:spPr>
      </p:sp>
      <p:sp>
        <p:nvSpPr>
          <p:cNvPr id="12" name="text_351"/>
          <p:cNvSpPr txBox="1"/>
          <p:nvPr/>
        </p:nvSpPr>
        <p:spPr>
          <a:xfrm>
            <a:off x="8321040" y="1645920"/>
            <a:ext cx="3017520" cy="822960"/>
          </a:xfrm>
          <a:prstGeom prst="rect">
            <a:avLst/>
          </a:prstGeom>
          <a:noFill/>
          <a:ln/>
        </p:spPr>
        <p:txBody>
          <a:bodyPr wrap="square" lIns="635" tIns="635" rIns="635" bIns="635"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R ∝ 1/r_f²</a:t>
            </a:r>
            <a:endParaRPr lang="en-US" sz="2800" dirty="0"/>
          </a:p>
        </p:txBody>
      </p:sp>
      <p:sp>
        <p:nvSpPr>
          <p:cNvPr id="13" name="text_352"/>
          <p:cNvSpPr txBox="1"/>
          <p:nvPr/>
        </p:nvSpPr>
        <p:spPr>
          <a:xfrm>
            <a:off x="8321040" y="2560320"/>
            <a:ext cx="3017520" cy="411480"/>
          </a:xfrm>
          <a:prstGeom prst="rect">
            <a:avLst/>
          </a:prstGeom>
          <a:noFill/>
          <a:ln/>
        </p:spPr>
        <p:txBody>
          <a:bodyPr wrap="square" lIns="635" tIns="635" rIns="635" bIns="635" rtlCol="0" anchor="t"/>
          <a:lstStyle/>
          <a:p>
            <a:pPr indent="0" marL="0">
              <a:buNone/>
            </a:pPr>
            <a:r>
              <a:rPr lang="en-US" sz="1800" b="1" dirty="0">
                <a:solidFill>
                  <a:schemeClr val="tx1"/>
                </a:solidFill>
              </a:rPr>
              <a:t>Sezgirlik tahlili</a:t>
            </a:r>
            <a:endParaRPr lang="en-US" sz="1800" dirty="0"/>
          </a:p>
        </p:txBody>
      </p:sp>
      <p:sp>
        <p:nvSpPr>
          <p:cNvPr id="14" name="text_353"/>
          <p:cNvSpPr txBox="1"/>
          <p:nvPr/>
        </p:nvSpPr>
        <p:spPr>
          <a:xfrm>
            <a:off x="8321040" y="3063240"/>
            <a:ext cx="3017520" cy="2286000"/>
          </a:xfrm>
          <a:prstGeom prst="rect">
            <a:avLst/>
          </a:prstGeom>
          <a:noFill/>
          <a:ln/>
        </p:spPr>
        <p:txBody>
          <a:bodyPr wrap="square" lIns="635" tIns="635" rIns="635" bIns="635" rtlCol="0" anchor="t"/>
          <a:lstStyle/>
          <a:p>
            <a:pPr indent="0" marL="0">
              <a:buNone/>
            </a:pPr>
            <a:r>
              <a:rPr lang="en-US" sz="1400" dirty="0">
                <a:solidFill>
                  <a:schemeClr val="tx1"/>
                </a:solidFill>
              </a:rPr>
              <a:t>R_ON eng ko'p filament radiusiga bog'liq (±50% → ×3.3 / ×0.46), keyin qalinlik va σ_on.</a:t>
            </a:r>
            <a:endParaRPr lang="en-US" sz="1400" dirty="0"/>
          </a:p>
        </p:txBody>
      </p:sp>
      <p:sp>
        <p:nvSpPr>
          <p:cNvPr id="15" name="text_354"/>
          <p:cNvSpPr txBox="1"/>
          <p:nvPr/>
        </p:nvSpPr>
        <p:spPr>
          <a:xfrm>
            <a:off x="548640" y="5669280"/>
            <a:ext cx="11064240" cy="640080"/>
          </a:xfrm>
          <a:prstGeom prst="rect">
            <a:avLst/>
          </a:prstGeom>
          <a:noFill/>
          <a:ln/>
        </p:spPr>
        <p:txBody>
          <a:bodyPr wrap="square" lIns="635" tIns="635" rIns="635" bIns="635" rtlCol="0" anchor="t"/>
          <a:lstStyle/>
          <a:p>
            <a:pPr indent="0" marL="0">
              <a:buNone/>
            </a:pPr>
            <a:r>
              <a:rPr lang="en-US" sz="1500" i="1" dirty="0">
                <a:solidFill>
                  <a:schemeClr val="tx1"/>
                </a:solidFill>
              </a:rPr>
              <a:t>Xulosa: lateral FET'da issiqlik ahamiyatsiz, shuning uchun Fig.1 dagi kalitlashni issiqlik bilan emas, maydon bilan tushuntirish mumkin. Bu maqola fikriga mos.</a:t>
            </a:r>
            <a:endParaRPr lang="en-US" sz="15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10058400" cy="548640"/>
          </a:xfrm>
          <a:prstGeom prst="rect">
            <a:avLst/>
          </a:prstGeom>
          <a:noFill/>
          <a:ln/>
        </p:spPr>
        <p:txBody>
          <a:bodyPr wrap="square" rtlCol="0"/>
          <a:lstStyle/>
          <a:p>
            <a:pPr indent="0" marL="0">
              <a:buNone/>
            </a:pPr>
            <a:r>
              <a:rPr lang="en-US" sz="1800" b="1" dirty="0">
                <a:solidFill>
                  <a:schemeClr val="accent1"/>
                </a:solidFill>
              </a:rPr>
              <a:t>6-bo'lim</a:t>
            </a:r>
            <a:endParaRPr lang="en-US" sz="1800" dirty="0"/>
          </a:p>
        </p:txBody>
      </p:sp>
      <p:sp>
        <p:nvSpPr>
          <p:cNvPr id="3" name="Text 0"/>
          <p:cNvSpPr/>
          <p:nvPr>
            <p:ph idx="101" type="title" hasCustomPrompt="1"/>
          </p:nvPr>
        </p:nvSpPr>
        <p:spPr>
          <a:xfrm>
            <a:off x="731520" y="2651760"/>
            <a:ext cx="10698480" cy="12801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Cheklovlar va xulosa</a:t>
            </a:r>
            <a:endParaRPr lang="en-US" sz="4000" dirty="0"/>
          </a:p>
        </p:txBody>
      </p:sp>
      <p:sp>
        <p:nvSpPr>
          <p:cNvPr id="5" name="Text 0"/>
          <p:cNvSpPr/>
          <p:nvPr>
            <p:ph idx="102" type="body" hasCustomPrompt="1"/>
          </p:nvPr>
        </p:nvSpPr>
        <p:spPr>
          <a:xfrm>
            <a:off x="731520" y="4023360"/>
            <a:ext cx="10058400" cy="1097280"/>
          </a:xfrm>
          <a:prstGeom prst="rect">
            <a:avLst/>
          </a:prstGeom>
          <a:noFill/>
          <a:ln/>
        </p:spPr>
        <p:txBody>
          <a:bodyPr wrap="square"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Modelning cheklovlari</a:t>
            </a:r>
            <a:endParaRPr lang="en-US" sz="3000" dirty="0"/>
          </a:p>
        </p:txBody>
      </p:sp>
      <p:sp>
        <p:nvSpPr>
          <p:cNvPr id="3" name="box_355"/>
          <p:cNvSpPr/>
          <p:nvPr/>
        </p:nvSpPr>
        <p:spPr>
          <a:xfrm>
            <a:off x="548640" y="1417320"/>
            <a:ext cx="3474720" cy="2103120"/>
          </a:xfrm>
          <a:prstGeom prst="roundRect">
            <a:avLst>
              <a:gd name="adj" fmla="val 3478"/>
            </a:avLst>
          </a:prstGeom>
          <a:solidFill>
            <a:schemeClr val="bg2"/>
          </a:solidFill>
          <a:ln w="9525">
            <a:solidFill>
              <a:schemeClr val="bg2"/>
            </a:solidFill>
            <a:prstDash val="solid"/>
          </a:ln>
        </p:spPr>
      </p:sp>
      <p:sp>
        <p:nvSpPr>
          <p:cNvPr id="4" name="num_356"/>
          <p:cNvSpPr/>
          <p:nvPr/>
        </p:nvSpPr>
        <p:spPr>
          <a:xfrm>
            <a:off x="777240" y="1645920"/>
            <a:ext cx="411480" cy="411480"/>
          </a:xfrm>
          <a:prstGeom prst="ellipse">
            <a:avLst/>
          </a:prstGeom>
          <a:solidFill>
            <a:schemeClr val="accent4"/>
          </a:solidFill>
          <a:ln w="12700">
            <a:solidFill>
              <a:schemeClr val="accent4"/>
            </a:solidFill>
            <a:prstDash val="solid"/>
          </a:ln>
        </p:spPr>
      </p:sp>
      <p:sp>
        <p:nvSpPr>
          <p:cNvPr id="5" name="numtxt_357"/>
          <p:cNvSpPr txBox="1"/>
          <p:nvPr/>
        </p:nvSpPr>
        <p:spPr>
          <a:xfrm>
            <a:off x="777240" y="16459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text_358"/>
          <p:cNvSpPr txBox="1"/>
          <p:nvPr/>
        </p:nvSpPr>
        <p:spPr>
          <a:xfrm>
            <a:off x="1325880" y="1618488"/>
            <a:ext cx="2560320" cy="502920"/>
          </a:xfrm>
          <a:prstGeom prst="rect">
            <a:avLst/>
          </a:prstGeom>
          <a:noFill/>
          <a:ln/>
        </p:spPr>
        <p:txBody>
          <a:bodyPr wrap="square" lIns="635" tIns="635" rIns="635" bIns="635" rtlCol="0" anchor="ctr"/>
          <a:lstStyle/>
          <a:p>
            <a:pPr indent="0" marL="0">
              <a:buNone/>
            </a:pPr>
            <a:r>
              <a:rPr lang="en-US" sz="1600" b="1" dirty="0">
                <a:solidFill>
                  <a:schemeClr val="tx1"/>
                </a:solidFill>
              </a:rPr>
              <a:t>Fenomenologik</a:t>
            </a:r>
            <a:endParaRPr lang="en-US" sz="1600" dirty="0"/>
          </a:p>
        </p:txBody>
      </p:sp>
      <p:sp>
        <p:nvSpPr>
          <p:cNvPr id="7" name="text_359"/>
          <p:cNvSpPr txBox="1"/>
          <p:nvPr/>
        </p:nvSpPr>
        <p:spPr>
          <a:xfrm>
            <a:off x="777240" y="2240280"/>
            <a:ext cx="3017520" cy="1188720"/>
          </a:xfrm>
          <a:prstGeom prst="rect">
            <a:avLst/>
          </a:prstGeom>
          <a:noFill/>
          <a:ln/>
        </p:spPr>
        <p:txBody>
          <a:bodyPr wrap="square" lIns="635" tIns="635" rIns="635" bIns="635" rtlCol="0" anchor="t"/>
          <a:lstStyle/>
          <a:p>
            <a:pPr indent="0" marL="0">
              <a:buNone/>
            </a:pPr>
            <a:r>
              <a:rPr lang="en-US" sz="1400" dirty="0">
                <a:solidFill>
                  <a:schemeClr val="tx1"/>
                </a:solidFill>
              </a:rPr>
              <a:t>Veyl/Dirak fazalari, Fermi yoylari modellashtirilmagan va isbotlanmagan.</a:t>
            </a:r>
            <a:endParaRPr lang="en-US" sz="1400" dirty="0"/>
          </a:p>
        </p:txBody>
      </p:sp>
      <p:sp>
        <p:nvSpPr>
          <p:cNvPr id="8" name="box_360"/>
          <p:cNvSpPr/>
          <p:nvPr/>
        </p:nvSpPr>
        <p:spPr>
          <a:xfrm>
            <a:off x="4297680" y="1417320"/>
            <a:ext cx="3474720" cy="2103120"/>
          </a:xfrm>
          <a:prstGeom prst="roundRect">
            <a:avLst>
              <a:gd name="adj" fmla="val 3478"/>
            </a:avLst>
          </a:prstGeom>
          <a:solidFill>
            <a:schemeClr val="bg2"/>
          </a:solidFill>
          <a:ln w="9525">
            <a:solidFill>
              <a:schemeClr val="bg2"/>
            </a:solidFill>
            <a:prstDash val="solid"/>
          </a:ln>
        </p:spPr>
      </p:sp>
      <p:sp>
        <p:nvSpPr>
          <p:cNvPr id="9" name="num_361"/>
          <p:cNvSpPr/>
          <p:nvPr/>
        </p:nvSpPr>
        <p:spPr>
          <a:xfrm>
            <a:off x="4526280" y="1645920"/>
            <a:ext cx="411480" cy="411480"/>
          </a:xfrm>
          <a:prstGeom prst="ellipse">
            <a:avLst/>
          </a:prstGeom>
          <a:solidFill>
            <a:schemeClr val="accent4"/>
          </a:solidFill>
          <a:ln w="12700">
            <a:solidFill>
              <a:schemeClr val="accent4"/>
            </a:solidFill>
            <a:prstDash val="solid"/>
          </a:ln>
        </p:spPr>
      </p:sp>
      <p:sp>
        <p:nvSpPr>
          <p:cNvPr id="10" name="numtxt_362"/>
          <p:cNvSpPr txBox="1"/>
          <p:nvPr/>
        </p:nvSpPr>
        <p:spPr>
          <a:xfrm>
            <a:off x="4526280" y="16459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1" name="text_363"/>
          <p:cNvSpPr txBox="1"/>
          <p:nvPr/>
        </p:nvSpPr>
        <p:spPr>
          <a:xfrm>
            <a:off x="5074920" y="1618488"/>
            <a:ext cx="2560320" cy="502920"/>
          </a:xfrm>
          <a:prstGeom prst="rect">
            <a:avLst/>
          </a:prstGeom>
          <a:noFill/>
          <a:ln/>
        </p:spPr>
        <p:txBody>
          <a:bodyPr wrap="square" lIns="635" tIns="635" rIns="635" bIns="635" rtlCol="0" anchor="ctr"/>
          <a:lstStyle/>
          <a:p>
            <a:pPr indent="0" marL="0">
              <a:buNone/>
            </a:pPr>
            <a:r>
              <a:rPr lang="en-US" sz="1600" b="1" dirty="0">
                <a:solidFill>
                  <a:schemeClr val="tx1"/>
                </a:solidFill>
              </a:rPr>
              <a:t>Parametrlar moslangan</a:t>
            </a:r>
            <a:endParaRPr lang="en-US" sz="1600" dirty="0"/>
          </a:p>
        </p:txBody>
      </p:sp>
      <p:sp>
        <p:nvSpPr>
          <p:cNvPr id="12" name="text_364"/>
          <p:cNvSpPr txBox="1"/>
          <p:nvPr/>
        </p:nvSpPr>
        <p:spPr>
          <a:xfrm>
            <a:off x="4526280" y="2240280"/>
            <a:ext cx="3017520" cy="1188720"/>
          </a:xfrm>
          <a:prstGeom prst="rect">
            <a:avLst/>
          </a:prstGeom>
          <a:noFill/>
          <a:ln/>
        </p:spPr>
        <p:txBody>
          <a:bodyPr wrap="square" lIns="635" tIns="635" rIns="635" bIns="635" rtlCol="0" anchor="t"/>
          <a:lstStyle/>
          <a:p>
            <a:pPr indent="0" marL="0">
              <a:buNone/>
            </a:pPr>
            <a:r>
              <a:rPr lang="en-US" sz="1400" dirty="0">
                <a:solidFill>
                  <a:schemeClr val="tx1"/>
                </a:solidFill>
              </a:rPr>
              <a:t>Ular mustaqil o'lchanmagan, tajribaga fitting qilingan.</a:t>
            </a:r>
            <a:endParaRPr lang="en-US" sz="1400" dirty="0"/>
          </a:p>
        </p:txBody>
      </p:sp>
      <p:sp>
        <p:nvSpPr>
          <p:cNvPr id="13" name="box_365"/>
          <p:cNvSpPr/>
          <p:nvPr/>
        </p:nvSpPr>
        <p:spPr>
          <a:xfrm>
            <a:off x="8046720" y="1417320"/>
            <a:ext cx="3474720" cy="2103120"/>
          </a:xfrm>
          <a:prstGeom prst="roundRect">
            <a:avLst>
              <a:gd name="adj" fmla="val 3478"/>
            </a:avLst>
          </a:prstGeom>
          <a:solidFill>
            <a:schemeClr val="bg2"/>
          </a:solidFill>
          <a:ln w="9525">
            <a:solidFill>
              <a:schemeClr val="bg2"/>
            </a:solidFill>
            <a:prstDash val="solid"/>
          </a:ln>
        </p:spPr>
      </p:sp>
      <p:sp>
        <p:nvSpPr>
          <p:cNvPr id="14" name="num_366"/>
          <p:cNvSpPr/>
          <p:nvPr/>
        </p:nvSpPr>
        <p:spPr>
          <a:xfrm>
            <a:off x="8275320" y="1645920"/>
            <a:ext cx="411480" cy="411480"/>
          </a:xfrm>
          <a:prstGeom prst="ellipse">
            <a:avLst/>
          </a:prstGeom>
          <a:solidFill>
            <a:schemeClr val="accent4"/>
          </a:solidFill>
          <a:ln w="12700">
            <a:solidFill>
              <a:schemeClr val="accent4"/>
            </a:solidFill>
            <a:prstDash val="solid"/>
          </a:ln>
        </p:spPr>
      </p:sp>
      <p:sp>
        <p:nvSpPr>
          <p:cNvPr id="15" name="numtxt_367"/>
          <p:cNvSpPr txBox="1"/>
          <p:nvPr/>
        </p:nvSpPr>
        <p:spPr>
          <a:xfrm>
            <a:off x="8275320" y="16459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6" name="text_368"/>
          <p:cNvSpPr txBox="1"/>
          <p:nvPr/>
        </p:nvSpPr>
        <p:spPr>
          <a:xfrm>
            <a:off x="8823960" y="1618488"/>
            <a:ext cx="2560320" cy="502920"/>
          </a:xfrm>
          <a:prstGeom prst="rect">
            <a:avLst/>
          </a:prstGeom>
          <a:noFill/>
          <a:ln/>
        </p:spPr>
        <p:txBody>
          <a:bodyPr wrap="square" lIns="635" tIns="635" rIns="635" bIns="635" rtlCol="0" anchor="ctr"/>
          <a:lstStyle/>
          <a:p>
            <a:pPr indent="0" marL="0">
              <a:buNone/>
            </a:pPr>
            <a:r>
              <a:rPr lang="en-US" sz="1600" b="1" dirty="0">
                <a:solidFill>
                  <a:schemeClr val="tx1"/>
                </a:solidFill>
              </a:rPr>
              <a:t>Gate soddalashtirilgan</a:t>
            </a:r>
            <a:endParaRPr lang="en-US" sz="1600" dirty="0"/>
          </a:p>
        </p:txBody>
      </p:sp>
      <p:sp>
        <p:nvSpPr>
          <p:cNvPr id="17" name="text_369"/>
          <p:cNvSpPr txBox="1"/>
          <p:nvPr/>
        </p:nvSpPr>
        <p:spPr>
          <a:xfrm>
            <a:off x="8275320" y="2240280"/>
            <a:ext cx="3017520" cy="1188720"/>
          </a:xfrm>
          <a:prstGeom prst="rect">
            <a:avLst/>
          </a:prstGeom>
          <a:noFill/>
          <a:ln/>
        </p:spPr>
        <p:txBody>
          <a:bodyPr wrap="square" lIns="635" tIns="635" rIns="635" bIns="635" rtlCol="0" anchor="t"/>
          <a:lstStyle/>
          <a:p>
            <a:pPr indent="0" marL="0">
              <a:buNone/>
            </a:pPr>
            <a:r>
              <a:rPr lang="en-US" sz="1400" dirty="0">
                <a:solidFill>
                  <a:schemeClr val="tx1"/>
                </a:solidFill>
              </a:rPr>
              <a:t>Gate maydoni elektrostatik yechilmagan, U_gate oddiy parametr.</a:t>
            </a:r>
            <a:endParaRPr lang="en-US" sz="1400" dirty="0"/>
          </a:p>
        </p:txBody>
      </p:sp>
      <p:sp>
        <p:nvSpPr>
          <p:cNvPr id="18" name="box_370"/>
          <p:cNvSpPr/>
          <p:nvPr/>
        </p:nvSpPr>
        <p:spPr>
          <a:xfrm>
            <a:off x="548640" y="3794760"/>
            <a:ext cx="3474720" cy="2103120"/>
          </a:xfrm>
          <a:prstGeom prst="roundRect">
            <a:avLst>
              <a:gd name="adj" fmla="val 3478"/>
            </a:avLst>
          </a:prstGeom>
          <a:solidFill>
            <a:schemeClr val="bg2"/>
          </a:solidFill>
          <a:ln w="9525">
            <a:solidFill>
              <a:schemeClr val="bg2"/>
            </a:solidFill>
            <a:prstDash val="solid"/>
          </a:ln>
        </p:spPr>
      </p:sp>
      <p:sp>
        <p:nvSpPr>
          <p:cNvPr id="19" name="num_371"/>
          <p:cNvSpPr/>
          <p:nvPr/>
        </p:nvSpPr>
        <p:spPr>
          <a:xfrm>
            <a:off x="777240" y="4023360"/>
            <a:ext cx="411480" cy="411480"/>
          </a:xfrm>
          <a:prstGeom prst="ellipse">
            <a:avLst/>
          </a:prstGeom>
          <a:solidFill>
            <a:schemeClr val="accent4"/>
          </a:solidFill>
          <a:ln w="12700">
            <a:solidFill>
              <a:schemeClr val="accent4"/>
            </a:solidFill>
            <a:prstDash val="solid"/>
          </a:ln>
        </p:spPr>
      </p:sp>
      <p:sp>
        <p:nvSpPr>
          <p:cNvPr id="20" name="numtxt_372"/>
          <p:cNvSpPr txBox="1"/>
          <p:nvPr/>
        </p:nvSpPr>
        <p:spPr>
          <a:xfrm>
            <a:off x="777240" y="40233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1" name="text_373"/>
          <p:cNvSpPr txBox="1"/>
          <p:nvPr/>
        </p:nvSpPr>
        <p:spPr>
          <a:xfrm>
            <a:off x="1325880" y="3995928"/>
            <a:ext cx="2560320" cy="502920"/>
          </a:xfrm>
          <a:prstGeom prst="rect">
            <a:avLst/>
          </a:prstGeom>
          <a:noFill/>
          <a:ln/>
        </p:spPr>
        <p:txBody>
          <a:bodyPr wrap="square" lIns="635" tIns="635" rIns="635" bIns="635" rtlCol="0" anchor="ctr"/>
          <a:lstStyle/>
          <a:p>
            <a:pPr indent="0" marL="0">
              <a:buNone/>
            </a:pPr>
            <a:r>
              <a:rPr lang="en-US" sz="1600" b="1" dirty="0">
                <a:solidFill>
                  <a:schemeClr val="tx1"/>
                </a:solidFill>
              </a:rPr>
              <a:t>(b) panelda kichik tarmoq yo'q</a:t>
            </a:r>
            <a:endParaRPr lang="en-US" sz="1600" dirty="0"/>
          </a:p>
        </p:txBody>
      </p:sp>
      <p:sp>
        <p:nvSpPr>
          <p:cNvPr id="22" name="text_374"/>
          <p:cNvSpPr txBox="1"/>
          <p:nvPr/>
        </p:nvSpPr>
        <p:spPr>
          <a:xfrm>
            <a:off x="777240" y="4617720"/>
            <a:ext cx="3017520" cy="1188720"/>
          </a:xfrm>
          <a:prstGeom prst="rect">
            <a:avLst/>
          </a:prstGeom>
          <a:noFill/>
          <a:ln/>
        </p:spPr>
        <p:txBody>
          <a:bodyPr wrap="square" lIns="635" tIns="635" rIns="635" bIns="635" rtlCol="0" anchor="t"/>
          <a:lstStyle/>
          <a:p>
            <a:pPr indent="0" marL="0">
              <a:buNone/>
            </a:pPr>
            <a:r>
              <a:rPr lang="en-US" sz="1400" dirty="0">
                <a:solidFill>
                  <a:schemeClr val="tx1"/>
                </a:solidFill>
              </a:rPr>
              <a:t>Buning uchun uchinchi holat o'zgaruvchisi kerak bo'lardi.</a:t>
            </a:r>
            <a:endParaRPr lang="en-US" sz="1400" dirty="0"/>
          </a:p>
        </p:txBody>
      </p:sp>
      <p:sp>
        <p:nvSpPr>
          <p:cNvPr id="23" name="box_375"/>
          <p:cNvSpPr/>
          <p:nvPr/>
        </p:nvSpPr>
        <p:spPr>
          <a:xfrm>
            <a:off x="4297680" y="3794760"/>
            <a:ext cx="3474720" cy="2103120"/>
          </a:xfrm>
          <a:prstGeom prst="roundRect">
            <a:avLst>
              <a:gd name="adj" fmla="val 3478"/>
            </a:avLst>
          </a:prstGeom>
          <a:solidFill>
            <a:schemeClr val="bg2"/>
          </a:solidFill>
          <a:ln w="9525">
            <a:solidFill>
              <a:schemeClr val="bg2"/>
            </a:solidFill>
            <a:prstDash val="solid"/>
          </a:ln>
        </p:spPr>
      </p:sp>
      <p:sp>
        <p:nvSpPr>
          <p:cNvPr id="24" name="num_376"/>
          <p:cNvSpPr/>
          <p:nvPr/>
        </p:nvSpPr>
        <p:spPr>
          <a:xfrm>
            <a:off x="4526280" y="4023360"/>
            <a:ext cx="411480" cy="411480"/>
          </a:xfrm>
          <a:prstGeom prst="ellipse">
            <a:avLst/>
          </a:prstGeom>
          <a:solidFill>
            <a:schemeClr val="accent4"/>
          </a:solidFill>
          <a:ln w="12700">
            <a:solidFill>
              <a:schemeClr val="accent4"/>
            </a:solidFill>
            <a:prstDash val="solid"/>
          </a:ln>
        </p:spPr>
      </p:sp>
      <p:sp>
        <p:nvSpPr>
          <p:cNvPr id="25" name="numtxt_377"/>
          <p:cNvSpPr txBox="1"/>
          <p:nvPr/>
        </p:nvSpPr>
        <p:spPr>
          <a:xfrm>
            <a:off x="4526280" y="40233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6" name="text_378"/>
          <p:cNvSpPr txBox="1"/>
          <p:nvPr/>
        </p:nvSpPr>
        <p:spPr>
          <a:xfrm>
            <a:off x="5074920" y="3995928"/>
            <a:ext cx="2560320" cy="502920"/>
          </a:xfrm>
          <a:prstGeom prst="rect">
            <a:avLst/>
          </a:prstGeom>
          <a:noFill/>
          <a:ln/>
        </p:spPr>
        <p:txBody>
          <a:bodyPr wrap="square" lIns="635" tIns="635" rIns="635" bIns="635" rtlCol="0" anchor="ctr"/>
          <a:lstStyle/>
          <a:p>
            <a:pPr indent="0" marL="0">
              <a:buNone/>
            </a:pPr>
            <a:r>
              <a:rPr lang="en-US" sz="1600" b="1" dirty="0">
                <a:solidFill>
                  <a:schemeClr val="tx1"/>
                </a:solidFill>
              </a:rPr>
              <a:t>OFF toki (a) panelda 2.5× katta</a:t>
            </a:r>
            <a:endParaRPr lang="en-US" sz="1600" dirty="0"/>
          </a:p>
        </p:txBody>
      </p:sp>
      <p:sp>
        <p:nvSpPr>
          <p:cNvPr id="27" name="text_379"/>
          <p:cNvSpPr txBox="1"/>
          <p:nvPr/>
        </p:nvSpPr>
        <p:spPr>
          <a:xfrm>
            <a:off x="4526280" y="4617720"/>
            <a:ext cx="3017520" cy="1188720"/>
          </a:xfrm>
          <a:prstGeom prst="rect">
            <a:avLst/>
          </a:prstGeom>
          <a:noFill/>
          <a:ln/>
        </p:spPr>
        <p:txBody>
          <a:bodyPr wrap="square" lIns="635" tIns="635" rIns="635" bIns="635" rtlCol="0" anchor="t"/>
          <a:lstStyle/>
          <a:p>
            <a:pPr indent="0" marL="0">
              <a:buNone/>
            </a:pPr>
            <a:r>
              <a:rPr lang="en-US" sz="1400" dirty="0">
                <a:solidFill>
                  <a:schemeClr val="tx1"/>
                </a:solidFill>
              </a:rPr>
              <a:t>Simmetrik cosh formula asimmetrik OFF tokini to'liq bera olmaydi.</a:t>
            </a:r>
            <a:endParaRPr lang="en-US" sz="1400" dirty="0"/>
          </a:p>
        </p:txBody>
      </p:sp>
      <p:sp>
        <p:nvSpPr>
          <p:cNvPr id="28" name="box_380"/>
          <p:cNvSpPr/>
          <p:nvPr/>
        </p:nvSpPr>
        <p:spPr>
          <a:xfrm>
            <a:off x="8046720" y="3794760"/>
            <a:ext cx="3474720" cy="2103120"/>
          </a:xfrm>
          <a:prstGeom prst="roundRect">
            <a:avLst>
              <a:gd name="adj" fmla="val 3478"/>
            </a:avLst>
          </a:prstGeom>
          <a:solidFill>
            <a:schemeClr val="bg2"/>
          </a:solidFill>
          <a:ln w="9525">
            <a:solidFill>
              <a:schemeClr val="bg2"/>
            </a:solidFill>
            <a:prstDash val="solid"/>
          </a:ln>
        </p:spPr>
      </p:sp>
      <p:sp>
        <p:nvSpPr>
          <p:cNvPr id="29" name="num_381"/>
          <p:cNvSpPr/>
          <p:nvPr/>
        </p:nvSpPr>
        <p:spPr>
          <a:xfrm>
            <a:off x="8275320" y="4023360"/>
            <a:ext cx="411480" cy="411480"/>
          </a:xfrm>
          <a:prstGeom prst="ellipse">
            <a:avLst/>
          </a:prstGeom>
          <a:solidFill>
            <a:schemeClr val="accent4"/>
          </a:solidFill>
          <a:ln w="12700">
            <a:solidFill>
              <a:schemeClr val="accent4"/>
            </a:solidFill>
            <a:prstDash val="solid"/>
          </a:ln>
        </p:spPr>
      </p:sp>
      <p:sp>
        <p:nvSpPr>
          <p:cNvPr id="30" name="numtxt_382"/>
          <p:cNvSpPr txBox="1"/>
          <p:nvPr/>
        </p:nvSpPr>
        <p:spPr>
          <a:xfrm>
            <a:off x="8275320" y="40233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1" name="text_383"/>
          <p:cNvSpPr txBox="1"/>
          <p:nvPr/>
        </p:nvSpPr>
        <p:spPr>
          <a:xfrm>
            <a:off x="8823960" y="3995928"/>
            <a:ext cx="2560320" cy="502920"/>
          </a:xfrm>
          <a:prstGeom prst="rect">
            <a:avLst/>
          </a:prstGeom>
          <a:noFill/>
          <a:ln/>
        </p:spPr>
        <p:txBody>
          <a:bodyPr wrap="square" lIns="635" tIns="635" rIns="635" bIns="635" rtlCol="0" anchor="ctr"/>
          <a:lstStyle/>
          <a:p>
            <a:pPr indent="0" marL="0">
              <a:buNone/>
            </a:pPr>
            <a:r>
              <a:rPr lang="en-US" sz="1600" b="1" dirty="0">
                <a:solidFill>
                  <a:schemeClr val="tx1"/>
                </a:solidFill>
              </a:rPr>
              <a:t>Nishonlar ko'z bilan o'qilgan</a:t>
            </a:r>
            <a:endParaRPr lang="en-US" sz="1600" dirty="0"/>
          </a:p>
        </p:txBody>
      </p:sp>
      <p:sp>
        <p:nvSpPr>
          <p:cNvPr id="32" name="text_384"/>
          <p:cNvSpPr txBox="1"/>
          <p:nvPr/>
        </p:nvSpPr>
        <p:spPr>
          <a:xfrm>
            <a:off x="8275320" y="4617720"/>
            <a:ext cx="3017520" cy="1188720"/>
          </a:xfrm>
          <a:prstGeom prst="rect">
            <a:avLst/>
          </a:prstGeom>
          <a:noFill/>
          <a:ln/>
        </p:spPr>
        <p:txBody>
          <a:bodyPr wrap="square" lIns="635" tIns="635" rIns="635" bIns="635" rtlCol="0" anchor="t"/>
          <a:lstStyle/>
          <a:p>
            <a:pPr indent="0" marL="0">
              <a:buNone/>
            </a:pPr>
            <a:r>
              <a:rPr lang="en-US" sz="1400" dirty="0">
                <a:solidFill>
                  <a:schemeClr val="tx1"/>
                </a:solidFill>
              </a:rPr>
              <a:t>Maqola grafigidan ±20% aniqlik bilan. Bitta qurilma, statistika yo'q.</a:t>
            </a:r>
            <a:endParaRPr lang="en-US" sz="14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Ustoz so'rashi mumkin bo'lgan savollar</a:t>
            </a:r>
            <a:endParaRPr lang="en-US" sz="3000" dirty="0"/>
          </a:p>
        </p:txBody>
      </p:sp>
      <p:sp>
        <p:nvSpPr>
          <p:cNvPr id="3" name="box_385"/>
          <p:cNvSpPr/>
          <p:nvPr/>
        </p:nvSpPr>
        <p:spPr>
          <a:xfrm>
            <a:off x="548640" y="1371600"/>
            <a:ext cx="5394960" cy="1463040"/>
          </a:xfrm>
          <a:prstGeom prst="roundRect">
            <a:avLst>
              <a:gd name="adj" fmla="val 5000"/>
            </a:avLst>
          </a:prstGeom>
          <a:solidFill>
            <a:schemeClr val="bg2"/>
          </a:solidFill>
          <a:ln w="9525">
            <a:solidFill>
              <a:schemeClr val="bg2"/>
            </a:solidFill>
            <a:prstDash val="solid"/>
          </a:ln>
        </p:spPr>
      </p:sp>
      <p:sp>
        <p:nvSpPr>
          <p:cNvPr id="4" name="num_386"/>
          <p:cNvSpPr/>
          <p:nvPr/>
        </p:nvSpPr>
        <p:spPr>
          <a:xfrm>
            <a:off x="731520" y="1554480"/>
            <a:ext cx="384048" cy="384048"/>
          </a:xfrm>
          <a:prstGeom prst="ellipse">
            <a:avLst/>
          </a:prstGeom>
          <a:solidFill>
            <a:schemeClr val="accent3"/>
          </a:solidFill>
          <a:ln w="12700">
            <a:solidFill>
              <a:schemeClr val="accent3"/>
            </a:solidFill>
            <a:prstDash val="solid"/>
          </a:ln>
        </p:spPr>
      </p:sp>
      <p:sp>
        <p:nvSpPr>
          <p:cNvPr id="5" name="numtxt_387"/>
          <p:cNvSpPr txBox="1"/>
          <p:nvPr/>
        </p:nvSpPr>
        <p:spPr>
          <a:xfrm>
            <a:off x="731520" y="15544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text_388"/>
          <p:cNvSpPr txBox="1"/>
          <p:nvPr/>
        </p:nvSpPr>
        <p:spPr>
          <a:xfrm>
            <a:off x="1234440" y="1508760"/>
            <a:ext cx="4572000" cy="457200"/>
          </a:xfrm>
          <a:prstGeom prst="rect">
            <a:avLst/>
          </a:prstGeom>
          <a:noFill/>
          <a:ln/>
        </p:spPr>
        <p:txBody>
          <a:bodyPr wrap="square" lIns="635" tIns="635" rIns="635" bIns="635" rtlCol="0" anchor="ctr"/>
          <a:lstStyle/>
          <a:p>
            <a:pPr indent="0" marL="0">
              <a:buNone/>
            </a:pPr>
            <a:r>
              <a:rPr lang="en-US" sz="1500" b="1" dirty="0">
                <a:solidFill>
                  <a:schemeClr val="tx1"/>
                </a:solidFill>
              </a:rPr>
              <a:t>Model Veyl fazasini isbotlaydimi?</a:t>
            </a:r>
            <a:endParaRPr lang="en-US" sz="1500" dirty="0"/>
          </a:p>
        </p:txBody>
      </p:sp>
      <p:sp>
        <p:nvSpPr>
          <p:cNvPr id="7" name="text_389"/>
          <p:cNvSpPr txBox="1"/>
          <p:nvPr/>
        </p:nvSpPr>
        <p:spPr>
          <a:xfrm>
            <a:off x="1234440" y="1965960"/>
            <a:ext cx="4572000" cy="822960"/>
          </a:xfrm>
          <a:prstGeom prst="rect">
            <a:avLst/>
          </a:prstGeom>
          <a:noFill/>
          <a:ln/>
        </p:spPr>
        <p:txBody>
          <a:bodyPr wrap="square" lIns="635" tIns="635" rIns="635" bIns="635" rtlCol="0" anchor="t"/>
          <a:lstStyle/>
          <a:p>
            <a:pPr indent="0" marL="0">
              <a:buNone/>
            </a:pPr>
            <a:r>
              <a:rPr lang="en-US" sz="1300" dirty="0">
                <a:solidFill>
                  <a:schemeClr val="tx1"/>
                </a:solidFill>
              </a:rPr>
              <a:t>Yo'q. Model faqat I–V xatti-harakatini takrorlaydi. Topologik fazani tekshirish uchun DFT hisobi kerak.</a:t>
            </a:r>
            <a:endParaRPr lang="en-US" sz="1300" dirty="0"/>
          </a:p>
        </p:txBody>
      </p:sp>
      <p:sp>
        <p:nvSpPr>
          <p:cNvPr id="8" name="box_390"/>
          <p:cNvSpPr/>
          <p:nvPr/>
        </p:nvSpPr>
        <p:spPr>
          <a:xfrm>
            <a:off x="6217920" y="1371600"/>
            <a:ext cx="5394960" cy="1463040"/>
          </a:xfrm>
          <a:prstGeom prst="roundRect">
            <a:avLst>
              <a:gd name="adj" fmla="val 5000"/>
            </a:avLst>
          </a:prstGeom>
          <a:solidFill>
            <a:schemeClr val="bg2"/>
          </a:solidFill>
          <a:ln w="9525">
            <a:solidFill>
              <a:schemeClr val="bg2"/>
            </a:solidFill>
            <a:prstDash val="solid"/>
          </a:ln>
        </p:spPr>
      </p:sp>
      <p:sp>
        <p:nvSpPr>
          <p:cNvPr id="9" name="num_391"/>
          <p:cNvSpPr/>
          <p:nvPr/>
        </p:nvSpPr>
        <p:spPr>
          <a:xfrm>
            <a:off x="6400800" y="1554480"/>
            <a:ext cx="384048" cy="384048"/>
          </a:xfrm>
          <a:prstGeom prst="ellipse">
            <a:avLst/>
          </a:prstGeom>
          <a:solidFill>
            <a:schemeClr val="accent3"/>
          </a:solidFill>
          <a:ln w="12700">
            <a:solidFill>
              <a:schemeClr val="accent3"/>
            </a:solidFill>
            <a:prstDash val="solid"/>
          </a:ln>
        </p:spPr>
      </p:sp>
      <p:sp>
        <p:nvSpPr>
          <p:cNvPr id="10" name="numtxt_392"/>
          <p:cNvSpPr txBox="1"/>
          <p:nvPr/>
        </p:nvSpPr>
        <p:spPr>
          <a:xfrm>
            <a:off x="6400800" y="15544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1" name="text_393"/>
          <p:cNvSpPr txBox="1"/>
          <p:nvPr/>
        </p:nvSpPr>
        <p:spPr>
          <a:xfrm>
            <a:off x="6903720" y="1508760"/>
            <a:ext cx="4572000" cy="457200"/>
          </a:xfrm>
          <a:prstGeom prst="rect">
            <a:avLst/>
          </a:prstGeom>
          <a:noFill/>
          <a:ln/>
        </p:spPr>
        <p:txBody>
          <a:bodyPr wrap="square" lIns="635" tIns="635" rIns="635" bIns="635" rtlCol="0" anchor="ctr"/>
          <a:lstStyle/>
          <a:p>
            <a:pPr indent="0" marL="0">
              <a:buNone/>
            </a:pPr>
            <a:r>
              <a:rPr lang="en-US" sz="1500" b="1" dirty="0">
                <a:solidFill>
                  <a:schemeClr val="tx1"/>
                </a:solidFill>
              </a:rPr>
              <a:t>Nega sinh funksiyasi?</a:t>
            </a:r>
            <a:endParaRPr lang="en-US" sz="1500" dirty="0"/>
          </a:p>
        </p:txBody>
      </p:sp>
      <p:sp>
        <p:nvSpPr>
          <p:cNvPr id="12" name="text_394"/>
          <p:cNvSpPr txBox="1"/>
          <p:nvPr/>
        </p:nvSpPr>
        <p:spPr>
          <a:xfrm>
            <a:off x="6903720" y="1965960"/>
            <a:ext cx="4572000" cy="822960"/>
          </a:xfrm>
          <a:prstGeom prst="rect">
            <a:avLst/>
          </a:prstGeom>
          <a:noFill/>
          <a:ln/>
        </p:spPr>
        <p:txBody>
          <a:bodyPr wrap="square" lIns="635" tIns="635" rIns="635" bIns="635" rtlCol="0" anchor="t"/>
          <a:lstStyle/>
          <a:p>
            <a:pPr indent="0" marL="0">
              <a:buNone/>
            </a:pPr>
            <a:r>
              <a:rPr lang="en-US" sz="1300" dirty="0">
                <a:solidFill>
                  <a:schemeClr val="tx1"/>
                </a:solidFill>
              </a:rPr>
              <a:t>Ion sakrash nazariyasidan: maydon to'siqni bir tomonga pasaytiradi, boshqasiga oshiradi. Natijada keskin ostona va qutbga bog'liqlik.</a:t>
            </a:r>
            <a:endParaRPr lang="en-US" sz="1300" dirty="0"/>
          </a:p>
        </p:txBody>
      </p:sp>
      <p:sp>
        <p:nvSpPr>
          <p:cNvPr id="13" name="box_395"/>
          <p:cNvSpPr/>
          <p:nvPr/>
        </p:nvSpPr>
        <p:spPr>
          <a:xfrm>
            <a:off x="548640" y="3017520"/>
            <a:ext cx="5394960" cy="1463040"/>
          </a:xfrm>
          <a:prstGeom prst="roundRect">
            <a:avLst>
              <a:gd name="adj" fmla="val 5000"/>
            </a:avLst>
          </a:prstGeom>
          <a:solidFill>
            <a:schemeClr val="bg2"/>
          </a:solidFill>
          <a:ln w="9525">
            <a:solidFill>
              <a:schemeClr val="bg2"/>
            </a:solidFill>
            <a:prstDash val="solid"/>
          </a:ln>
        </p:spPr>
      </p:sp>
      <p:sp>
        <p:nvSpPr>
          <p:cNvPr id="14" name="num_396"/>
          <p:cNvSpPr/>
          <p:nvPr/>
        </p:nvSpPr>
        <p:spPr>
          <a:xfrm>
            <a:off x="731520" y="3200400"/>
            <a:ext cx="384048" cy="384048"/>
          </a:xfrm>
          <a:prstGeom prst="ellipse">
            <a:avLst/>
          </a:prstGeom>
          <a:solidFill>
            <a:schemeClr val="accent3"/>
          </a:solidFill>
          <a:ln w="12700">
            <a:solidFill>
              <a:schemeClr val="accent3"/>
            </a:solidFill>
            <a:prstDash val="solid"/>
          </a:ln>
        </p:spPr>
      </p:sp>
      <p:sp>
        <p:nvSpPr>
          <p:cNvPr id="15" name="numtxt_397"/>
          <p:cNvSpPr txBox="1"/>
          <p:nvPr/>
        </p:nvSpPr>
        <p:spPr>
          <a:xfrm>
            <a:off x="731520" y="32004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6" name="text_398"/>
          <p:cNvSpPr txBox="1"/>
          <p:nvPr/>
        </p:nvSpPr>
        <p:spPr>
          <a:xfrm>
            <a:off x="1234440" y="3154680"/>
            <a:ext cx="4572000" cy="457200"/>
          </a:xfrm>
          <a:prstGeom prst="rect">
            <a:avLst/>
          </a:prstGeom>
          <a:noFill/>
          <a:ln/>
        </p:spPr>
        <p:txBody>
          <a:bodyPr wrap="square" lIns="635" tIns="635" rIns="635" bIns="635" rtlCol="0" anchor="ctr"/>
          <a:lstStyle/>
          <a:p>
            <a:pPr indent="0" marL="0">
              <a:buNone/>
            </a:pPr>
            <a:r>
              <a:rPr lang="en-US" sz="1500" b="1" dirty="0">
                <a:solidFill>
                  <a:schemeClr val="tx1"/>
                </a:solidFill>
              </a:rPr>
              <a:t>Nega issiqlik o'chirildi?</a:t>
            </a:r>
            <a:endParaRPr lang="en-US" sz="1500" dirty="0"/>
          </a:p>
        </p:txBody>
      </p:sp>
      <p:sp>
        <p:nvSpPr>
          <p:cNvPr id="17" name="text_399"/>
          <p:cNvSpPr txBox="1"/>
          <p:nvPr/>
        </p:nvSpPr>
        <p:spPr>
          <a:xfrm>
            <a:off x="1234440" y="3611880"/>
            <a:ext cx="4572000" cy="822960"/>
          </a:xfrm>
          <a:prstGeom prst="rect">
            <a:avLst/>
          </a:prstGeom>
          <a:noFill/>
          <a:ln/>
        </p:spPr>
        <p:txBody>
          <a:bodyPr wrap="square" lIns="635" tIns="635" rIns="635" bIns="635" rtlCol="0" anchor="t"/>
          <a:lstStyle/>
          <a:p>
            <a:pPr indent="0" marL="0">
              <a:buNone/>
            </a:pPr>
            <a:r>
              <a:rPr lang="en-US" sz="1300" dirty="0">
                <a:solidFill>
                  <a:schemeClr val="tx1"/>
                </a:solidFill>
              </a:rPr>
              <a:t>FET geometriyasida T_max = 300 K chiqdi, issiqlik ta'siri yo'q. O'chirish hisobni tezlashtirdi va xotira tanqisligini (OOM) hal qildi.</a:t>
            </a:r>
            <a:endParaRPr lang="en-US" sz="1300" dirty="0"/>
          </a:p>
        </p:txBody>
      </p:sp>
      <p:sp>
        <p:nvSpPr>
          <p:cNvPr id="18" name="box_400"/>
          <p:cNvSpPr/>
          <p:nvPr/>
        </p:nvSpPr>
        <p:spPr>
          <a:xfrm>
            <a:off x="6217920" y="3017520"/>
            <a:ext cx="5394960" cy="1463040"/>
          </a:xfrm>
          <a:prstGeom prst="roundRect">
            <a:avLst>
              <a:gd name="adj" fmla="val 5000"/>
            </a:avLst>
          </a:prstGeom>
          <a:solidFill>
            <a:schemeClr val="bg2"/>
          </a:solidFill>
          <a:ln w="9525">
            <a:solidFill>
              <a:schemeClr val="bg2"/>
            </a:solidFill>
            <a:prstDash val="solid"/>
          </a:ln>
        </p:spPr>
      </p:sp>
      <p:sp>
        <p:nvSpPr>
          <p:cNvPr id="19" name="num_401"/>
          <p:cNvSpPr/>
          <p:nvPr/>
        </p:nvSpPr>
        <p:spPr>
          <a:xfrm>
            <a:off x="6400800" y="3200400"/>
            <a:ext cx="384048" cy="384048"/>
          </a:xfrm>
          <a:prstGeom prst="ellipse">
            <a:avLst/>
          </a:prstGeom>
          <a:solidFill>
            <a:schemeClr val="accent3"/>
          </a:solidFill>
          <a:ln w="12700">
            <a:solidFill>
              <a:schemeClr val="accent3"/>
            </a:solidFill>
            <a:prstDash val="solid"/>
          </a:ln>
        </p:spPr>
      </p:sp>
      <p:sp>
        <p:nvSpPr>
          <p:cNvPr id="20" name="numtxt_402"/>
          <p:cNvSpPr txBox="1"/>
          <p:nvPr/>
        </p:nvSpPr>
        <p:spPr>
          <a:xfrm>
            <a:off x="6400800" y="32004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1" name="text_403"/>
          <p:cNvSpPr txBox="1"/>
          <p:nvPr/>
        </p:nvSpPr>
        <p:spPr>
          <a:xfrm>
            <a:off x="6903720" y="3154680"/>
            <a:ext cx="4572000" cy="457200"/>
          </a:xfrm>
          <a:prstGeom prst="rect">
            <a:avLst/>
          </a:prstGeom>
          <a:noFill/>
          <a:ln/>
        </p:spPr>
        <p:txBody>
          <a:bodyPr wrap="square" lIns="635" tIns="635" rIns="635" bIns="635" rtlCol="0" anchor="ctr"/>
          <a:lstStyle/>
          <a:p>
            <a:pPr indent="0" marL="0">
              <a:buNone/>
            </a:pPr>
            <a:r>
              <a:rPr lang="en-US" sz="1500" b="1" dirty="0">
                <a:solidFill>
                  <a:schemeClr val="tx1"/>
                </a:solidFill>
              </a:rPr>
              <a:t>Nega ikkita holat (x va P)?</a:t>
            </a:r>
            <a:endParaRPr lang="en-US" sz="1500" dirty="0"/>
          </a:p>
        </p:txBody>
      </p:sp>
      <p:sp>
        <p:nvSpPr>
          <p:cNvPr id="22" name="text_404"/>
          <p:cNvSpPr txBox="1"/>
          <p:nvPr/>
        </p:nvSpPr>
        <p:spPr>
          <a:xfrm>
            <a:off x="6903720" y="3611880"/>
            <a:ext cx="4572000" cy="822960"/>
          </a:xfrm>
          <a:prstGeom prst="rect">
            <a:avLst/>
          </a:prstGeom>
          <a:noFill/>
          <a:ln/>
        </p:spPr>
        <p:txBody>
          <a:bodyPr wrap="square" lIns="635" tIns="635" rIns="635" bIns="635" rtlCol="0" anchor="t"/>
          <a:lstStyle/>
          <a:p>
            <a:pPr indent="0" marL="0">
              <a:buNone/>
            </a:pPr>
            <a:r>
              <a:rPr lang="en-US" sz="1300" dirty="0">
                <a:solidFill>
                  <a:schemeClr val="tx1"/>
                </a:solidFill>
              </a:rPr>
              <a:t>Bitta x xotira va kalitlashni ajrata olmaydi. P gate tarixini eslab, (d) panelni to'g'ri beradi.</a:t>
            </a:r>
            <a:endParaRPr lang="en-US" sz="1300" dirty="0"/>
          </a:p>
        </p:txBody>
      </p:sp>
      <p:sp>
        <p:nvSpPr>
          <p:cNvPr id="23" name="box_405"/>
          <p:cNvSpPr/>
          <p:nvPr/>
        </p:nvSpPr>
        <p:spPr>
          <a:xfrm>
            <a:off x="548640" y="4663440"/>
            <a:ext cx="5394960" cy="1463040"/>
          </a:xfrm>
          <a:prstGeom prst="roundRect">
            <a:avLst>
              <a:gd name="adj" fmla="val 5000"/>
            </a:avLst>
          </a:prstGeom>
          <a:solidFill>
            <a:schemeClr val="bg2"/>
          </a:solidFill>
          <a:ln w="9525">
            <a:solidFill>
              <a:schemeClr val="bg2"/>
            </a:solidFill>
            <a:prstDash val="solid"/>
          </a:ln>
        </p:spPr>
      </p:sp>
      <p:sp>
        <p:nvSpPr>
          <p:cNvPr id="24" name="num_406"/>
          <p:cNvSpPr/>
          <p:nvPr/>
        </p:nvSpPr>
        <p:spPr>
          <a:xfrm>
            <a:off x="731520" y="4846320"/>
            <a:ext cx="384048" cy="384048"/>
          </a:xfrm>
          <a:prstGeom prst="ellipse">
            <a:avLst/>
          </a:prstGeom>
          <a:solidFill>
            <a:schemeClr val="accent3"/>
          </a:solidFill>
          <a:ln w="12700">
            <a:solidFill>
              <a:schemeClr val="accent3"/>
            </a:solidFill>
            <a:prstDash val="solid"/>
          </a:ln>
        </p:spPr>
      </p:sp>
      <p:sp>
        <p:nvSpPr>
          <p:cNvPr id="25" name="numtxt_407"/>
          <p:cNvSpPr txBox="1"/>
          <p:nvPr/>
        </p:nvSpPr>
        <p:spPr>
          <a:xfrm>
            <a:off x="731520" y="48463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6" name="text_408"/>
          <p:cNvSpPr txBox="1"/>
          <p:nvPr/>
        </p:nvSpPr>
        <p:spPr>
          <a:xfrm>
            <a:off x="1234440" y="4800600"/>
            <a:ext cx="4572000" cy="457200"/>
          </a:xfrm>
          <a:prstGeom prst="rect">
            <a:avLst/>
          </a:prstGeom>
          <a:noFill/>
          <a:ln/>
        </p:spPr>
        <p:txBody>
          <a:bodyPr wrap="square" lIns="635" tIns="635" rIns="635" bIns="635" rtlCol="0" anchor="ctr"/>
          <a:lstStyle/>
          <a:p>
            <a:pPr indent="0" marL="0">
              <a:buNone/>
            </a:pPr>
            <a:r>
              <a:rPr lang="en-US" sz="1500" b="1" dirty="0">
                <a:solidFill>
                  <a:schemeClr val="tx1"/>
                </a:solidFill>
              </a:rPr>
              <a:t>Natijalar ishonchlimi?</a:t>
            </a:r>
            <a:endParaRPr lang="en-US" sz="1500" dirty="0"/>
          </a:p>
        </p:txBody>
      </p:sp>
      <p:sp>
        <p:nvSpPr>
          <p:cNvPr id="27" name="text_409"/>
          <p:cNvSpPr txBox="1"/>
          <p:nvPr/>
        </p:nvSpPr>
        <p:spPr>
          <a:xfrm>
            <a:off x="1234440" y="5257800"/>
            <a:ext cx="4572000" cy="822960"/>
          </a:xfrm>
          <a:prstGeom prst="rect">
            <a:avLst/>
          </a:prstGeom>
          <a:noFill/>
          <a:ln/>
        </p:spPr>
        <p:txBody>
          <a:bodyPr wrap="square" lIns="635" tIns="635" rIns="635" bIns="635" rtlCol="0" anchor="t"/>
          <a:lstStyle/>
          <a:p>
            <a:pPr indent="0" marL="0">
              <a:buNone/>
            </a:pPr>
            <a:r>
              <a:rPr lang="en-US" sz="1300" dirty="0">
                <a:solidFill>
                  <a:schemeClr val="tx1"/>
                </a:solidFill>
              </a:rPr>
              <a:t>Ko'p ko'rsatkich 20% ichida. Lekin bu mos kelish, bashorat emas: parametrlar shu natijaga moslangan.</a:t>
            </a:r>
            <a:endParaRPr lang="en-US" sz="1300" dirty="0"/>
          </a:p>
        </p:txBody>
      </p:sp>
      <p:sp>
        <p:nvSpPr>
          <p:cNvPr id="28" name="box_410"/>
          <p:cNvSpPr/>
          <p:nvPr/>
        </p:nvSpPr>
        <p:spPr>
          <a:xfrm>
            <a:off x="6217920" y="4663440"/>
            <a:ext cx="5394960" cy="1463040"/>
          </a:xfrm>
          <a:prstGeom prst="roundRect">
            <a:avLst>
              <a:gd name="adj" fmla="val 5000"/>
            </a:avLst>
          </a:prstGeom>
          <a:solidFill>
            <a:schemeClr val="bg2"/>
          </a:solidFill>
          <a:ln w="9525">
            <a:solidFill>
              <a:schemeClr val="bg2"/>
            </a:solidFill>
            <a:prstDash val="solid"/>
          </a:ln>
        </p:spPr>
      </p:sp>
      <p:sp>
        <p:nvSpPr>
          <p:cNvPr id="29" name="num_411"/>
          <p:cNvSpPr/>
          <p:nvPr/>
        </p:nvSpPr>
        <p:spPr>
          <a:xfrm>
            <a:off x="6400800" y="4846320"/>
            <a:ext cx="384048" cy="384048"/>
          </a:xfrm>
          <a:prstGeom prst="ellipse">
            <a:avLst/>
          </a:prstGeom>
          <a:solidFill>
            <a:schemeClr val="accent3"/>
          </a:solidFill>
          <a:ln w="12700">
            <a:solidFill>
              <a:schemeClr val="accent3"/>
            </a:solidFill>
            <a:prstDash val="solid"/>
          </a:ln>
        </p:spPr>
      </p:sp>
      <p:sp>
        <p:nvSpPr>
          <p:cNvPr id="30" name="numtxt_412"/>
          <p:cNvSpPr txBox="1"/>
          <p:nvPr/>
        </p:nvSpPr>
        <p:spPr>
          <a:xfrm>
            <a:off x="6400800" y="48463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1" name="text_413"/>
          <p:cNvSpPr txBox="1"/>
          <p:nvPr/>
        </p:nvSpPr>
        <p:spPr>
          <a:xfrm>
            <a:off x="6903720" y="4800600"/>
            <a:ext cx="4572000" cy="457200"/>
          </a:xfrm>
          <a:prstGeom prst="rect">
            <a:avLst/>
          </a:prstGeom>
          <a:noFill/>
          <a:ln/>
        </p:spPr>
        <p:txBody>
          <a:bodyPr wrap="square" lIns="635" tIns="635" rIns="635" bIns="635" rtlCol="0" anchor="ctr"/>
          <a:lstStyle/>
          <a:p>
            <a:pPr indent="0" marL="0">
              <a:buNone/>
            </a:pPr>
            <a:r>
              <a:rPr lang="en-US" sz="1500" b="1" dirty="0">
                <a:solidFill>
                  <a:schemeClr val="tx1"/>
                </a:solidFill>
              </a:rPr>
              <a:t>Keyingi qadam nima?</a:t>
            </a:r>
            <a:endParaRPr lang="en-US" sz="1500" dirty="0"/>
          </a:p>
        </p:txBody>
      </p:sp>
      <p:sp>
        <p:nvSpPr>
          <p:cNvPr id="32" name="text_414"/>
          <p:cNvSpPr txBox="1"/>
          <p:nvPr/>
        </p:nvSpPr>
        <p:spPr>
          <a:xfrm>
            <a:off x="6903720" y="5257800"/>
            <a:ext cx="4572000" cy="822960"/>
          </a:xfrm>
          <a:prstGeom prst="rect">
            <a:avLst/>
          </a:prstGeom>
          <a:noFill/>
          <a:ln/>
        </p:spPr>
        <p:txBody>
          <a:bodyPr wrap="square" lIns="635" tIns="635" rIns="635" bIns="635" rtlCol="0" anchor="t"/>
          <a:lstStyle/>
          <a:p>
            <a:pPr indent="0" marL="0">
              <a:buNone/>
            </a:pPr>
            <a:r>
              <a:rPr lang="en-US" sz="1300" dirty="0">
                <a:solidFill>
                  <a:schemeClr val="tx1"/>
                </a:solidFill>
              </a:rPr>
              <a:t>DFT bilan σ(t), gate'ni elektrostatik yechish, (b) panel uchun qo'shimcha holat.</a:t>
            </a:r>
            <a:endParaRPr lang="en-US" sz="13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10698480" cy="100584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Xulosa</a:t>
            </a:r>
            <a:endParaRPr lang="en-US" sz="4000" dirty="0"/>
          </a:p>
        </p:txBody>
      </p:sp>
      <p:sp>
        <p:nvSpPr>
          <p:cNvPr id="3" name="Text 0"/>
          <p:cNvSpPr/>
          <p:nvPr>
            <p:ph idx="101" type="body" hasCustomPrompt="1"/>
          </p:nvPr>
        </p:nvSpPr>
        <p:spPr>
          <a:xfrm>
            <a:off x="731520" y="1920240"/>
            <a:ext cx="10698480" cy="4206240"/>
          </a:xfrm>
          <a:prstGeom prst="rect">
            <a:avLst/>
          </a:prstGeom>
          <a:noFill/>
          <a:ln/>
        </p:spPr>
        <p:txBody>
          <a:bodyPr wrap="square" rtlCol="0" anchor="t"/>
          <a:lstStyle/>
          <a:p>
            <a:pPr marL="342900" indent="-342900">
              <a:spcAft>
                <a:spcPts val="1400"/>
              </a:spcAft>
              <a:buSzPct val="100000"/>
              <a:buChar char="•"/>
            </a:pPr>
            <a:r>
              <a:rPr lang="en-US" sz="2000" dirty="0">
                <a:solidFill>
                  <a:schemeClr val="bg2"/>
                </a:solidFill>
              </a:rPr>
              <a:t>COMSOL'da fenomenologik model maqoladagi Fig.1 ning to'rt panelini sifat jihatidan to'g'ri takrorladi.</a:t>
            </a:r>
            <a:endParaRPr lang="en-US" sz="2000" dirty="0"/>
          </a:p>
          <a:p>
            <a:pPr marL="342900" indent="-342900">
              <a:spcAft>
                <a:spcPts val="1400"/>
              </a:spcAft>
              <a:buSzPct val="100000"/>
              <a:buChar char="•"/>
            </a:pPr>
            <a:r>
              <a:rPr lang="en-US" sz="2000" dirty="0">
                <a:solidFill>
                  <a:schemeClr val="bg2"/>
                </a:solidFill>
              </a:rPr>
              <a:t>Model ikkita holat bilan ishlaydi: filament x va gate xotirasi P. Xotira yoki kalitlashni τ_rel(P) hal qiladi.</a:t>
            </a:r>
            <a:endParaRPr lang="en-US" sz="2000" dirty="0"/>
          </a:p>
          <a:p>
            <a:pPr marL="342900" indent="-342900">
              <a:spcAft>
                <a:spcPts val="1400"/>
              </a:spcAft>
              <a:buSzPct val="100000"/>
              <a:buChar char="•"/>
            </a:pPr>
            <a:r>
              <a:rPr lang="en-US" sz="2000" dirty="0">
                <a:solidFill>
                  <a:schemeClr val="bg2"/>
                </a:solidFill>
              </a:rPr>
              <a:t>Bosim modeli R_ON ning ~130 marta kamayishini berdi, lekin buning uchun GPa darajasidagi bosim kerak.</a:t>
            </a:r>
            <a:endParaRPr lang="en-US" sz="2000" dirty="0"/>
          </a:p>
          <a:p>
            <a:pPr marL="342900" indent="-342900">
              <a:spcAft>
                <a:spcPts val="1400"/>
              </a:spcAft>
              <a:buSzPct val="100000"/>
              <a:buChar char="•"/>
            </a:pPr>
            <a:r>
              <a:rPr lang="en-US" sz="2000" dirty="0">
                <a:solidFill>
                  <a:schemeClr val="bg2"/>
                </a:solidFill>
              </a:rPr>
              <a:t>Topologik talqinni tekshirish uchun keyingi qadam: DFT + COMSOL.</a:t>
            </a:r>
            <a:endParaRPr lang="en-US" sz="2000" dirty="0"/>
          </a:p>
        </p:txBody>
      </p:sp>
      <p:sp>
        <p:nvSpPr>
          <p:cNvPr id="25" name="Slide Number Placeholder 0"/>
          <p:cNvSpPr>
            <a:spLocks noGrp="1"/>
          </p:cNvSpPr>
          <p:nvPr>
            <p:ph type="sldNum" sz="quarter" idx="4294967295"/>
          </p:nvPr>
        </p:nvSpPr>
        <p:spPr>
          <a:xfrm>
            <a:off x="1133856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GeTe Sb2Te3 COMSOL">
  <a:themeElements>
    <a:clrScheme name="GeTe Sb2Te3 COMSOL">
      <a:dk1>
        <a:srgbClr val="1B2A41"/>
      </a:dk1>
      <a:lt1>
        <a:srgbClr val="FFFFFF"/>
      </a:lt1>
      <a:dk2>
        <a:srgbClr val="0F5E5A"/>
      </a:dk2>
      <a:lt2>
        <a:srgbClr val="EEF2F6"/>
      </a:lt2>
      <a:accent1>
        <a:srgbClr val="E8871E"/>
      </a:accent1>
      <a:accent2>
        <a:srgbClr val="2F5FD0"/>
      </a:accent2>
      <a:accent3>
        <a:srgbClr val="0F766E"/>
      </a:accent3>
      <a:accent4>
        <a:srgbClr val="B42318"/>
      </a:accent4>
      <a:accent5>
        <a:srgbClr val="1E7B3A"/>
      </a:accent5>
      <a:accent6>
        <a:srgbClr val="5B6B7F"/>
      </a:accent6>
      <a:hlink>
        <a:srgbClr val="2F5FD0"/>
      </a:hlink>
      <a:folHlink>
        <a:srgbClr val="6B4FA0"/>
      </a:folHlink>
    </a:clrScheme>
    <a:fontScheme name="GeTe Sb2Te3 COMSO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GeTe/Sb2Te3 xotira elementi: COMSOL modeli</dc:title>
  <dc:subject>PptxGenJS Presentation</dc:subject>
  <dc:creator>acelegioner02</dc:creator>
  <cp:lastModifiedBy>acelegioner02</cp:lastModifiedBy>
  <cp:revision>1</cp:revision>
  <dcterms:created xsi:type="dcterms:W3CDTF">2026-10-03T05:52:16Z</dcterms:created>
  <dcterms:modified xsi:type="dcterms:W3CDTF">2026-10-03T05:52:16Z</dcterms:modified>
</cp:coreProperties>
</file>